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4A2494-4250-45F4-9438-7432F265443E}" v="28" dt="2026-10-24T10:51:46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1680" y="109728"/>
            <a:ext cx="7772400" cy="1470025"/>
          </a:xfrm>
        </p:spPr>
        <p:txBody>
          <a:bodyPr/>
          <a:lstStyle/>
          <a:p>
            <a:pPr>
              <a:defRPr sz="2800"/>
            </a:pPr>
            <a:r>
              <a:rPr dirty="0" b="1" sz="3200">
                <a:solidFill>
                  <a:srgbClr val="C00000"/>
                </a:solidFill>
              </a:rPr>
              <a:t>CAPSTONE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1680" y="1828800"/>
            <a:ext cx="8138160" cy="4389120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en-ZA" sz="2600" b="1" dirty="0">
                <a:solidFill>
                  <a:srgbClr val="262626"/>
                </a:solidFill>
              </a:rPr>
              <a:t>CampusBook</a:t>
            </a:r>
          </a:p>
          <a:p>
            <a:pPr marL="0" indent="0" algn="ctr">
              <a:buNone/>
            </a:pPr>
            <a:r>
              <a:rPr lang="en-ZA" sz="2600" b="1" dirty="0">
                <a:solidFill>
                  <a:srgbClr val="262626"/>
                </a:solidFill>
              </a:rPr>
              <a:t>Lecturer Consultation Booking System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ZA" sz="2400" b="0" dirty="0">
                <a:solidFill>
                  <a:srgbClr val="262626"/>
                </a:solidFill>
              </a:rPr>
              <a:t/>
            </a:r>
          </a:p>
          <a:p>
            <a:pPr marL="0" indent="0" algn="ctr">
              <a:buNone/>
            </a:pPr>
            <a:r>
              <a:rPr lang="en-ZA" sz="2600" b="1" dirty="0">
                <a:solidFill>
                  <a:srgbClr val="262626"/>
                </a:solidFill>
              </a:rPr>
              <a:t>Group 3</a:t>
            </a:r>
          </a:p>
          <a:p>
            <a:pPr marL="0" indent="0" algn="ctr">
              <a:buNone/>
            </a:pPr>
            <a:r>
              <a:rPr lang="en-ZA" sz="2600" b="1" dirty="0">
                <a:solidFill>
                  <a:srgbClr val="262626"/>
                </a:solidFill>
              </a:rPr>
              <a:t>Willem Gerber  |  Oscar Khumalo  |  Thomas du Plessis</a:t>
            </a:r>
          </a:p>
          <a:p>
            <a:pPr marL="0" indent="0" algn="ctr">
              <a:buNone/>
            </a:pPr>
            <a:r>
              <a:rPr lang="en-ZA" sz="2600" b="1" dirty="0">
                <a:solidFill>
                  <a:srgbClr val="262626"/>
                </a:solidFill>
              </a:rPr>
              <a:t>Lebohang Tlaitlai  |  Gerhardus van den Berg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ZA" sz="2400" b="0" dirty="0">
                <a:solidFill>
                  <a:srgbClr val="262626"/>
                </a:solidFill>
              </a:rPr>
              <a:t/>
            </a:r>
          </a:p>
          <a:p>
            <a:pPr marL="0" indent="0" algn="ctr">
              <a:buNone/>
            </a:pPr>
            <a:r>
              <a:rPr lang="en-ZA" sz="2600" b="1" dirty="0">
                <a:solidFill>
                  <a:srgbClr val="262626"/>
                </a:solidFill>
              </a:rPr>
              <a:t>Software Engineering 2 (SPM622)</a:t>
            </a:r>
          </a:p>
          <a:p>
            <a:pPr marL="0" indent="0" algn="ctr">
              <a:buNone/>
            </a:pPr>
            <a:r>
              <a:rPr lang="en-ZA" sz="2600" b="1" dirty="0">
                <a:solidFill>
                  <a:srgbClr val="262626"/>
                </a:solidFill>
              </a:rPr>
              <a:t>Supervisor: Jabulile Mashibini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66091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b="1" u="sng" dirty="0">
                <a:solidFill>
                  <a:srgbClr val="C00000"/>
                </a:solidFill>
              </a:rPr>
              <a:t>1. Problem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325880"/>
            <a:ext cx="5440680" cy="5120640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The problem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Consultations are arranged through email, Teams, WhatsApp or walk-ins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Messages are missed, waits are long and slots can be double booked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Lecturers struggle to manage their availability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Who is affected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Students who need academic help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Lecturers who manage appointments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CTU Training Solutions, which needs an organised process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25880"/>
            <a:ext cx="54864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What our survey showed (13 students)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11 of 13 needed a consultation in the last 3 months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7 of 13 gave up because of the problems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Teams is the most used way to arrange one (11 students)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9 of 13 would use an online booking system (4 or 5 out of 5)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Why it matters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Students need one reliable place to book academic support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Lecturers get better control of their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34006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b="1" u="sng" dirty="0">
                <a:solidFill>
                  <a:srgbClr val="C00000"/>
                </a:solidFill>
              </a:rPr>
              <a:t>2. Aim, Objectives &amp; 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325880"/>
            <a:ext cx="5440680" cy="5120640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Project aim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ZA" sz="2200" b="0" dirty="0">
                <a:solidFill>
                  <a:srgbClr val="262626"/>
                </a:solidFill>
              </a:rPr>
              <a:t>To design, develop and evaluate a web-based system where students book consultations and lecturers manage their availability.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Main research questions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How are consultations arranged today?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How can a web application improve booking?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Does CampusBook meet its requirements?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Is it useful and easy to use?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25880"/>
            <a:ext cx="54864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Research objectives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Study how consultations are arranged now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Compare existing scheduling systems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Build CampusBook with its essential features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Test functionality, performance and security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Evaluate it with students and lecturers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159777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b="1" u="sng" dirty="0">
                <a:solidFill>
                  <a:srgbClr val="C00000"/>
                </a:solidFill>
              </a:rPr>
              <a:t>3. Literature Review &amp;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325880"/>
            <a:ext cx="5440680" cy="5120640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Existing research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Students often underuse lecturer consultations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Online appointment systems cut waiting times and missed appointments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Automated reminders improve attendance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25880"/>
            <a:ext cx="54864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Existing systems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Microsoft Bookings:</a:t>
            </a:r>
            <a:r>
              <a:rPr lang="en-ZA" sz="2200" b="0" dirty="0">
                <a:solidFill>
                  <a:srgbClr val="262626"/>
                </a:solidFill>
              </a:rPr>
              <a:t> built for business use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Calendly:</a:t>
            </a:r>
            <a:r>
              <a:rPr lang="en-ZA" sz="2200" b="0" dirty="0">
                <a:solidFill>
                  <a:srgbClr val="262626"/>
                </a:solidFill>
              </a:rPr>
              <a:t> simple, but some reminder features are paid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Moodle Scheduler:</a:t>
            </a:r>
            <a:r>
              <a:rPr lang="en-ZA" sz="2200" b="0" dirty="0">
                <a:solidFill>
                  <a:srgbClr val="262626"/>
                </a:solidFill>
              </a:rPr>
              <a:t> made for education but needs Moodle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Research gap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ZA" sz="2200" b="0" dirty="0">
                <a:solidFill>
                  <a:srgbClr val="262626"/>
                </a:solidFill>
              </a:rPr>
              <a:t>No existing system gives CTU roles, central bookings and email reminders in one independent application without licence costs. CampusBook fills this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109728"/>
            <a:ext cx="8229600" cy="943917"/>
          </a:xfrm>
        </p:spPr>
        <p:txBody>
          <a:bodyPr/>
          <a:lstStyle/>
          <a:p>
            <a:pPr>
              <a:defRPr sz="2800"/>
            </a:pPr>
            <a:r>
              <a:rPr b="1" u="sng" dirty="0">
                <a:solidFill>
                  <a:srgbClr val="C00000"/>
                </a:solidFill>
              </a:rPr>
              <a:t>4.</a:t>
            </a:r>
            <a:r>
              <a:rPr b="1" u="sng" dirty="0"/>
              <a:t> </a:t>
            </a:r>
            <a:r>
              <a:rPr b="1" u="sng" dirty="0">
                <a:solidFill>
                  <a:srgbClr val="C00000"/>
                </a:solidFill>
              </a:rPr>
              <a:t>Requirements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325880"/>
            <a:ext cx="5440680" cy="5120640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Functional requirements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Secure login for students and lecturers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Lecturers create and manage slots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Students book, change or cancel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No double bookings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Confirmation and reminder emails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Booking history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25880"/>
            <a:ext cx="54864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Non-functional requirements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Works on desktop and mobile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Hashed passwords and role-based access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Booking in under 2 minutes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Pages load in under 3 seconds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Methodology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Agile Scrum with weekly sprints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GitHub branches and pull requests for teamwork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052E4E-AF57-1489-8FB6-4A3C9EF17591}"/>
              </a:ext>
            </a:extLst>
          </p:cNvPr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800" b="1" dirty="0">
                <a:solidFill>
                  <a:srgbClr val="C00000"/>
                </a:solidFill>
              </a:rPr>
              <a:t>Key use cases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400" b="1" dirty="0">
                <a:solidFill>
                  <a:srgbClr val="262626"/>
                </a:solidFill>
              </a:rPr>
              <a:t>Student login:</a:t>
            </a:r>
            <a:r>
              <a:rPr lang="en-ZA" sz="2400" b="0" dirty="0">
                <a:solidFill>
                  <a:srgbClr val="262626"/>
                </a:solidFill>
              </a:rPr>
              <a:t> students log in to reach booking features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400" b="1" dirty="0">
                <a:solidFill>
                  <a:srgbClr val="262626"/>
                </a:solidFill>
              </a:rPr>
              <a:t>Lecturer login:</a:t>
            </a:r>
            <a:r>
              <a:rPr lang="en-ZA" sz="2400" b="0" dirty="0">
                <a:solidFill>
                  <a:srgbClr val="262626"/>
                </a:solidFill>
              </a:rPr>
              <a:t> lecturers log in to manage their availability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400" b="1" dirty="0">
                <a:solidFill>
                  <a:srgbClr val="262626"/>
                </a:solidFill>
              </a:rPr>
              <a:t>Manage slots:</a:t>
            </a:r>
            <a:r>
              <a:rPr lang="en-ZA" sz="2400" b="0" dirty="0">
                <a:solidFill>
                  <a:srgbClr val="262626"/>
                </a:solidFill>
              </a:rPr>
              <a:t> lecturers create, edit and remove consultation slots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400" b="1" dirty="0">
                <a:solidFill>
                  <a:srgbClr val="262626"/>
                </a:solidFill>
              </a:rPr>
              <a:t>Book a consultation:</a:t>
            </a:r>
            <a:r>
              <a:rPr lang="en-ZA" sz="2400" b="0" dirty="0">
                <a:solidFill>
                  <a:srgbClr val="262626"/>
                </a:solidFill>
              </a:rPr>
              <a:t> students pick a lecturer, date and time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400" b="1" dirty="0">
                <a:solidFill>
                  <a:srgbClr val="262626"/>
                </a:solidFill>
              </a:rPr>
              <a:t>Manage bookings:</a:t>
            </a:r>
            <a:r>
              <a:rPr lang="en-ZA" sz="2400" b="0" dirty="0">
                <a:solidFill>
                  <a:srgbClr val="262626"/>
                </a:solidFill>
              </a:rPr>
              <a:t> students view, change or cancel appointments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400" b="1" dirty="0">
                <a:solidFill>
                  <a:srgbClr val="262626"/>
                </a:solidFill>
              </a:rPr>
              <a:t>Notifications:</a:t>
            </a:r>
            <a:r>
              <a:rPr lang="en-ZA" sz="2400" b="0" dirty="0">
                <a:solidFill>
                  <a:srgbClr val="262626"/>
                </a:solidFill>
              </a:rPr>
              <a:t> confirmation and reminder emails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400" b="1" dirty="0">
                <a:solidFill>
                  <a:srgbClr val="262626"/>
                </a:solidFill>
              </a:rPr>
              <a:t>Booking history:</a:t>
            </a:r>
            <a:r>
              <a:rPr lang="en-ZA" sz="2400" b="0" dirty="0">
                <a:solidFill>
                  <a:srgbClr val="262626"/>
                </a:solidFill>
              </a:rPr>
              <a:t> students and lecturers see their records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6A12BB-C76E-83F1-1301-71B44BE86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842" y="20814"/>
            <a:ext cx="8230313" cy="9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06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5979" y="109728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b="1" u="sng" dirty="0">
                <a:solidFill>
                  <a:srgbClr val="C00000"/>
                </a:solidFill>
              </a:rPr>
              <a:t>5.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325880"/>
            <a:ext cx="5440680" cy="5120640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Three-tier architecture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Frontend:</a:t>
            </a:r>
            <a:r>
              <a:rPr lang="en-ZA" sz="2200" b="0" dirty="0">
                <a:solidFill>
                  <a:srgbClr val="262626"/>
                </a:solidFill>
              </a:rPr>
              <a:t> React app for students and lecturers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Backend:</a:t>
            </a:r>
            <a:r>
              <a:rPr lang="en-ZA" sz="2200" b="0" dirty="0">
                <a:solidFill>
                  <a:srgbClr val="262626"/>
                </a:solidFill>
              </a:rPr>
              <a:t> Node.js and Express API for login, slots and bookings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Database:</a:t>
            </a:r>
            <a:r>
              <a:rPr lang="en-ZA" sz="2200" b="0" dirty="0">
                <a:solidFill>
                  <a:srgbClr val="262626"/>
                </a:solidFill>
              </a:rPr>
              <a:t> MySQL with users, slots, bookings and notifications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25880"/>
            <a:ext cx="54864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Design models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Use case, class, activity and sequence diagrams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ERD for the database relationships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User interface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Desktop and mobile friendly pages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Separate pages for students and lecturers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109728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b="1" u="sng" dirty="0">
                <a:solidFill>
                  <a:srgbClr val="C00000"/>
                </a:solidFill>
              </a:rPr>
              <a:t>6.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325880"/>
            <a:ext cx="5440680" cy="5120640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Frontend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React:</a:t>
            </a:r>
            <a:r>
              <a:rPr lang="en-ZA" sz="2200" b="0" dirty="0">
                <a:solidFill>
                  <a:srgbClr val="262626"/>
                </a:solidFill>
              </a:rPr>
              <a:t> pages and reusable components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Vite:</a:t>
            </a:r>
            <a:r>
              <a:rPr lang="en-ZA" sz="2200" b="0" dirty="0">
                <a:solidFill>
                  <a:srgbClr val="262626"/>
                </a:solidFill>
              </a:rPr>
              <a:t> development server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React Router:</a:t>
            </a:r>
            <a:r>
              <a:rPr lang="en-ZA" sz="2200" b="0" dirty="0">
                <a:solidFill>
                  <a:srgbClr val="262626"/>
                </a:solidFill>
              </a:rPr>
              <a:t> navigation and protected routes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Backend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Node.js and Express:</a:t>
            </a:r>
            <a:r>
              <a:rPr lang="en-ZA" sz="2200" b="0" dirty="0">
                <a:solidFill>
                  <a:srgbClr val="262626"/>
                </a:solidFill>
              </a:rPr>
              <a:t> REST API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JWT and bcryptjs:</a:t>
            </a:r>
            <a:r>
              <a:rPr lang="en-ZA" sz="2200" b="0" dirty="0">
                <a:solidFill>
                  <a:srgbClr val="262626"/>
                </a:solidFill>
              </a:rPr>
              <a:t> login and password security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25880"/>
            <a:ext cx="54864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Database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MySQL 8:</a:t>
            </a:r>
            <a:r>
              <a:rPr lang="en-ZA" sz="2200" b="0" dirty="0">
                <a:solidFill>
                  <a:srgbClr val="262626"/>
                </a:solidFill>
              </a:rPr>
              <a:t> accounts, slots and bookings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Services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Nodemailer and SMTP:</a:t>
            </a:r>
            <a:r>
              <a:rPr lang="en-ZA" sz="2200" b="0" dirty="0">
                <a:solidFill>
                  <a:srgbClr val="262626"/>
                </a:solidFill>
              </a:rPr>
              <a:t> email notifications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node-cron: scheduled reminders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Tools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Visual Studio Code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Git and GitHub:</a:t>
            </a:r>
            <a:r>
              <a:rPr lang="en-ZA" sz="2200" b="0" dirty="0">
                <a:solidFill>
                  <a:srgbClr val="262626"/>
                </a:solidFill>
              </a:rPr>
              <a:t> branches, commits and pull requests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17964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b="1" u="sng" dirty="0">
                <a:solidFill>
                  <a:srgbClr val="C00000"/>
                </a:solidFill>
              </a:rPr>
              <a:t>7. 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325880"/>
            <a:ext cx="5440680" cy="5120640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Student journey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Log in as a student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Choose a lecturer, date and time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Enter a reason and confirm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Manage it under My Bookings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Lecturer journey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Log in as a lecturer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Publish, edit or remove available slots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See available and booked slots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25880"/>
            <a:ext cx="54864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Validation and feedback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Clear message for wrong login details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Confirmation after each successful action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Expired session message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Clear message when a request fails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Also shown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Phone-sized layout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Booked slots cannot be edited or removed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50049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b="1" u="sng" dirty="0">
                <a:solidFill>
                  <a:srgbClr val="C00000"/>
                </a:solidFill>
              </a:rPr>
              <a:t>8. 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325880"/>
            <a:ext cx="5440680" cy="5120640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How we tested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API tests on every route and role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Browser tests with Playwright at phone and laptop sizes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Security checks on roles, tokens and passwords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Page load and API response times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Results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36 test cases: 35 passed, 0 failed, 1 not run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1" dirty="0">
                <a:solidFill>
                  <a:srgbClr val="262626"/>
                </a:solidFill>
              </a:rPr>
              <a:t>Not run:</a:t>
            </a:r>
            <a:r>
              <a:rPr lang="en-ZA" sz="2200" b="0" dirty="0">
                <a:solidFill>
                  <a:srgbClr val="262626"/>
                </a:solidFill>
              </a:rPr>
              <a:t> first-time student timing test (Week 5)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25880"/>
            <a:ext cx="54864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Defects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10 defects found, all fixed and retested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Missing lecturer slots route (/api/slots/mine)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Times showing as "undefined"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Rescheduling, expired session and login limit fixes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Performance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Slowest page load 389 ms against a 3 second target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8 simultaneous requests for one slot gave 1 booking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-2567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b="1" u="sng" dirty="0">
                <a:solidFill>
                  <a:srgbClr val="C00000"/>
                </a:solidFill>
              </a:rPr>
              <a:t>9.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325880"/>
            <a:ext cx="5440680" cy="5120640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Requirements met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All 9 functional requirements met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6 of 7 non-functional requirements met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1 partly met: booking in under 2 minutes, timed with students in Week 5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Project progress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Frontend, backend and database are integrated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Defects found in testing were fixed and retested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25880"/>
            <a:ext cx="54864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Evaluation criteria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Functionality and reliability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Ease of use and booking speed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Security and no double bookings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0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b="1" u="sng" dirty="0">
                <a:solidFill>
                  <a:srgbClr val="C00000"/>
                </a:solidFill>
              </a:rPr>
              <a:t>10. Conclusion, 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325880"/>
            <a:ext cx="5440680" cy="5120640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Conclusion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One central place for consultation booking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Students book and manage appointments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Lecturers publish and manage availability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Works on desktop and mobile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Limitations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One CTU campus and demonstration data only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Needs more testing before real use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25880"/>
            <a:ext cx="54864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Recommendations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Finish user testing and fix remaining defects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Improve reliability and deployment readiness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ZA" sz="2500" b="1" dirty="0">
                <a:solidFill>
                  <a:srgbClr val="C00000"/>
                </a:solidFill>
              </a:rPr>
              <a:t>Future improvements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Integration with CTU student systems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Calendar synchronisation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More notification options</a:t>
            </a:r>
          </a:p>
          <a:p>
            <a:pPr marL="285750" indent="-285750">
              <a:spcBef>
                <a:spcPts val="300"/>
              </a:spcBef>
              <a:buFont typeface="Arial"/>
              <a:buChar char="•"/>
            </a:pPr>
            <a:r>
              <a:rPr lang="en-ZA" sz="2200" b="0" dirty="0">
                <a:solidFill>
                  <a:srgbClr val="262626"/>
                </a:solidFill>
              </a:rPr>
              <a:t>Admin reporting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377440"/>
            <a:ext cx="8503920" cy="2743200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en-ZA" sz="3200" b="1" dirty="0">
                <a:solidFill>
                  <a:srgbClr val="262626"/>
                </a:solidFill>
              </a:rPr>
              <a:t>Thank you</a:t>
            </a:r>
          </a:p>
          <a:p>
            <a:pPr marL="0" indent="0" algn="ctr">
              <a:buNone/>
            </a:pPr>
            <a:r>
              <a:rPr lang="en-ZA" sz="3200" b="1" dirty="0">
                <a:solidFill>
                  <a:srgbClr val="262626"/>
                </a:solidFill>
              </a:rPr>
              <a:t>Group 3</a:t>
            </a:r>
          </a:p>
          <a:p>
            <a:pPr marL="0" indent="0" algn="ctr">
              <a:buNone/>
            </a:pPr>
            <a:r>
              <a:rPr lang="en-ZA" sz="3200" b="1" dirty="0">
                <a:solidFill>
                  <a:srgbClr val="262626"/>
                </a:solidFill>
              </a:rPr>
              <a:t>Any questions?</a:t>
            </a:r>
          </a:p>
        </p:txBody>
      </p:sp>
      <p:pic>
        <p:nvPicPr>
          <p:cNvPr id="4" name="Picture 3" descr="image(20261006-0654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48840" cy="6876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1156</Words>
  <Application>Microsoft Office PowerPoint</Application>
  <PresentationFormat>Widescreen</PresentationFormat>
  <Paragraphs>192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CAPSTONE PROJECT PRESENTATION</vt:lpstr>
      <vt:lpstr>1. Problem &amp; Context</vt:lpstr>
      <vt:lpstr>2. Aim, Objectives &amp; Research Questions</vt:lpstr>
      <vt:lpstr>3. Literature Review &amp; Research Gap</vt:lpstr>
      <vt:lpstr>4. Requirements &amp; Methodology</vt:lpstr>
      <vt:lpstr>PowerPoint Presentation</vt:lpstr>
      <vt:lpstr>5. System Design</vt:lpstr>
      <vt:lpstr>6. Technology Stack</vt:lpstr>
      <vt:lpstr>7. System Demonstration</vt:lpstr>
      <vt:lpstr>8. Testing &amp; Results</vt:lpstr>
      <vt:lpstr>9. Evaluation</vt:lpstr>
      <vt:lpstr>10. Conclusion, Limitations &amp; Future Work</vt:lpstr>
      <vt:lpstr>11.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Tom Duplessis</dc:creator>
  <cp:keywords/>
  <dc:description>generated using python-pptx</dc:description>
  <cp:lastModifiedBy>Tom Duplessis</cp:lastModifiedBy>
  <cp:revision>2</cp:revision>
  <dcterms:created xsi:type="dcterms:W3CDTF">2013-01-27T09:14:16Z</dcterms:created>
  <dcterms:modified xsi:type="dcterms:W3CDTF">2026-10-24T10:52:07Z</dcterms:modified>
  <cp:category/>
</cp:coreProperties>
</file>