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Students</c:v>
                </c:pt>
              </c:strCache>
            </c:strRef>
          </c:tx>
          <c:spPr>
            <a:solidFill>
              <a:srgbClr val="1E8FCB"/>
            </a:solidFill>
            <a:effectLst/>
          </c:spPr>
          <c:invertIfNegative val="0"/>
          <c:dLbls>
            <c:numFmt formatCode="#,##0" sourceLinked="0"/>
            <c:txPr>
              <a:bodyPr/>
              <a:lstStyle/>
              <a:p>
                <a:pPr>
                  <a:defRPr b="0" i="0" strike="noStrike" sz="1500" u="none">
                    <a:solidFill>
                      <a:srgbClr val="16232F"/>
                    </a:solidFill>
                    <a:latin typeface="Calibri"/>
                  </a:defRPr>
                </a:pPr>
              </a:p>
            </c:txPr>
            <c:showLegendKey val="0"/>
            <c:showVal val="1"/>
            <c:showCatName val="0"/>
            <c:showSerName val="0"/>
            <c:showPercent val="0"/>
            <c:showBubbleSize val="0"/>
            <c:showLeaderLines val="0"/>
          </c:dLbls>
          <c:cat>
            <c:multiLvlStrRef>
              <c:f>Sheet1!$A$2:$A$5</c:f>
              <c:multiLvlStrCache>
                <c:ptCount val="4"/>
                <c:lvl>
                  <c:pt idx="0">
                    <c:v>See free times</c:v>
                  </c:pt>
                  <c:pt idx="1">
                    <c:v>Email reminder</c:v>
                  </c:pt>
                  <c:pt idx="2">
                    <c:v>Instant confirmation</c:v>
                  </c:pt>
                  <c:pt idx="3">
                    <c:v>Easy change or cancel</c:v>
                  </c:pt>
                </c:lvl>
              </c:multiLvlStrCache>
            </c:multiLvlStrRef>
          </c:cat>
          <c:val>
            <c:numRef>
              <c:f>Sheet1!$B$2:$B$5</c:f>
              <c:numCache>
                <c:formatCode>General</c:formatCode>
                <c:ptCount val="4"/>
                <c:pt idx="0">
                  <c:v>11</c:v>
                </c:pt>
                <c:pt idx="1">
                  <c:v>7</c:v>
                </c:pt>
                <c:pt idx="2">
                  <c:v>4</c:v>
                </c:pt>
                <c:pt idx="3">
                  <c:v>3</c:v>
                </c:pt>
              </c:numCache>
            </c:numRef>
          </c:val>
        </c:ser>
        <c:dLbls>
          <c:numFmt formatCode="#,##0" sourceLinked="0"/>
          <c:txPr>
            <a:bodyPr/>
            <a:lstStyle/>
            <a:p>
              <a:pPr>
                <a:defRPr b="0" i="0" strike="noStrike" sz="1500" u="none">
                  <a:solidFill>
                    <a:srgbClr val="16232F"/>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6232F"/>
                </a:solidFill>
                <a:latin typeface="Calibri"/>
              </a:defRPr>
            </a:pPr>
            <a:endParaRPr lang="en-US"/>
          </a:p>
        </c:txPr>
        <c:crossAx val="2094734552"/>
        <c:crosses val="autoZero"/>
        <c:auto val="1"/>
        <c:lblAlgn val="ctr"/>
        <c:noMultiLvlLbl val="1"/>
      </c:catAx>
      <c:valAx>
        <c:axId val="2094734552"/>
        <c:scaling>
          <c:orientation val="minMax"/>
          <c:max val="13"/>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Willem
Good morning everyone. We are Group 3, and this is CampusBook.
[Pause] Quick question first: who here has ever messaged a lecturer about a consultation and then waited days for an answer? [Let hands go up.]
That is the problem we set out to fix. In the next few minutes we will show you the problem, what we built, a live demo, the problems we ran into along the way, and our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Willem
Right now there is no one way to book a consultation. You send a Teams message, you catch the lecturer after class, you walk to the office, or you WhatsApp them.
So what goes wrong? Nobody can see when a lecturer is actually free. You wait days for a reply. Meetings get forgotten, or two students turn up at the same time. And the lecturer has no idea who is coming or why.
And it is worst right before tests and deadlines, exactly when you need help most.
We did not want to just assume this, so we asked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Willem
We ran an anonymous survey, and 13 students answered.
Three numbers stood out.
8 of 13 cannot tell when a lecturer is free.
10 of 13 wait one to two days just to get a time confirmed.
And 7 of 13, more than half, have given up on getting a consultation at all.
That means students are going without help simply because asking is too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Willem
We also asked what they would want.
Number one, by far: see the lecturer's free times. 11 of 13 chose that. Then an email reminder, then instant confirmation, then an easy way to change or cancel.
So we did not guess our features. These four answers became our list.
And when we asked if they would use a system like this, the average was 4.2 out of 5.
Gerhardus will take you through what we set out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Gerhardus
So our aim was simple: build and test a web system where students book, change and cancel consultations, and lecturers manage their free time.
We turned that into five objectives you can measure: survey at least ten students, compare three tools, build six must-have features, test it against clear targets, and evaluate it with real users.
At the end we will come back to all five and tell you how we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Gerhardus
We looked at three tools that already do booking.
Microsoft Bookings works well with Outlook and Teams, but it is made for businesses, not students and modules, and it needs an administrator to set up.
Calendly is polished, but reminders cost about ten dollars per lecturer per month, and you need a different link for every lecturer.
Moodle Scheduler is made for teaching, but it only works inside one course.
So we kept what they do well: open slots, instant confirmation and reminders. But none of them gives every CTU student one free place to book any lecturer. That is the gap CampusBook fills.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Gerhardus
Our requirements came from three places: our own experience of booking consultations, feedback from our lecturer on the proposal, and the comparison of existing tools. The survey then confirmed them.
We ended up with nine functional requirements, the things the system must do, like logging in with a role, publishing slots, booking with a reason, no double bookings and emails. And seven non-functional requirements, how well it must do them: fast, on a phone, and secure.
We worked in Agile Scrum with one-week sprints. Sprint 0 was requirements and design, Sprint 1 was building the features, and Sprint 2 was user testing, fixes and the final report. Every member worked on their own GitHub branch and pull requests were reviewed before merging.
Lebohang will show you what we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Lebohang
These are the six features every version of CampusBook had to have.
Two roles: students and lecturers each log in and only see their own pages.
Lecturers publish the times they are free.
Students book a time and give a reason, so the lecturer can prepare. They can also change or cancel.
Both people get a confirmation email, and a reminder before the meeting.
Everyone can see their booking history.
And it works on a phone, because 7 of our 13 students said they would book from their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Lebohang
CampusBook has three parts.
What you see is a React web app in the browser.
The rules live in our API, built with Node.js and Express. It checks who you are, what you are allowed to do, and applies the booking rules.
The data is in a MySQL database with five tables. Only the API can talk to it.
For emails we use Nodemailer, and a small timer job checks every minute and sends reminders 60 minutes before a meeting.
Passwords are never stored as plain text, only scrambled with bcrypt.
The key idea: the rules are on the server, not on the screen, so nobody can get around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Lebohang
Here is what one booking looks like.
The lecturer publishes a free time. The student picks that lecturer and an open time, adds a reason and confirms. Both get an email straight away, and a reminder goes out before the meeting. If the student changes or cancels, that time opens up again for someone else.
No messages back and forth, and once a time is booked, nobody else can take it.
Oscar will explain the hardest part of the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Oscar
The hardest problem was this: what if two students click Book on the same slot at the same second?
If both went through, two students would arrive for one meeting, which is exactly what we set out to stop.
We solved it in two layers. First, the slot is locked while a booking is being made, so the second request waits and then sees it is taken. Second, the database itself refuses a second booking for the same slot, so even a bug in our code cannot break it.
We tested it by sending eight booking requests for one slot at the same moment. One booking went through and the other seven got a clear message.
Lecturers also cannot edit or delete a slot once someone has booked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Oscar
When we joined everyone's work together and tested it, we found ten problems. We fixed all ten and tested them again.
Here are the four that mattered most.
Two pages showed no times at all, because the page and the API used different names for the same data.
Some dates moved by one day because of a time-zone conversion.
Students could cancel but not change a booking, so we added a Change time button.
And anyone could keep guessing passwords, so now the login blocks more tries after ten wrong passwords.
The big lesson: most problems were where different people's work joined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Oscar
After the fixes, here is where we ended up.
All nine functional requirements were met. All ten defects were fixed, none left open. The slowest page loaded in 389 milliseconds, against a target of three seconds. And eight booking requests at once still gave only one booking.
Then I ran the user testing. We tested it with real users on 28 October: four students and two lecturers, who answered a Google Form afterwards.
Four of the six rated it easy or very easy to use. The students were very positive: an average of 4.5 out of 5, and all four said finding a slot was easy and the confirmation was clear.
The two lecturers could publish and manage their slots, but they rated it 3 and 2. That tells us the lecturer page is where we need to improve next, mainly clearer navigation.
On average, testers rated 3.7 out of 5 for using CampusBook instead of Teams or WhatsApp.
Thomas will take us back to our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Thomas
So, back to our five objectives.
One: we surveyed 13 students, more than our target of ten.
Two: we compared three existing tools.
Three: we built all six features, and every functional requirement was met.
Four is mostly achieved: 35 of 36 tests pass and pages load in under half a second. The one test we could not complete is the timed booking, because we did not time the bookings during user testing.
Five is partly achieved: we tested with four students and two lecturers, and four of the six found it easy to use. Our target was 80 percent, so we fell a little short, and the feedback shows us exactly why: the lecturer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Thomas
Finally, five things this project taught us.
Start with the users: the survey, not our guesses, decided what we built.
Agree on the details first: most of our bugs came from parts using different names for the same data.
Put the rules on the server, because a screen can be bypassed.
Test early, especially where people's work joins.
And working in GitHub branches with pull requests let five people build at the same time without overwriting each other.
Lebohang will now show you CampusBook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Lebohang (drives the app)
[Switch to the running app. Keep it to about four minutes.]
1. Log in as the lecturer and publish a free time.
2. Log out, log in as a student, pick that lecturer and book the time with a reason.
3. Show the confirmation email and that the time is no longer open.
4. Use Change time to move the booking, then cancel it.
5. Back on the lecturer page, show the time is open again.
If anything fails live, play the backup video and talk through the same steps.
Hand back to Thomas to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speaker: Thomas
Thank you for listening. We are happy to take any questions.
Who answers what:
Double booking and testing fixes: Willem. Survey, research and lessons: Lebohang. Lecturer page: Thomas. Running the live demo: Lebohang. Emails, reminders and the user testing: Oscar. Database design and demo data: Gerhardus.
If asked about limits: the survey had 13 students from one campus and no lecturers, the user testing had six people and the bookings were not timed, and the speed was measured on one computer, not over the campus network.
If asked what you would improve: the lecturer page first (lecturers rated it 3 and 2), then a weekly calendar view with notifications for new free times, both asked for by testers.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DARK-image-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064240" y="0"/>
            <a:ext cx="1124712" cy="1408176"/>
          </a:xfrm>
          <a:prstGeom prst="rect">
            <a:avLst/>
          </a:prstGeom>
        </p:spPr>
      </p:pic>
      <p:sp>
        <p:nvSpPr>
          <p:cNvPr id="3" name="Text 0"/>
          <p:cNvSpPr/>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CampusBook  |  SE2 Group 3  |  CTU Training Solutions</a:t>
            </a:r>
            <a:endParaRPr lang="en-US" sz="1000" dirty="0"/>
          </a:p>
        </p:txBody>
      </p:sp>
      <p:sp>
        <p:nvSpPr>
          <p:cNvPr id="25" name="Slide Number Placeholder 0"/>
          <p:cNvSpPr>
            <a:spLocks noGrp="1"/>
          </p:cNvSpPr>
          <p:nvPr>
            <p:ph type="sldNum" sz="quarter" idx="4294967295"/>
          </p:nvPr>
        </p:nvSpPr>
        <p:spPr>
          <a:xfrm>
            <a:off x="1042416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064240" y="0"/>
            <a:ext cx="1124712" cy="1408176"/>
          </a:xfrm>
          <a:prstGeom prst="rect">
            <a:avLst/>
          </a:prstGeom>
        </p:spPr>
      </p:pic>
      <p:sp>
        <p:nvSpPr>
          <p:cNvPr id="25" name="Slide Number Placeholder 0"/>
          <p:cNvSpPr>
            <a:spLocks noGrp="1"/>
          </p:cNvSpPr>
          <p:nvPr>
            <p:ph type="sldNum" sz="quarter" idx="4294967295"/>
          </p:nvPr>
        </p:nvSpPr>
        <p:spPr>
          <a:xfrm>
            <a:off x="1042416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3E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42416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2.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2.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3.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in panel artwork" descr="preencoded.png">    </p:cNvPr>
          <p:cNvPicPr>
            <a:picLocks noChangeAspect="1"/>
          </p:cNvPicPr>
          <p:nvPr/>
        </p:nvPicPr>
        <p:blipFill>
          <a:blip r:embed="rId1"/>
          <a:stretch>
            <a:fillRect/>
          </a:stretch>
        </p:blipFill>
        <p:spPr>
          <a:xfrm>
            <a:off x="0" y="0"/>
            <a:ext cx="5349240" cy="6858000"/>
          </a:xfrm>
          <a:prstGeom prst="rect">
            <a:avLst/>
          </a:prstGeom>
        </p:spPr>
      </p:pic>
      <p:sp>
        <p:nvSpPr>
          <p:cNvPr id="3" name="Text 0"/>
          <p:cNvSpPr txBox="1"/>
          <p:nvPr/>
        </p:nvSpPr>
        <p:spPr>
          <a:xfrm>
            <a:off x="6400800" y="1554480"/>
            <a:ext cx="5120640" cy="457200"/>
          </a:xfrm>
          <a:prstGeom prst="rect">
            <a:avLst/>
          </a:prstGeom>
          <a:noFill/>
          <a:ln/>
        </p:spPr>
        <p:txBody>
          <a:bodyPr wrap="square" lIns="0" tIns="0" rIns="0" bIns="0" rtlCol="0" anchor="t"/>
          <a:lstStyle/>
          <a:p>
            <a:pPr indent="0" marL="0">
              <a:buNone/>
            </a:pPr>
            <a:r>
              <a:rPr lang="en-US" sz="1800" dirty="0">
                <a:solidFill>
                  <a:srgbClr val="5B6B7B"/>
                </a:solidFill>
              </a:rPr>
              <a:t>SPM622 class presentation</a:t>
            </a:r>
            <a:endParaRPr lang="en-US" sz="1800" dirty="0"/>
          </a:p>
        </p:txBody>
      </p:sp>
      <p:sp>
        <p:nvSpPr>
          <p:cNvPr id="4" name="Text 1"/>
          <p:cNvSpPr txBox="1"/>
          <p:nvPr/>
        </p:nvSpPr>
        <p:spPr>
          <a:xfrm>
            <a:off x="6400800" y="1965960"/>
            <a:ext cx="5303520" cy="1005840"/>
          </a:xfrm>
          <a:prstGeom prst="rect">
            <a:avLst/>
          </a:prstGeom>
          <a:noFill/>
          <a:ln/>
        </p:spPr>
        <p:txBody>
          <a:bodyPr wrap="square" lIns="0" tIns="0" rIns="0" bIns="0" rtlCol="0" anchor="t"/>
          <a:lstStyle/>
          <a:p>
            <a:pPr indent="0" marL="0">
              <a:buNone/>
            </a:pPr>
            <a:r>
              <a:rPr lang="en-US" sz="5400" b="1" dirty="0">
                <a:solidFill>
                  <a:srgbClr val="072840"/>
                </a:solidFill>
                <a:latin typeface="Arial" pitchFamily="34" charset="0"/>
                <a:ea typeface="Arial" pitchFamily="34" charset="-122"/>
                <a:cs typeface="Arial" pitchFamily="34" charset="-120"/>
              </a:rPr>
              <a:t>Campus</a:t>
            </a:r>
            <a:pPr indent="0" marL="0">
              <a:buNone/>
            </a:pPr>
            <a:r>
              <a:rPr lang="en-US" sz="5400" b="1" dirty="0">
                <a:solidFill>
                  <a:srgbClr val="8B1A2B"/>
                </a:solidFill>
                <a:latin typeface="Arial" pitchFamily="34" charset="0"/>
                <a:ea typeface="Arial" pitchFamily="34" charset="-122"/>
                <a:cs typeface="Arial" pitchFamily="34" charset="-120"/>
              </a:rPr>
              <a:t>Book</a:t>
            </a:r>
            <a:endParaRPr lang="en-US" sz="5400" dirty="0"/>
          </a:p>
        </p:txBody>
      </p:sp>
      <p:sp>
        <p:nvSpPr>
          <p:cNvPr id="5" name="Text 2"/>
          <p:cNvSpPr txBox="1"/>
          <p:nvPr/>
        </p:nvSpPr>
        <p:spPr>
          <a:xfrm>
            <a:off x="6400800" y="3017520"/>
            <a:ext cx="5120640" cy="822960"/>
          </a:xfrm>
          <a:prstGeom prst="rect">
            <a:avLst/>
          </a:prstGeom>
          <a:noFill/>
          <a:ln/>
        </p:spPr>
        <p:txBody>
          <a:bodyPr wrap="square" lIns="0" tIns="0" rIns="0" bIns="0" rtlCol="0" anchor="t"/>
          <a:lstStyle/>
          <a:p>
            <a:pPr indent="0" marL="0">
              <a:buNone/>
            </a:pPr>
            <a:r>
              <a:rPr lang="en-US" sz="2100" dirty="0">
                <a:solidFill>
                  <a:srgbClr val="16232F"/>
                </a:solidFill>
              </a:rPr>
              <a:t>A web app for booking lecturer consultations at CTU</a:t>
            </a:r>
            <a:endParaRPr lang="en-US" sz="2100" dirty="0"/>
          </a:p>
        </p:txBody>
      </p:sp>
      <p:sp>
        <p:nvSpPr>
          <p:cNvPr id="6" name="Text 3"/>
          <p:cNvSpPr txBox="1"/>
          <p:nvPr/>
        </p:nvSpPr>
        <p:spPr>
          <a:xfrm>
            <a:off x="6400800" y="4069080"/>
            <a:ext cx="3291840" cy="566928"/>
          </a:xfrm>
          <a:prstGeom prst="roundRect">
            <a:avLst>
              <a:gd name="adj" fmla="val 8065"/>
            </a:avLst>
          </a:prstGeom>
          <a:solidFill>
            <a:srgbClr val="8B1A2B"/>
          </a:solidFill>
          <a:ln>
            <a:solidFill>
              <a:srgbClr val="8B1A2B"/>
            </a:solidFill>
          </a:ln>
        </p:spPr>
        <p:txBody>
          <a:bodyPr wrap="square" lIns="0" tIns="0" rIns="0" bIns="0" rtlCol="0" anchor="ctr"/>
          <a:lstStyle/>
          <a:p>
            <a:pPr algn="ctr" indent="0" marL="0">
              <a:buNone/>
            </a:pPr>
            <a:r>
              <a:rPr lang="en-US" sz="1700" b="1" dirty="0">
                <a:solidFill>
                  <a:srgbClr val="FFFFFF"/>
                </a:solidFill>
              </a:rPr>
              <a:t>SE2 Group 3</a:t>
            </a:r>
            <a:endParaRPr lang="en-US" sz="1700" dirty="0"/>
          </a:p>
        </p:txBody>
      </p:sp>
      <p:sp>
        <p:nvSpPr>
          <p:cNvPr id="7" name="Text 4"/>
          <p:cNvSpPr txBox="1"/>
          <p:nvPr/>
        </p:nvSpPr>
        <p:spPr>
          <a:xfrm>
            <a:off x="6400800" y="4937760"/>
            <a:ext cx="5120640" cy="822960"/>
          </a:xfrm>
          <a:prstGeom prst="rect">
            <a:avLst/>
          </a:prstGeom>
          <a:noFill/>
          <a:ln/>
        </p:spPr>
        <p:txBody>
          <a:bodyPr wrap="square" lIns="0" tIns="0" rIns="0" bIns="0" rtlCol="0" anchor="t"/>
          <a:lstStyle/>
          <a:p>
            <a:pPr indent="0" marL="0">
              <a:buNone/>
            </a:pPr>
            <a:r>
              <a:rPr lang="en-US" sz="1400" dirty="0">
                <a:solidFill>
                  <a:srgbClr val="5B6B7B"/>
                </a:solidFill>
              </a:rPr>
              <a:t>Willem Gerber, Oscar, Thomas, Lebohang and Gerhardus</a:t>
            </a:r>
            <a:endParaRPr lang="en-US" sz="1400" dirty="0"/>
          </a:p>
          <a:p>
            <a:pPr indent="0" marL="0">
              <a:buNone/>
            </a:pPr>
            <a:r>
              <a:rPr lang="en-US" sz="1400" dirty="0">
                <a:solidFill>
                  <a:srgbClr val="5B6B7B"/>
                </a:solidFill>
              </a:rPr>
              <a:t>CTU Training Solutions  |  29 October 2026</a:t>
            </a:r>
            <a:endParaRPr lang="en-US" sz="1400" dirty="0"/>
          </a:p>
        </p:txBody>
      </p:sp>
      <p:sp>
        <p:nvSpPr>
          <p:cNvPr id="25" name="Slide Number Placeholder 0"/>
          <p:cNvSpPr>
            <a:spLocks noGrp="1"/>
          </p:cNvSpPr>
          <p:nvPr>
            <p:ph type="sldNum" sz="quarter" idx="4294967295"/>
          </p:nvPr>
        </p:nvSpPr>
        <p:spPr>
          <a:xfrm>
            <a:off x="1042416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411480"/>
            <a:ext cx="1239012" cy="329184"/>
          </a:xfrm>
          <a:prstGeom prst="rect">
            <a:avLst/>
          </a:prstGeom>
          <a:solidFill>
            <a:srgbClr val="FFFFFF"/>
          </a:solidFill>
          <a:ln w="19050">
            <a:solidFill>
              <a:srgbClr val="072840"/>
            </a:solidFill>
            <a:prstDash val="solid"/>
          </a:ln>
        </p:spPr>
      </p:sp>
      <p:sp>
        <p:nvSpPr>
          <p:cNvPr id="3" name="Text 1"/>
          <p:cNvSpPr txBox="1"/>
          <p:nvPr/>
        </p:nvSpPr>
        <p:spPr>
          <a:xfrm>
            <a:off x="548640" y="411480"/>
            <a:ext cx="1239012" cy="329184"/>
          </a:xfrm>
          <a:prstGeom prst="rect">
            <a:avLst/>
          </a:prstGeom>
          <a:noFill/>
          <a:ln/>
        </p:spPr>
        <p:txBody>
          <a:bodyPr wrap="square" lIns="0" tIns="0" rIns="0" bIns="0" rtlCol="0" anchor="ctr"/>
          <a:lstStyle/>
          <a:p>
            <a:pPr algn="ctr" indent="0" marL="0">
              <a:buNone/>
            </a:pPr>
            <a:r>
              <a:rPr lang="en-US" sz="1100" b="1" spc="100" kern="0" dirty="0">
                <a:solidFill>
                  <a:srgbClr val="072840"/>
                </a:solidFill>
              </a:rPr>
              <a:t>THE PROBLEM</a:t>
            </a:r>
            <a:endParaRPr lang="en-US" sz="1100" dirty="0"/>
          </a:p>
        </p:txBody>
      </p:sp>
      <p:sp>
        <p:nvSpPr>
          <p:cNvPr id="4" name="Title"/>
          <p:cNvSpPr txBox="1"/>
          <p:nvPr/>
        </p:nvSpPr>
        <p:spPr>
          <a:xfrm>
            <a:off x="548640" y="822960"/>
            <a:ext cx="10241280" cy="777240"/>
          </a:xfrm>
          <a:prstGeom prst="rect">
            <a:avLst/>
          </a:prstGeom>
          <a:noFill/>
          <a:ln/>
        </p:spPr>
        <p:txBody>
          <a:bodyPr wrap="square" lIns="0" tIns="0" rIns="0" bIns="0" rtlCol="0" anchor="ctr"/>
          <a:lstStyle/>
          <a:p>
            <a:pPr indent="0" marL="0">
              <a:buNone/>
            </a:pPr>
            <a:r>
              <a:rPr lang="en-US" sz="3200" dirty="0">
                <a:solidFill>
                  <a:srgbClr val="072840"/>
                </a:solidFill>
                <a:latin typeface="Arial" pitchFamily="34" charset="0"/>
                <a:ea typeface="Arial" pitchFamily="34" charset="-122"/>
                <a:cs typeface="Arial" pitchFamily="34" charset="-120"/>
              </a:rPr>
              <a:t>Booking a consultation </a:t>
            </a:r>
            <a:pPr indent="0" marL="0">
              <a:buNone/>
            </a:pPr>
            <a:r>
              <a:rPr lang="en-US" sz="3200" b="1" dirty="0">
                <a:solidFill>
                  <a:srgbClr val="072840"/>
                </a:solidFill>
                <a:latin typeface="Arial" pitchFamily="34" charset="0"/>
                <a:ea typeface="Arial" pitchFamily="34" charset="-122"/>
                <a:cs typeface="Arial" pitchFamily="34" charset="-120"/>
              </a:rPr>
              <a:t>is messy today</a:t>
            </a:r>
            <a:endParaRPr lang="en-US" sz="3200" dirty="0"/>
          </a:p>
        </p:txBody>
      </p:sp>
      <p:sp>
        <p:nvSpPr>
          <p:cNvPr id="5" name="Text 3"/>
          <p:cNvSpPr txBox="1"/>
          <p:nvPr/>
        </p:nvSpPr>
        <p:spPr>
          <a:xfrm>
            <a:off x="548640" y="1828800"/>
            <a:ext cx="4572000" cy="411480"/>
          </a:xfrm>
          <a:prstGeom prst="rect">
            <a:avLst/>
          </a:prstGeom>
          <a:noFill/>
          <a:ln/>
        </p:spPr>
        <p:txBody>
          <a:bodyPr wrap="square" lIns="0" tIns="0" rIns="0" bIns="0" rtlCol="0" anchor="t"/>
          <a:lstStyle/>
          <a:p>
            <a:pPr indent="0" marL="0">
              <a:buNone/>
            </a:pPr>
            <a:r>
              <a:rPr lang="en-US" sz="1800" b="1" dirty="0">
                <a:solidFill>
                  <a:srgbClr val="072840"/>
                </a:solidFill>
              </a:rPr>
              <a:t>How students ask today</a:t>
            </a:r>
            <a:endParaRPr lang="en-US" sz="1800" dirty="0"/>
          </a:p>
        </p:txBody>
      </p:sp>
      <p:sp>
        <p:nvSpPr>
          <p:cNvPr id="6" name="Channel 1"/>
          <p:cNvSpPr/>
          <p:nvPr/>
        </p:nvSpPr>
        <p:spPr>
          <a:xfrm>
            <a:off x="548640" y="2377440"/>
            <a:ext cx="4480560" cy="786384"/>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7" name="Shape 5"/>
          <p:cNvSpPr/>
          <p:nvPr/>
        </p:nvSpPr>
        <p:spPr>
          <a:xfrm>
            <a:off x="731520" y="2496312"/>
            <a:ext cx="548640" cy="548640"/>
          </a:xfrm>
          <a:prstGeom prst="ellipse">
            <a:avLst/>
          </a:prstGeom>
          <a:solidFill>
            <a:srgbClr val="1E8FCB"/>
          </a:solidFill>
          <a:ln w="12700">
            <a:solidFill>
              <a:srgbClr val="1E8FCB"/>
            </a:solidFill>
            <a:prstDash val="solid"/>
          </a:ln>
        </p:spPr>
      </p:sp>
      <p:pic>
        <p:nvPicPr>
          <p:cNvPr id="8" name="Image 0" descr="preencoded.png">    </p:cNvPr>
          <p:cNvPicPr>
            <a:picLocks noChangeAspect="1"/>
          </p:cNvPicPr>
          <p:nvPr/>
        </p:nvPicPr>
        <p:blipFill>
          <a:blip r:embed="rId1"/>
          <a:stretch>
            <a:fillRect/>
          </a:stretch>
        </p:blipFill>
        <p:spPr>
          <a:xfrm>
            <a:off x="868680" y="2633472"/>
            <a:ext cx="274320" cy="274320"/>
          </a:xfrm>
          <a:prstGeom prst="rect">
            <a:avLst/>
          </a:prstGeom>
        </p:spPr>
      </p:pic>
      <p:sp>
        <p:nvSpPr>
          <p:cNvPr id="9" name="Text 6"/>
          <p:cNvSpPr txBox="1"/>
          <p:nvPr/>
        </p:nvSpPr>
        <p:spPr>
          <a:xfrm>
            <a:off x="1463040" y="2377440"/>
            <a:ext cx="3383280" cy="786384"/>
          </a:xfrm>
          <a:prstGeom prst="rect">
            <a:avLst/>
          </a:prstGeom>
          <a:noFill/>
          <a:ln/>
        </p:spPr>
        <p:txBody>
          <a:bodyPr wrap="square" lIns="0" tIns="0" rIns="0" bIns="0" rtlCol="0" anchor="ctr"/>
          <a:lstStyle/>
          <a:p>
            <a:pPr indent="0" marL="0">
              <a:buNone/>
            </a:pPr>
            <a:r>
              <a:rPr lang="en-US" sz="1800" b="1" dirty="0">
                <a:solidFill>
                  <a:srgbClr val="072840"/>
                </a:solidFill>
              </a:rPr>
              <a:t>Teams message</a:t>
            </a:r>
            <a:endParaRPr lang="en-US" sz="1800" dirty="0"/>
          </a:p>
        </p:txBody>
      </p:sp>
      <p:sp>
        <p:nvSpPr>
          <p:cNvPr id="10" name="Channel 2"/>
          <p:cNvSpPr/>
          <p:nvPr/>
        </p:nvSpPr>
        <p:spPr>
          <a:xfrm>
            <a:off x="548640" y="3310128"/>
            <a:ext cx="4480560" cy="786384"/>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11" name="Shape 8"/>
          <p:cNvSpPr/>
          <p:nvPr/>
        </p:nvSpPr>
        <p:spPr>
          <a:xfrm>
            <a:off x="731520" y="3429000"/>
            <a:ext cx="548640" cy="548640"/>
          </a:xfrm>
          <a:prstGeom prst="ellipse">
            <a:avLst/>
          </a:prstGeom>
          <a:solidFill>
            <a:srgbClr val="12506F"/>
          </a:solidFill>
          <a:ln w="12700">
            <a:solidFill>
              <a:srgbClr val="12506F"/>
            </a:solidFill>
            <a:prstDash val="solid"/>
          </a:ln>
        </p:spPr>
      </p:sp>
      <p:pic>
        <p:nvPicPr>
          <p:cNvPr id="12" name="Image 1" descr="preencoded.png">    </p:cNvPr>
          <p:cNvPicPr>
            <a:picLocks noChangeAspect="1"/>
          </p:cNvPicPr>
          <p:nvPr/>
        </p:nvPicPr>
        <p:blipFill>
          <a:blip r:embed="rId2"/>
          <a:stretch>
            <a:fillRect/>
          </a:stretch>
        </p:blipFill>
        <p:spPr>
          <a:xfrm>
            <a:off x="868680" y="3566160"/>
            <a:ext cx="274320" cy="274320"/>
          </a:xfrm>
          <a:prstGeom prst="rect">
            <a:avLst/>
          </a:prstGeom>
        </p:spPr>
      </p:pic>
      <p:sp>
        <p:nvSpPr>
          <p:cNvPr id="13" name="Text 9"/>
          <p:cNvSpPr txBox="1"/>
          <p:nvPr/>
        </p:nvSpPr>
        <p:spPr>
          <a:xfrm>
            <a:off x="1463040" y="3310128"/>
            <a:ext cx="3383280" cy="786384"/>
          </a:xfrm>
          <a:prstGeom prst="rect">
            <a:avLst/>
          </a:prstGeom>
          <a:noFill/>
          <a:ln/>
        </p:spPr>
        <p:txBody>
          <a:bodyPr wrap="square" lIns="0" tIns="0" rIns="0" bIns="0" rtlCol="0" anchor="ctr"/>
          <a:lstStyle/>
          <a:p>
            <a:pPr indent="0" marL="0">
              <a:buNone/>
            </a:pPr>
            <a:r>
              <a:rPr lang="en-US" sz="1800" b="1" dirty="0">
                <a:solidFill>
                  <a:srgbClr val="072840"/>
                </a:solidFill>
              </a:rPr>
              <a:t>Asking in class</a:t>
            </a:r>
            <a:endParaRPr lang="en-US" sz="1800" dirty="0"/>
          </a:p>
        </p:txBody>
      </p:sp>
      <p:sp>
        <p:nvSpPr>
          <p:cNvPr id="14" name="Channel 3"/>
          <p:cNvSpPr/>
          <p:nvPr/>
        </p:nvSpPr>
        <p:spPr>
          <a:xfrm>
            <a:off x="548640" y="4242816"/>
            <a:ext cx="4480560" cy="786384"/>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15" name="Shape 11"/>
          <p:cNvSpPr/>
          <p:nvPr/>
        </p:nvSpPr>
        <p:spPr>
          <a:xfrm>
            <a:off x="731520" y="4361688"/>
            <a:ext cx="548640" cy="548640"/>
          </a:xfrm>
          <a:prstGeom prst="ellipse">
            <a:avLst/>
          </a:prstGeom>
          <a:solidFill>
            <a:srgbClr val="B36BC4"/>
          </a:solidFill>
          <a:ln w="12700">
            <a:solidFill>
              <a:srgbClr val="B36BC4"/>
            </a:solidFill>
            <a:prstDash val="solid"/>
          </a:ln>
        </p:spPr>
      </p:sp>
      <p:pic>
        <p:nvPicPr>
          <p:cNvPr id="16" name="Image 2" descr="preencoded.png">    </p:cNvPr>
          <p:cNvPicPr>
            <a:picLocks noChangeAspect="1"/>
          </p:cNvPicPr>
          <p:nvPr/>
        </p:nvPicPr>
        <p:blipFill>
          <a:blip r:embed="rId3"/>
          <a:stretch>
            <a:fillRect/>
          </a:stretch>
        </p:blipFill>
        <p:spPr>
          <a:xfrm>
            <a:off x="868680" y="4498848"/>
            <a:ext cx="274320" cy="274320"/>
          </a:xfrm>
          <a:prstGeom prst="rect">
            <a:avLst/>
          </a:prstGeom>
        </p:spPr>
      </p:pic>
      <p:sp>
        <p:nvSpPr>
          <p:cNvPr id="17" name="Text 12"/>
          <p:cNvSpPr txBox="1"/>
          <p:nvPr/>
        </p:nvSpPr>
        <p:spPr>
          <a:xfrm>
            <a:off x="1463040" y="4242816"/>
            <a:ext cx="3383280" cy="786384"/>
          </a:xfrm>
          <a:prstGeom prst="rect">
            <a:avLst/>
          </a:prstGeom>
          <a:noFill/>
          <a:ln/>
        </p:spPr>
        <p:txBody>
          <a:bodyPr wrap="square" lIns="0" tIns="0" rIns="0" bIns="0" rtlCol="0" anchor="ctr"/>
          <a:lstStyle/>
          <a:p>
            <a:pPr indent="0" marL="0">
              <a:buNone/>
            </a:pPr>
            <a:r>
              <a:rPr lang="en-US" sz="1800" b="1" dirty="0">
                <a:solidFill>
                  <a:srgbClr val="072840"/>
                </a:solidFill>
              </a:rPr>
              <a:t>Office visit</a:t>
            </a:r>
            <a:endParaRPr lang="en-US" sz="1800" dirty="0"/>
          </a:p>
        </p:txBody>
      </p:sp>
      <p:sp>
        <p:nvSpPr>
          <p:cNvPr id="18" name="Channel 4"/>
          <p:cNvSpPr/>
          <p:nvPr/>
        </p:nvSpPr>
        <p:spPr>
          <a:xfrm>
            <a:off x="548640" y="5175504"/>
            <a:ext cx="4480560" cy="786384"/>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19" name="Shape 14"/>
          <p:cNvSpPr/>
          <p:nvPr/>
        </p:nvSpPr>
        <p:spPr>
          <a:xfrm>
            <a:off x="731520" y="5294376"/>
            <a:ext cx="548640" cy="548640"/>
          </a:xfrm>
          <a:prstGeom prst="ellipse">
            <a:avLst/>
          </a:prstGeom>
          <a:solidFill>
            <a:srgbClr val="8DC63F"/>
          </a:solidFill>
          <a:ln w="12700">
            <a:solidFill>
              <a:srgbClr val="8DC63F"/>
            </a:solidFill>
            <a:prstDash val="solid"/>
          </a:ln>
        </p:spPr>
      </p:sp>
      <p:pic>
        <p:nvPicPr>
          <p:cNvPr id="20" name="Image 3" descr="preencoded.png">    </p:cNvPr>
          <p:cNvPicPr>
            <a:picLocks noChangeAspect="1"/>
          </p:cNvPicPr>
          <p:nvPr/>
        </p:nvPicPr>
        <p:blipFill>
          <a:blip r:embed="rId4"/>
          <a:stretch>
            <a:fillRect/>
          </a:stretch>
        </p:blipFill>
        <p:spPr>
          <a:xfrm>
            <a:off x="868680" y="5431536"/>
            <a:ext cx="274320" cy="274320"/>
          </a:xfrm>
          <a:prstGeom prst="rect">
            <a:avLst/>
          </a:prstGeom>
        </p:spPr>
      </p:pic>
      <p:sp>
        <p:nvSpPr>
          <p:cNvPr id="21" name="Text 15"/>
          <p:cNvSpPr txBox="1"/>
          <p:nvPr/>
        </p:nvSpPr>
        <p:spPr>
          <a:xfrm>
            <a:off x="1463040" y="5175504"/>
            <a:ext cx="3383280" cy="786384"/>
          </a:xfrm>
          <a:prstGeom prst="rect">
            <a:avLst/>
          </a:prstGeom>
          <a:noFill/>
          <a:ln/>
        </p:spPr>
        <p:txBody>
          <a:bodyPr wrap="square" lIns="0" tIns="0" rIns="0" bIns="0" rtlCol="0" anchor="ctr"/>
          <a:lstStyle/>
          <a:p>
            <a:pPr indent="0" marL="0">
              <a:buNone/>
            </a:pPr>
            <a:r>
              <a:rPr lang="en-US" sz="1800" b="1" dirty="0">
                <a:solidFill>
                  <a:srgbClr val="072840"/>
                </a:solidFill>
              </a:rPr>
              <a:t>WhatsApp</a:t>
            </a:r>
            <a:endParaRPr lang="en-US" sz="1800" dirty="0"/>
          </a:p>
        </p:txBody>
      </p:sp>
      <p:sp>
        <p:nvSpPr>
          <p:cNvPr id="22" name="Text 16"/>
          <p:cNvSpPr txBox="1"/>
          <p:nvPr/>
        </p:nvSpPr>
        <p:spPr>
          <a:xfrm>
            <a:off x="5074920" y="3383280"/>
            <a:ext cx="731520" cy="731520"/>
          </a:xfrm>
          <a:prstGeom prst="rect">
            <a:avLst/>
          </a:prstGeom>
          <a:noFill/>
          <a:ln/>
        </p:spPr>
        <p:txBody>
          <a:bodyPr wrap="square" lIns="0" tIns="0" rIns="0" bIns="0" rtlCol="0" anchor="ctr"/>
          <a:lstStyle/>
          <a:p>
            <a:pPr algn="ctr" indent="0" marL="0">
              <a:buNone/>
            </a:pPr>
            <a:r>
              <a:rPr lang="en-US" sz="4400" b="1" dirty="0">
                <a:solidFill>
                  <a:srgbClr val="5B6B7B"/>
                </a:solidFill>
              </a:rPr>
              <a:t>→</a:t>
            </a:r>
            <a:endParaRPr lang="en-US" sz="4400" dirty="0"/>
          </a:p>
        </p:txBody>
      </p:sp>
      <p:sp>
        <p:nvSpPr>
          <p:cNvPr id="23" name="What goes wrong"/>
          <p:cNvSpPr/>
          <p:nvPr/>
        </p:nvSpPr>
        <p:spPr>
          <a:xfrm>
            <a:off x="5852160" y="1828800"/>
            <a:ext cx="5760720" cy="4251960"/>
          </a:xfrm>
          <a:prstGeom prst="rect">
            <a:avLst/>
          </a:prstGeom>
          <a:solidFill>
            <a:srgbClr val="072840"/>
          </a:solidFill>
          <a:ln w="12700">
            <a:solidFill>
              <a:srgbClr val="072840"/>
            </a:solidFill>
            <a:prstDash val="solid"/>
          </a:ln>
        </p:spPr>
      </p:sp>
      <p:sp>
        <p:nvSpPr>
          <p:cNvPr id="24" name="Text 18"/>
          <p:cNvSpPr txBox="1"/>
          <p:nvPr/>
        </p:nvSpPr>
        <p:spPr>
          <a:xfrm>
            <a:off x="6172200" y="2057400"/>
            <a:ext cx="5120640" cy="457200"/>
          </a:xfrm>
          <a:prstGeom prst="rect">
            <a:avLst/>
          </a:prstGeom>
          <a:noFill/>
          <a:ln/>
        </p:spPr>
        <p:txBody>
          <a:bodyPr wrap="square" lIns="0" tIns="0" rIns="0" bIns="0" rtlCol="0" anchor="t"/>
          <a:lstStyle/>
          <a:p>
            <a:pPr indent="0" marL="0">
              <a:buNone/>
            </a:pPr>
            <a:r>
              <a:rPr lang="en-US" sz="2000" b="1" dirty="0">
                <a:solidFill>
                  <a:srgbClr val="5BCBE8"/>
                </a:solidFill>
              </a:rPr>
              <a:t>What goes wrong</a:t>
            </a:r>
            <a:endParaRPr lang="en-US" sz="2000" dirty="0"/>
          </a:p>
        </p:txBody>
      </p:sp>
      <p:sp>
        <p:nvSpPr>
          <p:cNvPr id="25" name="Shape 19"/>
          <p:cNvSpPr/>
          <p:nvPr/>
        </p:nvSpPr>
        <p:spPr>
          <a:xfrm>
            <a:off x="6172200" y="2697480"/>
            <a:ext cx="548640" cy="548640"/>
          </a:xfrm>
          <a:prstGeom prst="ellipse">
            <a:avLst/>
          </a:prstGeom>
          <a:solidFill>
            <a:srgbClr val="8B1A2B"/>
          </a:solidFill>
          <a:ln w="12700">
            <a:solidFill>
              <a:srgbClr val="8B1A2B"/>
            </a:solidFill>
            <a:prstDash val="solid"/>
          </a:ln>
        </p:spPr>
      </p:sp>
      <p:pic>
        <p:nvPicPr>
          <p:cNvPr id="26" name="Image 4" descr="preencoded.png">    </p:cNvPr>
          <p:cNvPicPr>
            <a:picLocks noChangeAspect="1"/>
          </p:cNvPicPr>
          <p:nvPr/>
        </p:nvPicPr>
        <p:blipFill>
          <a:blip r:embed="rId5"/>
          <a:stretch>
            <a:fillRect/>
          </a:stretch>
        </p:blipFill>
        <p:spPr>
          <a:xfrm>
            <a:off x="6309360" y="2834640"/>
            <a:ext cx="274320" cy="274320"/>
          </a:xfrm>
          <a:prstGeom prst="rect">
            <a:avLst/>
          </a:prstGeom>
        </p:spPr>
      </p:pic>
      <p:sp>
        <p:nvSpPr>
          <p:cNvPr id="27" name="Text 20"/>
          <p:cNvSpPr txBox="1"/>
          <p:nvPr/>
        </p:nvSpPr>
        <p:spPr>
          <a:xfrm>
            <a:off x="6903720" y="2697480"/>
            <a:ext cx="4480560" cy="548640"/>
          </a:xfrm>
          <a:prstGeom prst="rect">
            <a:avLst/>
          </a:prstGeom>
          <a:noFill/>
          <a:ln/>
        </p:spPr>
        <p:txBody>
          <a:bodyPr wrap="square" lIns="0" tIns="0" rIns="0" bIns="0" rtlCol="0" anchor="ctr"/>
          <a:lstStyle/>
          <a:p>
            <a:pPr indent="0" marL="0">
              <a:buNone/>
            </a:pPr>
            <a:r>
              <a:rPr lang="en-US" sz="1700" dirty="0">
                <a:solidFill>
                  <a:srgbClr val="FFFFFF"/>
                </a:solidFill>
              </a:rPr>
              <a:t>Nobody can see when a lecturer is free</a:t>
            </a:r>
            <a:endParaRPr lang="en-US" sz="1700" dirty="0"/>
          </a:p>
        </p:txBody>
      </p:sp>
      <p:sp>
        <p:nvSpPr>
          <p:cNvPr id="28" name="Shape 21"/>
          <p:cNvSpPr/>
          <p:nvPr/>
        </p:nvSpPr>
        <p:spPr>
          <a:xfrm>
            <a:off x="6172200" y="3520440"/>
            <a:ext cx="548640" cy="548640"/>
          </a:xfrm>
          <a:prstGeom prst="ellipse">
            <a:avLst/>
          </a:prstGeom>
          <a:solidFill>
            <a:srgbClr val="8B1A2B"/>
          </a:solidFill>
          <a:ln w="12700">
            <a:solidFill>
              <a:srgbClr val="8B1A2B"/>
            </a:solidFill>
            <a:prstDash val="solid"/>
          </a:ln>
        </p:spPr>
      </p:sp>
      <p:pic>
        <p:nvPicPr>
          <p:cNvPr id="29" name="Image 5" descr="preencoded.png">    </p:cNvPr>
          <p:cNvPicPr>
            <a:picLocks noChangeAspect="1"/>
          </p:cNvPicPr>
          <p:nvPr/>
        </p:nvPicPr>
        <p:blipFill>
          <a:blip r:embed="rId6"/>
          <a:stretch>
            <a:fillRect/>
          </a:stretch>
        </p:blipFill>
        <p:spPr>
          <a:xfrm>
            <a:off x="6309360" y="3657600"/>
            <a:ext cx="274320" cy="274320"/>
          </a:xfrm>
          <a:prstGeom prst="rect">
            <a:avLst/>
          </a:prstGeom>
        </p:spPr>
      </p:pic>
      <p:sp>
        <p:nvSpPr>
          <p:cNvPr id="30" name="Text 22"/>
          <p:cNvSpPr txBox="1"/>
          <p:nvPr/>
        </p:nvSpPr>
        <p:spPr>
          <a:xfrm>
            <a:off x="6903720" y="3520440"/>
            <a:ext cx="4480560" cy="548640"/>
          </a:xfrm>
          <a:prstGeom prst="rect">
            <a:avLst/>
          </a:prstGeom>
          <a:noFill/>
          <a:ln/>
        </p:spPr>
        <p:txBody>
          <a:bodyPr wrap="square" lIns="0" tIns="0" rIns="0" bIns="0" rtlCol="0" anchor="ctr"/>
          <a:lstStyle/>
          <a:p>
            <a:pPr indent="0" marL="0">
              <a:buNone/>
            </a:pPr>
            <a:r>
              <a:rPr lang="en-US" sz="1700" dirty="0">
                <a:solidFill>
                  <a:srgbClr val="FFFFFF"/>
                </a:solidFill>
              </a:rPr>
              <a:t>Students wait days for a reply</a:t>
            </a:r>
            <a:endParaRPr lang="en-US" sz="1700" dirty="0"/>
          </a:p>
        </p:txBody>
      </p:sp>
      <p:sp>
        <p:nvSpPr>
          <p:cNvPr id="31" name="Shape 23"/>
          <p:cNvSpPr/>
          <p:nvPr/>
        </p:nvSpPr>
        <p:spPr>
          <a:xfrm>
            <a:off x="6172200" y="4343400"/>
            <a:ext cx="548640" cy="548640"/>
          </a:xfrm>
          <a:prstGeom prst="ellipse">
            <a:avLst/>
          </a:prstGeom>
          <a:solidFill>
            <a:srgbClr val="8B1A2B"/>
          </a:solidFill>
          <a:ln w="12700">
            <a:solidFill>
              <a:srgbClr val="8B1A2B"/>
            </a:solidFill>
            <a:prstDash val="solid"/>
          </a:ln>
        </p:spPr>
      </p:sp>
      <p:pic>
        <p:nvPicPr>
          <p:cNvPr id="32" name="Image 6" descr="preencoded.png">    </p:cNvPr>
          <p:cNvPicPr>
            <a:picLocks noChangeAspect="1"/>
          </p:cNvPicPr>
          <p:nvPr/>
        </p:nvPicPr>
        <p:blipFill>
          <a:blip r:embed="rId7"/>
          <a:stretch>
            <a:fillRect/>
          </a:stretch>
        </p:blipFill>
        <p:spPr>
          <a:xfrm>
            <a:off x="6309360" y="4480560"/>
            <a:ext cx="274320" cy="274320"/>
          </a:xfrm>
          <a:prstGeom prst="rect">
            <a:avLst/>
          </a:prstGeom>
        </p:spPr>
      </p:pic>
      <p:sp>
        <p:nvSpPr>
          <p:cNvPr id="33" name="Text 24"/>
          <p:cNvSpPr txBox="1"/>
          <p:nvPr/>
        </p:nvSpPr>
        <p:spPr>
          <a:xfrm>
            <a:off x="6903720" y="4343400"/>
            <a:ext cx="4480560" cy="548640"/>
          </a:xfrm>
          <a:prstGeom prst="rect">
            <a:avLst/>
          </a:prstGeom>
          <a:noFill/>
          <a:ln/>
        </p:spPr>
        <p:txBody>
          <a:bodyPr wrap="square" lIns="0" tIns="0" rIns="0" bIns="0" rtlCol="0" anchor="ctr"/>
          <a:lstStyle/>
          <a:p>
            <a:pPr indent="0" marL="0">
              <a:buNone/>
            </a:pPr>
            <a:r>
              <a:rPr lang="en-US" sz="1700" dirty="0">
                <a:solidFill>
                  <a:srgbClr val="FFFFFF"/>
                </a:solidFill>
              </a:rPr>
              <a:t>Meetings are forgotten, missed or double-booked</a:t>
            </a:r>
            <a:endParaRPr lang="en-US" sz="1700" dirty="0"/>
          </a:p>
        </p:txBody>
      </p:sp>
      <p:sp>
        <p:nvSpPr>
          <p:cNvPr id="34" name="Shape 25"/>
          <p:cNvSpPr/>
          <p:nvPr/>
        </p:nvSpPr>
        <p:spPr>
          <a:xfrm>
            <a:off x="6172200" y="5166360"/>
            <a:ext cx="548640" cy="548640"/>
          </a:xfrm>
          <a:prstGeom prst="ellipse">
            <a:avLst/>
          </a:prstGeom>
          <a:solidFill>
            <a:srgbClr val="8B1A2B"/>
          </a:solidFill>
          <a:ln w="12700">
            <a:solidFill>
              <a:srgbClr val="8B1A2B"/>
            </a:solidFill>
            <a:prstDash val="solid"/>
          </a:ln>
        </p:spPr>
      </p:sp>
      <p:pic>
        <p:nvPicPr>
          <p:cNvPr id="35" name="Image 7" descr="preencoded.png">    </p:cNvPr>
          <p:cNvPicPr>
            <a:picLocks noChangeAspect="1"/>
          </p:cNvPicPr>
          <p:nvPr/>
        </p:nvPicPr>
        <p:blipFill>
          <a:blip r:embed="rId8"/>
          <a:stretch>
            <a:fillRect/>
          </a:stretch>
        </p:blipFill>
        <p:spPr>
          <a:xfrm>
            <a:off x="6309360" y="5303520"/>
            <a:ext cx="274320" cy="274320"/>
          </a:xfrm>
          <a:prstGeom prst="rect">
            <a:avLst/>
          </a:prstGeom>
        </p:spPr>
      </p:pic>
      <p:sp>
        <p:nvSpPr>
          <p:cNvPr id="36" name="Text 26"/>
          <p:cNvSpPr txBox="1"/>
          <p:nvPr/>
        </p:nvSpPr>
        <p:spPr>
          <a:xfrm>
            <a:off x="6903720" y="5166360"/>
            <a:ext cx="4480560" cy="548640"/>
          </a:xfrm>
          <a:prstGeom prst="rect">
            <a:avLst/>
          </a:prstGeom>
          <a:noFill/>
          <a:ln/>
        </p:spPr>
        <p:txBody>
          <a:bodyPr wrap="square" lIns="0" tIns="0" rIns="0" bIns="0" rtlCol="0" anchor="ctr"/>
          <a:lstStyle/>
          <a:p>
            <a:pPr indent="0" marL="0">
              <a:buNone/>
            </a:pPr>
            <a:r>
              <a:rPr lang="en-US" sz="1700" dirty="0">
                <a:solidFill>
                  <a:srgbClr val="FFFFFF"/>
                </a:solidFill>
              </a:rPr>
              <a:t>Lecturers do not know who is coming or why</a:t>
            </a:r>
            <a:endParaRPr lang="en-US" sz="1700" dirty="0"/>
          </a:p>
        </p:txBody>
      </p:sp>
      <p:sp>
        <p:nvSpPr>
          <p:cNvPr id="37" name="Text 27"/>
          <p:cNvSpPr txBox="1"/>
          <p:nvPr/>
        </p:nvSpPr>
        <p:spPr>
          <a:xfrm>
            <a:off x="548640" y="6126480"/>
            <a:ext cx="11064240" cy="320040"/>
          </a:xfrm>
          <a:prstGeom prst="rect">
            <a:avLst/>
          </a:prstGeom>
          <a:noFill/>
          <a:ln/>
        </p:spPr>
        <p:txBody>
          <a:bodyPr wrap="square" lIns="0" tIns="0" rIns="0" bIns="0" rtlCol="0" anchor="t"/>
          <a:lstStyle/>
          <a:p>
            <a:pPr indent="0" marL="0">
              <a:buNone/>
            </a:pPr>
            <a:r>
              <a:rPr lang="en-US" sz="1500" b="1" i="1" dirty="0">
                <a:solidFill>
                  <a:srgbClr val="8B1A2B"/>
                </a:solidFill>
              </a:rPr>
              <a:t>It is worst before tests and assignment deadlines, exactly when students need help most.</a:t>
            </a:r>
            <a:endParaRPr lang="en-US" sz="1500" dirty="0"/>
          </a:p>
        </p:txBody>
      </p:sp>
      <p:sp>
        <p:nvSpPr>
          <p:cNvPr id="25" name="Slide Number Placeholder 0"/>
          <p:cNvSpPr>
            <a:spLocks noGrp="1"/>
          </p:cNvSpPr>
          <p:nvPr>
            <p:ph type="sldNum" sz="quarter" idx="4294967295"/>
          </p:nvPr>
        </p:nvSpPr>
        <p:spPr>
          <a:xfrm>
            <a:off x="1042416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411480"/>
            <a:ext cx="1335024" cy="329184"/>
          </a:xfrm>
          <a:prstGeom prst="rect">
            <a:avLst/>
          </a:prstGeom>
          <a:solidFill>
            <a:srgbClr val="072840"/>
          </a:solidFill>
          <a:ln w="19050">
            <a:solidFill>
              <a:srgbClr val="FFFFFF"/>
            </a:solidFill>
            <a:prstDash val="solid"/>
          </a:ln>
        </p:spPr>
      </p:sp>
      <p:sp>
        <p:nvSpPr>
          <p:cNvPr id="3" name="Text 1"/>
          <p:cNvSpPr txBox="1"/>
          <p:nvPr/>
        </p:nvSpPr>
        <p:spPr>
          <a:xfrm>
            <a:off x="548640" y="411480"/>
            <a:ext cx="1335024"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rPr>
              <a:t>THE EVIDENCE</a:t>
            </a:r>
            <a:endParaRPr lang="en-US" sz="1100" dirty="0"/>
          </a:p>
        </p:txBody>
      </p:sp>
      <p:sp>
        <p:nvSpPr>
          <p:cNvPr id="4" name="Title"/>
          <p:cNvSpPr txBox="1"/>
          <p:nvPr/>
        </p:nvSpPr>
        <p:spPr>
          <a:xfrm>
            <a:off x="548640" y="822960"/>
            <a:ext cx="10241280" cy="777240"/>
          </a:xfrm>
          <a:prstGeom prst="rect">
            <a:avLst/>
          </a:prstGeom>
          <a:noFill/>
          <a:ln/>
        </p:spPr>
        <p:txBody>
          <a:bodyPr wrap="square" lIns="0" tIns="0" rIns="0" bIns="0" rtlCol="0" anchor="ctr"/>
          <a:lstStyle/>
          <a:p>
            <a:pPr indent="0" marL="0">
              <a:buNone/>
            </a:pPr>
            <a:r>
              <a:rPr lang="en-US" sz="3200" dirty="0">
                <a:solidFill>
                  <a:srgbClr val="FFFFFF"/>
                </a:solidFill>
                <a:latin typeface="Arial" pitchFamily="34" charset="0"/>
                <a:ea typeface="Arial" pitchFamily="34" charset="-122"/>
                <a:cs typeface="Arial" pitchFamily="34" charset="-120"/>
              </a:rPr>
              <a:t>We asked 13 students. </a:t>
            </a:r>
            <a:pPr indent="0" marL="0">
              <a:buNone/>
            </a:pPr>
            <a:r>
              <a:rPr lang="en-US" sz="3200" b="1" dirty="0">
                <a:solidFill>
                  <a:srgbClr val="5BCBE8"/>
                </a:solidFill>
                <a:latin typeface="Arial" pitchFamily="34" charset="0"/>
                <a:ea typeface="Arial" pitchFamily="34" charset="-122"/>
                <a:cs typeface="Arial" pitchFamily="34" charset="-120"/>
              </a:rPr>
              <a:t>This is what they said</a:t>
            </a:r>
            <a:endParaRPr lang="en-US" sz="3200" dirty="0"/>
          </a:p>
        </p:txBody>
      </p:sp>
      <p:sp>
        <p:nvSpPr>
          <p:cNvPr id="5" name="Stat card 1"/>
          <p:cNvSpPr/>
          <p:nvPr/>
        </p:nvSpPr>
        <p:spPr>
          <a:xfrm>
            <a:off x="548640" y="1828800"/>
            <a:ext cx="3566160" cy="3108960"/>
          </a:xfrm>
          <a:prstGeom prst="rect">
            <a:avLst/>
          </a:prstGeom>
          <a:solidFill>
            <a:srgbClr val="12506F">
              <a:alpha val="75000"/>
            </a:srgbClr>
          </a:solidFill>
          <a:ln w="15875">
            <a:solidFill>
              <a:srgbClr val="5BCBE8"/>
            </a:solidFill>
            <a:prstDash val="solid"/>
          </a:ln>
        </p:spPr>
      </p:sp>
      <p:sp>
        <p:nvSpPr>
          <p:cNvPr id="6" name="Shape 4"/>
          <p:cNvSpPr/>
          <p:nvPr/>
        </p:nvSpPr>
        <p:spPr>
          <a:xfrm>
            <a:off x="868680" y="2103120"/>
            <a:ext cx="731520" cy="731520"/>
          </a:xfrm>
          <a:prstGeom prst="ellipse">
            <a:avLst/>
          </a:prstGeom>
          <a:solidFill>
            <a:srgbClr val="5BCBE8"/>
          </a:solidFill>
          <a:ln w="12700">
            <a:solidFill>
              <a:srgbClr val="5BCBE8"/>
            </a:solidFill>
            <a:prstDash val="solid"/>
          </a:ln>
        </p:spPr>
      </p:sp>
      <p:pic>
        <p:nvPicPr>
          <p:cNvPr id="7" name="Image 0" descr="preencoded.png">    </p:cNvPr>
          <p:cNvPicPr>
            <a:picLocks noChangeAspect="1"/>
          </p:cNvPicPr>
          <p:nvPr/>
        </p:nvPicPr>
        <p:blipFill>
          <a:blip r:embed="rId1"/>
          <a:stretch>
            <a:fillRect/>
          </a:stretch>
        </p:blipFill>
        <p:spPr>
          <a:xfrm>
            <a:off x="1051560" y="2286000"/>
            <a:ext cx="365760" cy="365760"/>
          </a:xfrm>
          <a:prstGeom prst="rect">
            <a:avLst/>
          </a:prstGeom>
        </p:spPr>
      </p:pic>
      <p:sp>
        <p:nvSpPr>
          <p:cNvPr id="8" name="Text 5"/>
          <p:cNvSpPr txBox="1"/>
          <p:nvPr/>
        </p:nvSpPr>
        <p:spPr>
          <a:xfrm>
            <a:off x="868680" y="3017520"/>
            <a:ext cx="3017520" cy="868680"/>
          </a:xfrm>
          <a:prstGeom prst="rect">
            <a:avLst/>
          </a:prstGeom>
          <a:noFill/>
          <a:ln/>
        </p:spPr>
        <p:txBody>
          <a:bodyPr wrap="square" lIns="0" tIns="0" rIns="0" bIns="0" rtlCol="0" anchor="t"/>
          <a:lstStyle/>
          <a:p>
            <a:pPr indent="0" marL="0">
              <a:buNone/>
            </a:pPr>
            <a:r>
              <a:rPr lang="en-US" sz="5200" b="1" dirty="0">
                <a:solidFill>
                  <a:srgbClr val="5BCBE8"/>
                </a:solidFill>
              </a:rPr>
              <a:t>8 of 13</a:t>
            </a:r>
            <a:endParaRPr lang="en-US" sz="5200" dirty="0"/>
          </a:p>
        </p:txBody>
      </p:sp>
      <p:sp>
        <p:nvSpPr>
          <p:cNvPr id="9" name="Text 6"/>
          <p:cNvSpPr txBox="1"/>
          <p:nvPr/>
        </p:nvSpPr>
        <p:spPr>
          <a:xfrm>
            <a:off x="868680" y="3977640"/>
            <a:ext cx="3017520" cy="822960"/>
          </a:xfrm>
          <a:prstGeom prst="rect">
            <a:avLst/>
          </a:prstGeom>
          <a:noFill/>
          <a:ln/>
        </p:spPr>
        <p:txBody>
          <a:bodyPr wrap="square" lIns="0" tIns="0" rIns="0" bIns="0" rtlCol="0" anchor="t"/>
          <a:lstStyle/>
          <a:p>
            <a:pPr indent="0" marL="0">
              <a:buNone/>
            </a:pPr>
            <a:r>
              <a:rPr lang="en-US" sz="1800" dirty="0">
                <a:solidFill>
                  <a:srgbClr val="FFFFFF"/>
                </a:solidFill>
              </a:rPr>
              <a:t>cannot tell when a lecturer is free</a:t>
            </a:r>
            <a:endParaRPr lang="en-US" sz="1800" dirty="0"/>
          </a:p>
        </p:txBody>
      </p:sp>
      <p:sp>
        <p:nvSpPr>
          <p:cNvPr id="10" name="Stat card 2"/>
          <p:cNvSpPr/>
          <p:nvPr/>
        </p:nvSpPr>
        <p:spPr>
          <a:xfrm>
            <a:off x="4297680" y="1828800"/>
            <a:ext cx="3566160" cy="3108960"/>
          </a:xfrm>
          <a:prstGeom prst="rect">
            <a:avLst/>
          </a:prstGeom>
          <a:solidFill>
            <a:srgbClr val="12506F">
              <a:alpha val="75000"/>
            </a:srgbClr>
          </a:solidFill>
          <a:ln w="15875">
            <a:solidFill>
              <a:srgbClr val="8DC63F"/>
            </a:solidFill>
            <a:prstDash val="solid"/>
          </a:ln>
        </p:spPr>
      </p:sp>
      <p:sp>
        <p:nvSpPr>
          <p:cNvPr id="11" name="Shape 8"/>
          <p:cNvSpPr/>
          <p:nvPr/>
        </p:nvSpPr>
        <p:spPr>
          <a:xfrm>
            <a:off x="4617720" y="2103120"/>
            <a:ext cx="731520" cy="731520"/>
          </a:xfrm>
          <a:prstGeom prst="ellipse">
            <a:avLst/>
          </a:prstGeom>
          <a:solidFill>
            <a:srgbClr val="8DC63F"/>
          </a:solidFill>
          <a:ln w="12700">
            <a:solidFill>
              <a:srgbClr val="8DC63F"/>
            </a:solidFill>
            <a:prstDash val="solid"/>
          </a:ln>
        </p:spPr>
      </p:sp>
      <p:pic>
        <p:nvPicPr>
          <p:cNvPr id="12" name="Image 1" descr="preencoded.png">    </p:cNvPr>
          <p:cNvPicPr>
            <a:picLocks noChangeAspect="1"/>
          </p:cNvPicPr>
          <p:nvPr/>
        </p:nvPicPr>
        <p:blipFill>
          <a:blip r:embed="rId2"/>
          <a:stretch>
            <a:fillRect/>
          </a:stretch>
        </p:blipFill>
        <p:spPr>
          <a:xfrm>
            <a:off x="4800600" y="2286000"/>
            <a:ext cx="365760" cy="365760"/>
          </a:xfrm>
          <a:prstGeom prst="rect">
            <a:avLst/>
          </a:prstGeom>
        </p:spPr>
      </p:pic>
      <p:sp>
        <p:nvSpPr>
          <p:cNvPr id="13" name="Text 9"/>
          <p:cNvSpPr txBox="1"/>
          <p:nvPr/>
        </p:nvSpPr>
        <p:spPr>
          <a:xfrm>
            <a:off x="4617720" y="3017520"/>
            <a:ext cx="3017520" cy="868680"/>
          </a:xfrm>
          <a:prstGeom prst="rect">
            <a:avLst/>
          </a:prstGeom>
          <a:noFill/>
          <a:ln/>
        </p:spPr>
        <p:txBody>
          <a:bodyPr wrap="square" lIns="0" tIns="0" rIns="0" bIns="0" rtlCol="0" anchor="t"/>
          <a:lstStyle/>
          <a:p>
            <a:pPr indent="0" marL="0">
              <a:buNone/>
            </a:pPr>
            <a:r>
              <a:rPr lang="en-US" sz="5200" b="1" dirty="0">
                <a:solidFill>
                  <a:srgbClr val="8DC63F"/>
                </a:solidFill>
              </a:rPr>
              <a:t>10 of 13</a:t>
            </a:r>
            <a:endParaRPr lang="en-US" sz="5200" dirty="0"/>
          </a:p>
        </p:txBody>
      </p:sp>
      <p:sp>
        <p:nvSpPr>
          <p:cNvPr id="14" name="Text 10"/>
          <p:cNvSpPr txBox="1"/>
          <p:nvPr/>
        </p:nvSpPr>
        <p:spPr>
          <a:xfrm>
            <a:off x="4617720" y="3977640"/>
            <a:ext cx="3017520" cy="822960"/>
          </a:xfrm>
          <a:prstGeom prst="rect">
            <a:avLst/>
          </a:prstGeom>
          <a:noFill/>
          <a:ln/>
        </p:spPr>
        <p:txBody>
          <a:bodyPr wrap="square" lIns="0" tIns="0" rIns="0" bIns="0" rtlCol="0" anchor="t"/>
          <a:lstStyle/>
          <a:p>
            <a:pPr indent="0" marL="0">
              <a:buNone/>
            </a:pPr>
            <a:r>
              <a:rPr lang="en-US" sz="1800" dirty="0">
                <a:solidFill>
                  <a:srgbClr val="FFFFFF"/>
                </a:solidFill>
              </a:rPr>
              <a:t>wait 1 to 2 days to get a confirmed time</a:t>
            </a:r>
            <a:endParaRPr lang="en-US" sz="1800" dirty="0"/>
          </a:p>
        </p:txBody>
      </p:sp>
      <p:sp>
        <p:nvSpPr>
          <p:cNvPr id="15" name="Stat card 3"/>
          <p:cNvSpPr/>
          <p:nvPr/>
        </p:nvSpPr>
        <p:spPr>
          <a:xfrm>
            <a:off x="8046720" y="1828800"/>
            <a:ext cx="3566160" cy="3108960"/>
          </a:xfrm>
          <a:prstGeom prst="rect">
            <a:avLst/>
          </a:prstGeom>
          <a:solidFill>
            <a:srgbClr val="12506F">
              <a:alpha val="75000"/>
            </a:srgbClr>
          </a:solidFill>
          <a:ln w="15875">
            <a:solidFill>
              <a:srgbClr val="B36BC4"/>
            </a:solidFill>
            <a:prstDash val="solid"/>
          </a:ln>
        </p:spPr>
      </p:sp>
      <p:sp>
        <p:nvSpPr>
          <p:cNvPr id="16" name="Shape 12"/>
          <p:cNvSpPr/>
          <p:nvPr/>
        </p:nvSpPr>
        <p:spPr>
          <a:xfrm>
            <a:off x="8366760" y="2103120"/>
            <a:ext cx="731520" cy="731520"/>
          </a:xfrm>
          <a:prstGeom prst="ellipse">
            <a:avLst/>
          </a:prstGeom>
          <a:solidFill>
            <a:srgbClr val="B36BC4"/>
          </a:solidFill>
          <a:ln w="12700">
            <a:solidFill>
              <a:srgbClr val="B36BC4"/>
            </a:solidFill>
            <a:prstDash val="solid"/>
          </a:ln>
        </p:spPr>
      </p:sp>
      <p:pic>
        <p:nvPicPr>
          <p:cNvPr id="17" name="Image 2" descr="preencoded.png">    </p:cNvPr>
          <p:cNvPicPr>
            <a:picLocks noChangeAspect="1"/>
          </p:cNvPicPr>
          <p:nvPr/>
        </p:nvPicPr>
        <p:blipFill>
          <a:blip r:embed="rId3"/>
          <a:stretch>
            <a:fillRect/>
          </a:stretch>
        </p:blipFill>
        <p:spPr>
          <a:xfrm>
            <a:off x="8549640" y="2286000"/>
            <a:ext cx="365760" cy="365760"/>
          </a:xfrm>
          <a:prstGeom prst="rect">
            <a:avLst/>
          </a:prstGeom>
        </p:spPr>
      </p:pic>
      <p:sp>
        <p:nvSpPr>
          <p:cNvPr id="18" name="Text 13"/>
          <p:cNvSpPr txBox="1"/>
          <p:nvPr/>
        </p:nvSpPr>
        <p:spPr>
          <a:xfrm>
            <a:off x="8366760" y="3017520"/>
            <a:ext cx="3017520" cy="868680"/>
          </a:xfrm>
          <a:prstGeom prst="rect">
            <a:avLst/>
          </a:prstGeom>
          <a:noFill/>
          <a:ln/>
        </p:spPr>
        <p:txBody>
          <a:bodyPr wrap="square" lIns="0" tIns="0" rIns="0" bIns="0" rtlCol="0" anchor="t"/>
          <a:lstStyle/>
          <a:p>
            <a:pPr indent="0" marL="0">
              <a:buNone/>
            </a:pPr>
            <a:r>
              <a:rPr lang="en-US" sz="5200" b="1" dirty="0">
                <a:solidFill>
                  <a:srgbClr val="B36BC4"/>
                </a:solidFill>
              </a:rPr>
              <a:t>7 of 13</a:t>
            </a:r>
            <a:endParaRPr lang="en-US" sz="5200" dirty="0"/>
          </a:p>
        </p:txBody>
      </p:sp>
      <p:sp>
        <p:nvSpPr>
          <p:cNvPr id="19" name="Text 14"/>
          <p:cNvSpPr txBox="1"/>
          <p:nvPr/>
        </p:nvSpPr>
        <p:spPr>
          <a:xfrm>
            <a:off x="8366760" y="3977640"/>
            <a:ext cx="3017520" cy="822960"/>
          </a:xfrm>
          <a:prstGeom prst="rect">
            <a:avLst/>
          </a:prstGeom>
          <a:noFill/>
          <a:ln/>
        </p:spPr>
        <p:txBody>
          <a:bodyPr wrap="square" lIns="0" tIns="0" rIns="0" bIns="0" rtlCol="0" anchor="t"/>
          <a:lstStyle/>
          <a:p>
            <a:pPr indent="0" marL="0">
              <a:buNone/>
            </a:pPr>
            <a:r>
              <a:rPr lang="en-US" sz="1800" dirty="0">
                <a:solidFill>
                  <a:srgbClr val="FFFFFF"/>
                </a:solidFill>
              </a:rPr>
              <a:t>have given up on getting a consultation</a:t>
            </a:r>
            <a:endParaRPr lang="en-US" sz="1800" dirty="0"/>
          </a:p>
        </p:txBody>
      </p:sp>
      <p:sp>
        <p:nvSpPr>
          <p:cNvPr id="20" name="Text 15"/>
          <p:cNvSpPr txBox="1"/>
          <p:nvPr/>
        </p:nvSpPr>
        <p:spPr>
          <a:xfrm>
            <a:off x="548640" y="5166360"/>
            <a:ext cx="11064240" cy="640080"/>
          </a:xfrm>
          <a:prstGeom prst="rect">
            <a:avLst/>
          </a:prstGeom>
          <a:noFill/>
          <a:ln/>
        </p:spPr>
        <p:txBody>
          <a:bodyPr wrap="square" lIns="0" tIns="0" rIns="0" bIns="0" rtlCol="0" anchor="t"/>
          <a:lstStyle/>
          <a:p>
            <a:pPr indent="0" marL="0">
              <a:buNone/>
            </a:pPr>
            <a:r>
              <a:rPr lang="en-US" sz="1900" b="1" dirty="0">
                <a:solidFill>
                  <a:srgbClr val="5BCBE8"/>
                </a:solidFill>
              </a:rPr>
              <a:t>Seven out of thirteen gave up. </a:t>
            </a:r>
            <a:pPr indent="0" marL="0">
              <a:buNone/>
            </a:pPr>
            <a:r>
              <a:rPr lang="en-US" sz="1900" dirty="0">
                <a:solidFill>
                  <a:srgbClr val="FFFFFF"/>
                </a:solidFill>
              </a:rPr>
              <a:t>Students are going without help because asking is too hard.</a:t>
            </a:r>
            <a:endParaRPr lang="en-US" sz="1900" dirty="0"/>
          </a:p>
        </p:txBody>
      </p:sp>
      <p:sp>
        <p:nvSpPr>
          <p:cNvPr id="21" name="Text 16"/>
          <p:cNvSpPr txBox="1"/>
          <p:nvPr/>
        </p:nvSpPr>
        <p:spPr>
          <a:xfrm>
            <a:off x="548640" y="5989320"/>
            <a:ext cx="8229600" cy="274320"/>
          </a:xfrm>
          <a:prstGeom prst="rect">
            <a:avLst/>
          </a:prstGeom>
          <a:noFill/>
          <a:ln/>
        </p:spPr>
        <p:txBody>
          <a:bodyPr wrap="square" lIns="0" tIns="0" rIns="0" bIns="0" rtlCol="0" anchor="t"/>
          <a:lstStyle/>
          <a:p>
            <a:pPr indent="0" marL="0">
              <a:buNone/>
            </a:pPr>
            <a:r>
              <a:rPr lang="en-US" sz="1200" i="1" dirty="0">
                <a:solidFill>
                  <a:srgbClr val="BFD3E0"/>
                </a:solidFill>
              </a:rPr>
              <a:t>Source: Group 3 student survey, 13 anonymous answers, 22 October 2026</a:t>
            </a:r>
            <a:endParaRPr lang="en-US" sz="1200" dirty="0"/>
          </a:p>
        </p:txBody>
      </p:sp>
      <p:sp>
        <p:nvSpPr>
          <p:cNvPr id="25" name="Slide Number Placeholder 0"/>
          <p:cNvSpPr>
            <a:spLocks noGrp="1"/>
          </p:cNvSpPr>
          <p:nvPr>
            <p:ph type="sldNum" sz="quarter" idx="4294967295"/>
          </p:nvPr>
        </p:nvSpPr>
        <p:spPr>
          <a:xfrm>
            <a:off x="1042416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3E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411480"/>
            <a:ext cx="1335024" cy="329184"/>
          </a:xfrm>
          <a:prstGeom prst="rect">
            <a:avLst/>
          </a:prstGeom>
          <a:solidFill>
            <a:srgbClr val="FFFFFF"/>
          </a:solidFill>
          <a:ln w="19050">
            <a:solidFill>
              <a:srgbClr val="072840"/>
            </a:solidFill>
            <a:prstDash val="solid"/>
          </a:ln>
        </p:spPr>
      </p:sp>
      <p:sp>
        <p:nvSpPr>
          <p:cNvPr id="3" name="Text 1"/>
          <p:cNvSpPr txBox="1"/>
          <p:nvPr/>
        </p:nvSpPr>
        <p:spPr>
          <a:xfrm>
            <a:off x="548640" y="411480"/>
            <a:ext cx="1335024" cy="329184"/>
          </a:xfrm>
          <a:prstGeom prst="rect">
            <a:avLst/>
          </a:prstGeom>
          <a:noFill/>
          <a:ln/>
        </p:spPr>
        <p:txBody>
          <a:bodyPr wrap="square" lIns="0" tIns="0" rIns="0" bIns="0" rtlCol="0" anchor="ctr"/>
          <a:lstStyle/>
          <a:p>
            <a:pPr algn="ctr" indent="0" marL="0">
              <a:buNone/>
            </a:pPr>
            <a:r>
              <a:rPr lang="en-US" sz="1100" b="1" spc="100" kern="0" dirty="0">
                <a:solidFill>
                  <a:srgbClr val="072840"/>
                </a:solidFill>
              </a:rPr>
              <a:t>THE EVIDENCE</a:t>
            </a:r>
            <a:endParaRPr lang="en-US" sz="1100" dirty="0"/>
          </a:p>
        </p:txBody>
      </p:sp>
      <p:sp>
        <p:nvSpPr>
          <p:cNvPr id="4" name="Title"/>
          <p:cNvSpPr txBox="1"/>
          <p:nvPr/>
        </p:nvSpPr>
        <p:spPr>
          <a:xfrm>
            <a:off x="548640" y="822960"/>
            <a:ext cx="10241280" cy="777240"/>
          </a:xfrm>
          <a:prstGeom prst="rect">
            <a:avLst/>
          </a:prstGeom>
          <a:noFill/>
          <a:ln/>
        </p:spPr>
        <p:txBody>
          <a:bodyPr wrap="square" lIns="0" tIns="0" rIns="0" bIns="0" rtlCol="0" anchor="ctr"/>
          <a:lstStyle/>
          <a:p>
            <a:pPr indent="0" marL="0">
              <a:buNone/>
            </a:pPr>
            <a:r>
              <a:rPr lang="en-US" sz="3200" dirty="0">
                <a:solidFill>
                  <a:srgbClr val="072840"/>
                </a:solidFill>
                <a:latin typeface="Arial" pitchFamily="34" charset="0"/>
                <a:ea typeface="Arial" pitchFamily="34" charset="-122"/>
                <a:cs typeface="Arial" pitchFamily="34" charset="-120"/>
              </a:rPr>
              <a:t>The survey told us </a:t>
            </a:r>
            <a:pPr indent="0" marL="0">
              <a:buNone/>
            </a:pPr>
            <a:r>
              <a:rPr lang="en-US" sz="3200" b="1" dirty="0">
                <a:solidFill>
                  <a:srgbClr val="072840"/>
                </a:solidFill>
                <a:latin typeface="Arial" pitchFamily="34" charset="0"/>
                <a:ea typeface="Arial" pitchFamily="34" charset="-122"/>
                <a:cs typeface="Arial" pitchFamily="34" charset="-120"/>
              </a:rPr>
              <a:t>what to build</a:t>
            </a:r>
            <a:endParaRPr lang="en-US" sz="3200" dirty="0"/>
          </a:p>
        </p:txBody>
      </p:sp>
      <p:sp>
        <p:nvSpPr>
          <p:cNvPr id="5" name="Wants chart card"/>
          <p:cNvSpPr/>
          <p:nvPr/>
        </p:nvSpPr>
        <p:spPr>
          <a:xfrm>
            <a:off x="548640" y="1828800"/>
            <a:ext cx="5486400" cy="4343400"/>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6" name="Text 4"/>
          <p:cNvSpPr txBox="1"/>
          <p:nvPr/>
        </p:nvSpPr>
        <p:spPr>
          <a:xfrm>
            <a:off x="777240" y="2011680"/>
            <a:ext cx="5029200" cy="365760"/>
          </a:xfrm>
          <a:prstGeom prst="rect">
            <a:avLst/>
          </a:prstGeom>
          <a:noFill/>
          <a:ln/>
        </p:spPr>
        <p:txBody>
          <a:bodyPr wrap="square" lIns="0" tIns="0" rIns="0" bIns="0" rtlCol="0" anchor="t"/>
          <a:lstStyle/>
          <a:p>
            <a:pPr indent="0" marL="0">
              <a:buNone/>
            </a:pPr>
            <a:r>
              <a:rPr lang="en-US" sz="1600" b="1" dirty="0">
                <a:solidFill>
                  <a:srgbClr val="072840"/>
                </a:solidFill>
              </a:rPr>
              <a:t>What students want most (out of 13)</a:t>
            </a:r>
            <a:endParaRPr lang="en-US" sz="1600" dirty="0"/>
          </a:p>
        </p:txBody>
      </p:sp>
      <p:graphicFrame>
        <p:nvGraphicFramePr>
          <p:cNvPr id="7" name="Chart 0" descr=""/>
          <p:cNvGraphicFramePr/>
          <p:nvPr/>
        </p:nvGraphicFramePr>
        <p:xfrm>
          <a:off x="731520" y="2468880"/>
          <a:ext cx="5120640" cy="35661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6400800" y="1828800"/>
            <a:ext cx="5212080" cy="411480"/>
          </a:xfrm>
          <a:prstGeom prst="rect">
            <a:avLst/>
          </a:prstGeom>
          <a:noFill/>
          <a:ln/>
        </p:spPr>
        <p:txBody>
          <a:bodyPr wrap="square" lIns="0" tIns="0" rIns="0" bIns="0" rtlCol="0" anchor="t"/>
          <a:lstStyle/>
          <a:p>
            <a:pPr indent="0" marL="0">
              <a:buNone/>
            </a:pPr>
            <a:r>
              <a:rPr lang="en-US" sz="1800" b="1" dirty="0">
                <a:solidFill>
                  <a:srgbClr val="072840"/>
                </a:solidFill>
              </a:rPr>
              <a:t>So CampusBook must:</a:t>
            </a:r>
            <a:endParaRPr lang="en-US" sz="1800" dirty="0"/>
          </a:p>
        </p:txBody>
      </p:sp>
      <p:sp>
        <p:nvSpPr>
          <p:cNvPr id="9" name="Shape 6"/>
          <p:cNvSpPr/>
          <p:nvPr/>
        </p:nvSpPr>
        <p:spPr>
          <a:xfrm>
            <a:off x="6400800" y="2377440"/>
            <a:ext cx="548640" cy="548640"/>
          </a:xfrm>
          <a:prstGeom prst="ellipse">
            <a:avLst/>
          </a:prstGeom>
          <a:solidFill>
            <a:srgbClr val="1E8FCB"/>
          </a:solidFill>
          <a:ln w="12700">
            <a:solidFill>
              <a:srgbClr val="1E8FCB"/>
            </a:solidFill>
            <a:prstDash val="solid"/>
          </a:ln>
        </p:spPr>
      </p:sp>
      <p:pic>
        <p:nvPicPr>
          <p:cNvPr id="10" name="Image 0" descr="preencoded.png">    </p:cNvPr>
          <p:cNvPicPr>
            <a:picLocks noChangeAspect="1"/>
          </p:cNvPicPr>
          <p:nvPr/>
        </p:nvPicPr>
        <p:blipFill>
          <a:blip r:embed="rId2"/>
          <a:stretch>
            <a:fillRect/>
          </a:stretch>
        </p:blipFill>
        <p:spPr>
          <a:xfrm>
            <a:off x="6537960" y="2514600"/>
            <a:ext cx="274320" cy="274320"/>
          </a:xfrm>
          <a:prstGeom prst="rect">
            <a:avLst/>
          </a:prstGeom>
        </p:spPr>
      </p:pic>
      <p:sp>
        <p:nvSpPr>
          <p:cNvPr id="11" name="Text 7"/>
          <p:cNvSpPr txBox="1"/>
          <p:nvPr/>
        </p:nvSpPr>
        <p:spPr>
          <a:xfrm>
            <a:off x="7132320" y="2377440"/>
            <a:ext cx="4480560" cy="548640"/>
          </a:xfrm>
          <a:prstGeom prst="rect">
            <a:avLst/>
          </a:prstGeom>
          <a:noFill/>
          <a:ln/>
        </p:spPr>
        <p:txBody>
          <a:bodyPr wrap="square" lIns="0" tIns="0" rIns="0" bIns="0" rtlCol="0" anchor="ctr"/>
          <a:lstStyle/>
          <a:p>
            <a:pPr indent="0" marL="0">
              <a:buNone/>
            </a:pPr>
            <a:r>
              <a:rPr lang="en-US" sz="1700" dirty="0">
                <a:solidFill>
                  <a:srgbClr val="16232F"/>
                </a:solidFill>
              </a:rPr>
              <a:t>Show each lecturer’s open times</a:t>
            </a:r>
            <a:endParaRPr lang="en-US" sz="1700" dirty="0"/>
          </a:p>
        </p:txBody>
      </p:sp>
      <p:sp>
        <p:nvSpPr>
          <p:cNvPr id="12" name="Shape 8"/>
          <p:cNvSpPr/>
          <p:nvPr/>
        </p:nvSpPr>
        <p:spPr>
          <a:xfrm>
            <a:off x="6400800" y="3072384"/>
            <a:ext cx="548640" cy="548640"/>
          </a:xfrm>
          <a:prstGeom prst="ellipse">
            <a:avLst/>
          </a:prstGeom>
          <a:solidFill>
            <a:srgbClr val="12506F"/>
          </a:solidFill>
          <a:ln w="12700">
            <a:solidFill>
              <a:srgbClr val="12506F"/>
            </a:solidFill>
            <a:prstDash val="solid"/>
          </a:ln>
        </p:spPr>
      </p:sp>
      <p:pic>
        <p:nvPicPr>
          <p:cNvPr id="13" name="Image 1" descr="preencoded.png">    </p:cNvPr>
          <p:cNvPicPr>
            <a:picLocks noChangeAspect="1"/>
          </p:cNvPicPr>
          <p:nvPr/>
        </p:nvPicPr>
        <p:blipFill>
          <a:blip r:embed="rId3"/>
          <a:stretch>
            <a:fillRect/>
          </a:stretch>
        </p:blipFill>
        <p:spPr>
          <a:xfrm>
            <a:off x="6537960" y="3209544"/>
            <a:ext cx="274320" cy="274320"/>
          </a:xfrm>
          <a:prstGeom prst="rect">
            <a:avLst/>
          </a:prstGeom>
        </p:spPr>
      </p:pic>
      <p:sp>
        <p:nvSpPr>
          <p:cNvPr id="14" name="Text 9"/>
          <p:cNvSpPr txBox="1"/>
          <p:nvPr/>
        </p:nvSpPr>
        <p:spPr>
          <a:xfrm>
            <a:off x="7132320" y="3072384"/>
            <a:ext cx="4480560" cy="548640"/>
          </a:xfrm>
          <a:prstGeom prst="rect">
            <a:avLst/>
          </a:prstGeom>
          <a:noFill/>
          <a:ln/>
        </p:spPr>
        <p:txBody>
          <a:bodyPr wrap="square" lIns="0" tIns="0" rIns="0" bIns="0" rtlCol="0" anchor="ctr"/>
          <a:lstStyle/>
          <a:p>
            <a:pPr indent="0" marL="0">
              <a:buNone/>
            </a:pPr>
            <a:r>
              <a:rPr lang="en-US" sz="1700" dirty="0">
                <a:solidFill>
                  <a:srgbClr val="16232F"/>
                </a:solidFill>
              </a:rPr>
              <a:t>Confirm the booking straight away</a:t>
            </a:r>
            <a:endParaRPr lang="en-US" sz="1700" dirty="0"/>
          </a:p>
        </p:txBody>
      </p:sp>
      <p:sp>
        <p:nvSpPr>
          <p:cNvPr id="15" name="Shape 10"/>
          <p:cNvSpPr/>
          <p:nvPr/>
        </p:nvSpPr>
        <p:spPr>
          <a:xfrm>
            <a:off x="6400800" y="3767328"/>
            <a:ext cx="548640" cy="548640"/>
          </a:xfrm>
          <a:prstGeom prst="ellipse">
            <a:avLst/>
          </a:prstGeom>
          <a:solidFill>
            <a:srgbClr val="B36BC4"/>
          </a:solidFill>
          <a:ln w="12700">
            <a:solidFill>
              <a:srgbClr val="B36BC4"/>
            </a:solidFill>
            <a:prstDash val="solid"/>
          </a:ln>
        </p:spPr>
      </p:sp>
      <p:pic>
        <p:nvPicPr>
          <p:cNvPr id="16" name="Image 2" descr="preencoded.png">    </p:cNvPr>
          <p:cNvPicPr>
            <a:picLocks noChangeAspect="1"/>
          </p:cNvPicPr>
          <p:nvPr/>
        </p:nvPicPr>
        <p:blipFill>
          <a:blip r:embed="rId4"/>
          <a:stretch>
            <a:fillRect/>
          </a:stretch>
        </p:blipFill>
        <p:spPr>
          <a:xfrm>
            <a:off x="6537960" y="3904488"/>
            <a:ext cx="274320" cy="274320"/>
          </a:xfrm>
          <a:prstGeom prst="rect">
            <a:avLst/>
          </a:prstGeom>
        </p:spPr>
      </p:pic>
      <p:sp>
        <p:nvSpPr>
          <p:cNvPr id="17" name="Text 11"/>
          <p:cNvSpPr txBox="1"/>
          <p:nvPr/>
        </p:nvSpPr>
        <p:spPr>
          <a:xfrm>
            <a:off x="7132320" y="3767328"/>
            <a:ext cx="4480560" cy="548640"/>
          </a:xfrm>
          <a:prstGeom prst="rect">
            <a:avLst/>
          </a:prstGeom>
          <a:noFill/>
          <a:ln/>
        </p:spPr>
        <p:txBody>
          <a:bodyPr wrap="square" lIns="0" tIns="0" rIns="0" bIns="0" rtlCol="0" anchor="ctr"/>
          <a:lstStyle/>
          <a:p>
            <a:pPr indent="0" marL="0">
              <a:buNone/>
            </a:pPr>
            <a:r>
              <a:rPr lang="en-US" sz="1700" dirty="0">
                <a:solidFill>
                  <a:srgbClr val="16232F"/>
                </a:solidFill>
              </a:rPr>
              <a:t>Send a reminder before the meeting</a:t>
            </a:r>
            <a:endParaRPr lang="en-US" sz="1700" dirty="0"/>
          </a:p>
        </p:txBody>
      </p:sp>
      <p:sp>
        <p:nvSpPr>
          <p:cNvPr id="18" name="Shape 12"/>
          <p:cNvSpPr/>
          <p:nvPr/>
        </p:nvSpPr>
        <p:spPr>
          <a:xfrm>
            <a:off x="6400800" y="4462272"/>
            <a:ext cx="548640" cy="548640"/>
          </a:xfrm>
          <a:prstGeom prst="ellipse">
            <a:avLst/>
          </a:prstGeom>
          <a:solidFill>
            <a:srgbClr val="8B1A2B"/>
          </a:solidFill>
          <a:ln w="12700">
            <a:solidFill>
              <a:srgbClr val="8B1A2B"/>
            </a:solidFill>
            <a:prstDash val="solid"/>
          </a:ln>
        </p:spPr>
      </p:sp>
      <p:pic>
        <p:nvPicPr>
          <p:cNvPr id="19" name="Image 3" descr="preencoded.png">    </p:cNvPr>
          <p:cNvPicPr>
            <a:picLocks noChangeAspect="1"/>
          </p:cNvPicPr>
          <p:nvPr/>
        </p:nvPicPr>
        <p:blipFill>
          <a:blip r:embed="rId5"/>
          <a:stretch>
            <a:fillRect/>
          </a:stretch>
        </p:blipFill>
        <p:spPr>
          <a:xfrm>
            <a:off x="6537960" y="4599432"/>
            <a:ext cx="274320" cy="274320"/>
          </a:xfrm>
          <a:prstGeom prst="rect">
            <a:avLst/>
          </a:prstGeom>
        </p:spPr>
      </p:pic>
      <p:sp>
        <p:nvSpPr>
          <p:cNvPr id="20" name="Text 13"/>
          <p:cNvSpPr txBox="1"/>
          <p:nvPr/>
        </p:nvSpPr>
        <p:spPr>
          <a:xfrm>
            <a:off x="7132320" y="4462272"/>
            <a:ext cx="4480560" cy="548640"/>
          </a:xfrm>
          <a:prstGeom prst="rect">
            <a:avLst/>
          </a:prstGeom>
          <a:noFill/>
          <a:ln/>
        </p:spPr>
        <p:txBody>
          <a:bodyPr wrap="square" lIns="0" tIns="0" rIns="0" bIns="0" rtlCol="0" anchor="ctr"/>
          <a:lstStyle/>
          <a:p>
            <a:pPr indent="0" marL="0">
              <a:buNone/>
            </a:pPr>
            <a:r>
              <a:rPr lang="en-US" sz="1700" dirty="0">
                <a:solidFill>
                  <a:srgbClr val="16232F"/>
                </a:solidFill>
              </a:rPr>
              <a:t>Let students change or cancel</a:t>
            </a:r>
            <a:endParaRPr lang="en-US" sz="1700" dirty="0"/>
          </a:p>
        </p:txBody>
      </p:sp>
      <p:sp>
        <p:nvSpPr>
          <p:cNvPr id="21" name="Rating callout"/>
          <p:cNvSpPr/>
          <p:nvPr/>
        </p:nvSpPr>
        <p:spPr>
          <a:xfrm>
            <a:off x="6400800" y="5166360"/>
            <a:ext cx="5212080" cy="1005840"/>
          </a:xfrm>
          <a:prstGeom prst="rect">
            <a:avLst/>
          </a:prstGeom>
          <a:solidFill>
            <a:srgbClr val="072840"/>
          </a:solidFill>
          <a:ln w="12700">
            <a:solidFill>
              <a:srgbClr val="072840"/>
            </a:solidFill>
            <a:prstDash val="solid"/>
          </a:ln>
        </p:spPr>
      </p:sp>
      <p:sp>
        <p:nvSpPr>
          <p:cNvPr id="22" name="Text 15"/>
          <p:cNvSpPr txBox="1"/>
          <p:nvPr/>
        </p:nvSpPr>
        <p:spPr>
          <a:xfrm>
            <a:off x="6629400" y="5166360"/>
            <a:ext cx="4846320" cy="1005840"/>
          </a:xfrm>
          <a:prstGeom prst="rect">
            <a:avLst/>
          </a:prstGeom>
          <a:noFill/>
          <a:ln/>
        </p:spPr>
        <p:txBody>
          <a:bodyPr wrap="square" lIns="0" tIns="0" rIns="0" bIns="0" rtlCol="0" anchor="ctr"/>
          <a:lstStyle/>
          <a:p>
            <a:pPr indent="0" marL="0">
              <a:buNone/>
            </a:pPr>
            <a:r>
              <a:rPr lang="en-US" sz="2400" b="1" dirty="0">
                <a:solidFill>
                  <a:srgbClr val="8DC63F"/>
                </a:solidFill>
              </a:rPr>
              <a:t>4.2 out of 5  </a:t>
            </a:r>
            <a:pPr indent="0" marL="0">
              <a:buNone/>
            </a:pPr>
            <a:r>
              <a:rPr lang="en-US" sz="1400" dirty="0">
                <a:solidFill>
                  <a:srgbClr val="FFFFFF"/>
                </a:solidFill>
              </a:rPr>
              <a:t>average for "Would you use an online booking system?"  9 of 13 gave 4 or 5.</a:t>
            </a:r>
            <a:endParaRPr lang="en-US" sz="2400" dirty="0"/>
          </a:p>
        </p:txBody>
      </p:sp>
      <p:sp>
        <p:nvSpPr>
          <p:cNvPr id="25" name="Slide Number Placeholder 0"/>
          <p:cNvSpPr>
            <a:spLocks noGrp="1"/>
          </p:cNvSpPr>
          <p:nvPr>
            <p:ph type="sldNum" sz="quarter" idx="4294967295"/>
          </p:nvPr>
        </p:nvSpPr>
        <p:spPr>
          <a:xfrm>
            <a:off x="1042416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411480"/>
            <a:ext cx="950976" cy="329184"/>
          </a:xfrm>
          <a:prstGeom prst="rect">
            <a:avLst/>
          </a:prstGeom>
          <a:solidFill>
            <a:srgbClr val="FFFFFF"/>
          </a:solidFill>
          <a:ln w="19050">
            <a:solidFill>
              <a:srgbClr val="072840"/>
            </a:solidFill>
            <a:prstDash val="solid"/>
          </a:ln>
        </p:spPr>
      </p:sp>
      <p:sp>
        <p:nvSpPr>
          <p:cNvPr id="3" name="Text 1"/>
          <p:cNvSpPr txBox="1"/>
          <p:nvPr/>
        </p:nvSpPr>
        <p:spPr>
          <a:xfrm>
            <a:off x="548640" y="411480"/>
            <a:ext cx="950976" cy="329184"/>
          </a:xfrm>
          <a:prstGeom prst="rect">
            <a:avLst/>
          </a:prstGeom>
          <a:noFill/>
          <a:ln/>
        </p:spPr>
        <p:txBody>
          <a:bodyPr wrap="square" lIns="0" tIns="0" rIns="0" bIns="0" rtlCol="0" anchor="ctr"/>
          <a:lstStyle/>
          <a:p>
            <a:pPr algn="ctr" indent="0" marL="0">
              <a:buNone/>
            </a:pPr>
            <a:r>
              <a:rPr lang="en-US" sz="1100" b="1" spc="100" kern="0" dirty="0">
                <a:solidFill>
                  <a:srgbClr val="072840"/>
                </a:solidFill>
              </a:rPr>
              <a:t>THE PLAN</a:t>
            </a:r>
            <a:endParaRPr lang="en-US" sz="1100" dirty="0"/>
          </a:p>
        </p:txBody>
      </p:sp>
      <p:sp>
        <p:nvSpPr>
          <p:cNvPr id="4" name="Title"/>
          <p:cNvSpPr txBox="1"/>
          <p:nvPr/>
        </p:nvSpPr>
        <p:spPr>
          <a:xfrm>
            <a:off x="548640" y="822960"/>
            <a:ext cx="10241280" cy="777240"/>
          </a:xfrm>
          <a:prstGeom prst="rect">
            <a:avLst/>
          </a:prstGeom>
          <a:noFill/>
          <a:ln/>
        </p:spPr>
        <p:txBody>
          <a:bodyPr wrap="square" lIns="0" tIns="0" rIns="0" bIns="0" rtlCol="0" anchor="ctr"/>
          <a:lstStyle/>
          <a:p>
            <a:pPr indent="0" marL="0">
              <a:buNone/>
            </a:pPr>
            <a:r>
              <a:rPr lang="en-US" sz="3200" dirty="0">
                <a:solidFill>
                  <a:srgbClr val="072840"/>
                </a:solidFill>
                <a:latin typeface="Arial" pitchFamily="34" charset="0"/>
                <a:ea typeface="Arial" pitchFamily="34" charset="-122"/>
                <a:cs typeface="Arial" pitchFamily="34" charset="-120"/>
              </a:rPr>
              <a:t>Our aim and </a:t>
            </a:r>
            <a:pPr indent="0" marL="0">
              <a:buNone/>
            </a:pPr>
            <a:r>
              <a:rPr lang="en-US" sz="3200" b="1" dirty="0">
                <a:solidFill>
                  <a:srgbClr val="072840"/>
                </a:solidFill>
                <a:latin typeface="Arial" pitchFamily="34" charset="0"/>
                <a:ea typeface="Arial" pitchFamily="34" charset="-122"/>
                <a:cs typeface="Arial" pitchFamily="34" charset="-120"/>
              </a:rPr>
              <a:t>five objectives</a:t>
            </a:r>
            <a:endParaRPr lang="en-US" sz="3200" dirty="0"/>
          </a:p>
        </p:txBody>
      </p:sp>
      <p:sp>
        <p:nvSpPr>
          <p:cNvPr id="5" name="Aim card"/>
          <p:cNvSpPr/>
          <p:nvPr/>
        </p:nvSpPr>
        <p:spPr>
          <a:xfrm>
            <a:off x="548640" y="1828800"/>
            <a:ext cx="4023360" cy="4343400"/>
          </a:xfrm>
          <a:prstGeom prst="rect">
            <a:avLst/>
          </a:prstGeom>
          <a:solidFill>
            <a:srgbClr val="072840"/>
          </a:solidFill>
          <a:ln w="12700">
            <a:solidFill>
              <a:srgbClr val="072840"/>
            </a:solidFill>
            <a:prstDash val="solid"/>
          </a:ln>
        </p:spPr>
      </p:sp>
      <p:sp>
        <p:nvSpPr>
          <p:cNvPr id="6" name="Text 4"/>
          <p:cNvSpPr txBox="1"/>
          <p:nvPr/>
        </p:nvSpPr>
        <p:spPr>
          <a:xfrm>
            <a:off x="868680" y="2103120"/>
            <a:ext cx="3383280" cy="457200"/>
          </a:xfrm>
          <a:prstGeom prst="rect">
            <a:avLst/>
          </a:prstGeom>
          <a:noFill/>
          <a:ln/>
        </p:spPr>
        <p:txBody>
          <a:bodyPr wrap="square" lIns="0" tIns="0" rIns="0" bIns="0" rtlCol="0" anchor="t"/>
          <a:lstStyle/>
          <a:p>
            <a:pPr indent="0" marL="0">
              <a:buNone/>
            </a:pPr>
            <a:r>
              <a:rPr lang="en-US" sz="1700" b="1" spc="200" kern="0" dirty="0">
                <a:solidFill>
                  <a:srgbClr val="5BCBE8"/>
                </a:solidFill>
              </a:rPr>
              <a:t>OUR AIM</a:t>
            </a:r>
            <a:endParaRPr lang="en-US" sz="1700" dirty="0"/>
          </a:p>
        </p:txBody>
      </p:sp>
      <p:sp>
        <p:nvSpPr>
          <p:cNvPr id="7" name="Text 5"/>
          <p:cNvSpPr txBox="1"/>
          <p:nvPr/>
        </p:nvSpPr>
        <p:spPr>
          <a:xfrm>
            <a:off x="868680" y="2697480"/>
            <a:ext cx="3429000" cy="3200400"/>
          </a:xfrm>
          <a:prstGeom prst="rect">
            <a:avLst/>
          </a:prstGeom>
          <a:noFill/>
          <a:ln/>
        </p:spPr>
        <p:txBody>
          <a:bodyPr wrap="square" lIns="0" tIns="0" rIns="0" bIns="0" rtlCol="0" anchor="t"/>
          <a:lstStyle/>
          <a:p>
            <a:pPr indent="0" marL="0">
              <a:buNone/>
            </a:pPr>
            <a:r>
              <a:rPr lang="en-US" sz="2100" dirty="0">
                <a:solidFill>
                  <a:srgbClr val="FFFFFF"/>
                </a:solidFill>
              </a:rPr>
              <a:t>Build and test a web system where students book, change and cancel consultations, and lecturers manage the time they are free.</a:t>
            </a:r>
            <a:endParaRPr lang="en-US" sz="2100" dirty="0"/>
          </a:p>
        </p:txBody>
      </p:sp>
      <p:sp>
        <p:nvSpPr>
          <p:cNvPr id="8" name="Objective 1"/>
          <p:cNvSpPr/>
          <p:nvPr/>
        </p:nvSpPr>
        <p:spPr>
          <a:xfrm>
            <a:off x="4937760" y="1828800"/>
            <a:ext cx="6675120" cy="749808"/>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9" name="Text 7"/>
          <p:cNvSpPr txBox="1"/>
          <p:nvPr/>
        </p:nvSpPr>
        <p:spPr>
          <a:xfrm>
            <a:off x="5120640" y="1947672"/>
            <a:ext cx="512064" cy="512064"/>
          </a:xfrm>
          <a:prstGeom prst="ellipse">
            <a:avLst/>
          </a:prstGeom>
          <a:solidFill>
            <a:srgbClr val="8B1A2B"/>
          </a:solidFill>
          <a:ln>
            <a:solidFill>
              <a:srgbClr val="8B1A2B"/>
            </a:solid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10" name="Text 8"/>
          <p:cNvSpPr txBox="1"/>
          <p:nvPr/>
        </p:nvSpPr>
        <p:spPr>
          <a:xfrm>
            <a:off x="5852160" y="1828800"/>
            <a:ext cx="5669280" cy="749808"/>
          </a:xfrm>
          <a:prstGeom prst="rect">
            <a:avLst/>
          </a:prstGeom>
          <a:noFill/>
          <a:ln/>
        </p:spPr>
        <p:txBody>
          <a:bodyPr wrap="square" lIns="0" tIns="0" rIns="0" bIns="0" rtlCol="0" anchor="ctr"/>
          <a:lstStyle/>
          <a:p>
            <a:pPr indent="0" marL="0">
              <a:buNone/>
            </a:pPr>
            <a:r>
              <a:rPr lang="en-US" sz="1600" b="1" dirty="0">
                <a:solidFill>
                  <a:srgbClr val="072840"/>
                </a:solidFill>
              </a:rPr>
              <a:t>Find out how consultations work now</a:t>
            </a:r>
            <a:endParaRPr lang="en-US" sz="1600" dirty="0"/>
          </a:p>
          <a:p>
            <a:pPr indent="0" marL="0">
              <a:buNone/>
            </a:pPr>
            <a:r>
              <a:rPr lang="en-US" sz="1300" dirty="0">
                <a:solidFill>
                  <a:srgbClr val="5B6B7B"/>
                </a:solidFill>
              </a:rPr>
              <a:t>A survey of students</a:t>
            </a:r>
            <a:endParaRPr lang="en-US" sz="1600" dirty="0"/>
          </a:p>
        </p:txBody>
      </p:sp>
      <p:sp>
        <p:nvSpPr>
          <p:cNvPr id="11" name="Objective 2"/>
          <p:cNvSpPr/>
          <p:nvPr/>
        </p:nvSpPr>
        <p:spPr>
          <a:xfrm>
            <a:off x="4937760" y="2706624"/>
            <a:ext cx="6675120" cy="749808"/>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12" name="Text 10"/>
          <p:cNvSpPr txBox="1"/>
          <p:nvPr/>
        </p:nvSpPr>
        <p:spPr>
          <a:xfrm>
            <a:off x="5120640" y="2825496"/>
            <a:ext cx="512064" cy="512064"/>
          </a:xfrm>
          <a:prstGeom prst="ellipse">
            <a:avLst/>
          </a:prstGeom>
          <a:solidFill>
            <a:srgbClr val="8B1A2B"/>
          </a:solidFill>
          <a:ln>
            <a:solidFill>
              <a:srgbClr val="8B1A2B"/>
            </a:solid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3" name="Text 11"/>
          <p:cNvSpPr txBox="1"/>
          <p:nvPr/>
        </p:nvSpPr>
        <p:spPr>
          <a:xfrm>
            <a:off x="5852160" y="2706624"/>
            <a:ext cx="5669280" cy="749808"/>
          </a:xfrm>
          <a:prstGeom prst="rect">
            <a:avLst/>
          </a:prstGeom>
          <a:noFill/>
          <a:ln/>
        </p:spPr>
        <p:txBody>
          <a:bodyPr wrap="square" lIns="0" tIns="0" rIns="0" bIns="0" rtlCol="0" anchor="ctr"/>
          <a:lstStyle/>
          <a:p>
            <a:pPr indent="0" marL="0">
              <a:buNone/>
            </a:pPr>
            <a:r>
              <a:rPr lang="en-US" sz="1600" b="1" dirty="0">
                <a:solidFill>
                  <a:srgbClr val="072840"/>
                </a:solidFill>
              </a:rPr>
              <a:t>Compare existing booking tools</a:t>
            </a:r>
            <a:endParaRPr lang="en-US" sz="1600" dirty="0"/>
          </a:p>
          <a:p>
            <a:pPr indent="0" marL="0">
              <a:buNone/>
            </a:pPr>
            <a:r>
              <a:rPr lang="en-US" sz="1300" dirty="0">
                <a:solidFill>
                  <a:srgbClr val="5B6B7B"/>
                </a:solidFill>
              </a:rPr>
              <a:t>Microsoft Bookings, Calendly and Moodle</a:t>
            </a:r>
            <a:endParaRPr lang="en-US" sz="1600" dirty="0"/>
          </a:p>
        </p:txBody>
      </p:sp>
      <p:sp>
        <p:nvSpPr>
          <p:cNvPr id="14" name="Objective 3"/>
          <p:cNvSpPr/>
          <p:nvPr/>
        </p:nvSpPr>
        <p:spPr>
          <a:xfrm>
            <a:off x="4937760" y="3584448"/>
            <a:ext cx="6675120" cy="749808"/>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15" name="Text 13"/>
          <p:cNvSpPr txBox="1"/>
          <p:nvPr/>
        </p:nvSpPr>
        <p:spPr>
          <a:xfrm>
            <a:off x="5120640" y="3703320"/>
            <a:ext cx="512064" cy="512064"/>
          </a:xfrm>
          <a:prstGeom prst="ellipse">
            <a:avLst/>
          </a:prstGeom>
          <a:solidFill>
            <a:srgbClr val="8B1A2B"/>
          </a:solidFill>
          <a:ln>
            <a:solidFill>
              <a:srgbClr val="8B1A2B"/>
            </a:solid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6" name="Text 14"/>
          <p:cNvSpPr txBox="1"/>
          <p:nvPr/>
        </p:nvSpPr>
        <p:spPr>
          <a:xfrm>
            <a:off x="5852160" y="3584448"/>
            <a:ext cx="5669280" cy="749808"/>
          </a:xfrm>
          <a:prstGeom prst="rect">
            <a:avLst/>
          </a:prstGeom>
          <a:noFill/>
          <a:ln/>
        </p:spPr>
        <p:txBody>
          <a:bodyPr wrap="square" lIns="0" tIns="0" rIns="0" bIns="0" rtlCol="0" anchor="ctr"/>
          <a:lstStyle/>
          <a:p>
            <a:pPr indent="0" marL="0">
              <a:buNone/>
            </a:pPr>
            <a:r>
              <a:rPr lang="en-US" sz="1600" b="1" dirty="0">
                <a:solidFill>
                  <a:srgbClr val="072840"/>
                </a:solidFill>
              </a:rPr>
              <a:t>Build the six must-have features</a:t>
            </a:r>
            <a:endParaRPr lang="en-US" sz="1600" dirty="0"/>
          </a:p>
          <a:p>
            <a:pPr indent="0" marL="0">
              <a:buNone/>
            </a:pPr>
            <a:r>
              <a:rPr lang="en-US" sz="1300" dirty="0">
                <a:solidFill>
                  <a:srgbClr val="5B6B7B"/>
                </a:solidFill>
              </a:rPr>
              <a:t>Working on a live database</a:t>
            </a:r>
            <a:endParaRPr lang="en-US" sz="1600" dirty="0"/>
          </a:p>
        </p:txBody>
      </p:sp>
      <p:sp>
        <p:nvSpPr>
          <p:cNvPr id="17" name="Objective 4"/>
          <p:cNvSpPr/>
          <p:nvPr/>
        </p:nvSpPr>
        <p:spPr>
          <a:xfrm>
            <a:off x="4937760" y="4462272"/>
            <a:ext cx="6675120" cy="749808"/>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18" name="Text 16"/>
          <p:cNvSpPr txBox="1"/>
          <p:nvPr/>
        </p:nvSpPr>
        <p:spPr>
          <a:xfrm>
            <a:off x="5120640" y="4581144"/>
            <a:ext cx="512064" cy="512064"/>
          </a:xfrm>
          <a:prstGeom prst="ellipse">
            <a:avLst/>
          </a:prstGeom>
          <a:solidFill>
            <a:srgbClr val="8B1A2B"/>
          </a:solidFill>
          <a:ln>
            <a:solidFill>
              <a:srgbClr val="8B1A2B"/>
            </a:solid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9" name="Text 17"/>
          <p:cNvSpPr txBox="1"/>
          <p:nvPr/>
        </p:nvSpPr>
        <p:spPr>
          <a:xfrm>
            <a:off x="5852160" y="4462272"/>
            <a:ext cx="5669280" cy="749808"/>
          </a:xfrm>
          <a:prstGeom prst="rect">
            <a:avLst/>
          </a:prstGeom>
          <a:noFill/>
          <a:ln/>
        </p:spPr>
        <p:txBody>
          <a:bodyPr wrap="square" lIns="0" tIns="0" rIns="0" bIns="0" rtlCol="0" anchor="ctr"/>
          <a:lstStyle/>
          <a:p>
            <a:pPr indent="0" marL="0">
              <a:buNone/>
            </a:pPr>
            <a:r>
              <a:rPr lang="en-US" sz="1600" b="1" dirty="0">
                <a:solidFill>
                  <a:srgbClr val="072840"/>
                </a:solidFill>
              </a:rPr>
              <a:t>Test it</a:t>
            </a:r>
            <a:endParaRPr lang="en-US" sz="1600" dirty="0"/>
          </a:p>
          <a:p>
            <a:pPr indent="0" marL="0">
              <a:buNone/>
            </a:pPr>
            <a:r>
              <a:rPr lang="en-US" sz="1300" dirty="0">
                <a:solidFill>
                  <a:srgbClr val="5B6B7B"/>
                </a:solidFill>
              </a:rPr>
              <a:t>Check that every feature works, fast, on a phone and a laptop</a:t>
            </a:r>
            <a:endParaRPr lang="en-US" sz="1600" dirty="0"/>
          </a:p>
        </p:txBody>
      </p:sp>
      <p:sp>
        <p:nvSpPr>
          <p:cNvPr id="20" name="Objective 5"/>
          <p:cNvSpPr/>
          <p:nvPr/>
        </p:nvSpPr>
        <p:spPr>
          <a:xfrm>
            <a:off x="4937760" y="5340096"/>
            <a:ext cx="6675120" cy="749808"/>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21" name="Text 19"/>
          <p:cNvSpPr txBox="1"/>
          <p:nvPr/>
        </p:nvSpPr>
        <p:spPr>
          <a:xfrm>
            <a:off x="5120640" y="5458968"/>
            <a:ext cx="512064" cy="512064"/>
          </a:xfrm>
          <a:prstGeom prst="ellipse">
            <a:avLst/>
          </a:prstGeom>
          <a:solidFill>
            <a:srgbClr val="8B1A2B"/>
          </a:solidFill>
          <a:ln>
            <a:solidFill>
              <a:srgbClr val="8B1A2B"/>
            </a:solid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2" name="Text 20"/>
          <p:cNvSpPr txBox="1"/>
          <p:nvPr/>
        </p:nvSpPr>
        <p:spPr>
          <a:xfrm>
            <a:off x="5852160" y="5340096"/>
            <a:ext cx="5669280" cy="749808"/>
          </a:xfrm>
          <a:prstGeom prst="rect">
            <a:avLst/>
          </a:prstGeom>
          <a:noFill/>
          <a:ln/>
        </p:spPr>
        <p:txBody>
          <a:bodyPr wrap="square" lIns="0" tIns="0" rIns="0" bIns="0" rtlCol="0" anchor="ctr"/>
          <a:lstStyle/>
          <a:p>
            <a:pPr indent="0" marL="0">
              <a:buNone/>
            </a:pPr>
            <a:r>
              <a:rPr lang="en-US" sz="1600" b="1" dirty="0">
                <a:solidFill>
                  <a:srgbClr val="072840"/>
                </a:solidFill>
              </a:rPr>
              <a:t>Evaluate it with real users</a:t>
            </a:r>
            <a:endParaRPr lang="en-US" sz="1600" dirty="0"/>
          </a:p>
          <a:p>
            <a:pPr indent="0" marL="0">
              <a:buNone/>
            </a:pPr>
            <a:r>
              <a:rPr lang="en-US" sz="1300" dirty="0">
                <a:solidFill>
                  <a:srgbClr val="5B6B7B"/>
                </a:solidFill>
              </a:rPr>
              <a:t>User testing with students and lecturers</a:t>
            </a:r>
            <a:endParaRPr lang="en-US" sz="1600" dirty="0"/>
          </a:p>
        </p:txBody>
      </p:sp>
      <p:sp>
        <p:nvSpPr>
          <p:cNvPr id="25" name="Slide Number Placeholder 0"/>
          <p:cNvSpPr>
            <a:spLocks noGrp="1"/>
          </p:cNvSpPr>
          <p:nvPr>
            <p:ph type="sldNum" sz="quarter" idx="4294967295"/>
          </p:nvPr>
        </p:nvSpPr>
        <p:spPr>
          <a:xfrm>
            <a:off x="1042416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411480"/>
            <a:ext cx="1335024" cy="329184"/>
          </a:xfrm>
          <a:prstGeom prst="rect">
            <a:avLst/>
          </a:prstGeom>
          <a:solidFill>
            <a:srgbClr val="FFFFFF"/>
          </a:solidFill>
          <a:ln w="19050">
            <a:solidFill>
              <a:srgbClr val="072840"/>
            </a:solidFill>
            <a:prstDash val="solid"/>
          </a:ln>
        </p:spPr>
      </p:sp>
      <p:sp>
        <p:nvSpPr>
          <p:cNvPr id="3" name="Text 1"/>
          <p:cNvSpPr txBox="1"/>
          <p:nvPr/>
        </p:nvSpPr>
        <p:spPr>
          <a:xfrm>
            <a:off x="548640" y="411480"/>
            <a:ext cx="1335024" cy="329184"/>
          </a:xfrm>
          <a:prstGeom prst="rect">
            <a:avLst/>
          </a:prstGeom>
          <a:noFill/>
          <a:ln/>
        </p:spPr>
        <p:txBody>
          <a:bodyPr wrap="square" lIns="0" tIns="0" rIns="0" bIns="0" rtlCol="0" anchor="ctr"/>
          <a:lstStyle/>
          <a:p>
            <a:pPr algn="ctr" indent="0" marL="0">
              <a:buNone/>
            </a:pPr>
            <a:r>
              <a:rPr lang="en-US" sz="1100" b="1" spc="100" kern="0" dirty="0">
                <a:solidFill>
                  <a:srgbClr val="072840"/>
                </a:solidFill>
              </a:rPr>
              <a:t>THE RESEARCH</a:t>
            </a:r>
            <a:endParaRPr lang="en-US" sz="1100" dirty="0"/>
          </a:p>
        </p:txBody>
      </p:sp>
      <p:sp>
        <p:nvSpPr>
          <p:cNvPr id="4" name="Title"/>
          <p:cNvSpPr txBox="1"/>
          <p:nvPr/>
        </p:nvSpPr>
        <p:spPr>
          <a:xfrm>
            <a:off x="548640" y="822960"/>
            <a:ext cx="10241280" cy="777240"/>
          </a:xfrm>
          <a:prstGeom prst="rect">
            <a:avLst/>
          </a:prstGeom>
          <a:noFill/>
          <a:ln/>
        </p:spPr>
        <p:txBody>
          <a:bodyPr wrap="square" lIns="0" tIns="0" rIns="0" bIns="0" rtlCol="0" anchor="ctr"/>
          <a:lstStyle/>
          <a:p>
            <a:pPr indent="0" marL="0">
              <a:buNone/>
            </a:pPr>
            <a:r>
              <a:rPr lang="en-US" sz="3200" dirty="0">
                <a:solidFill>
                  <a:srgbClr val="072840"/>
                </a:solidFill>
                <a:latin typeface="Arial" pitchFamily="34" charset="0"/>
                <a:ea typeface="Arial" pitchFamily="34" charset="-122"/>
                <a:cs typeface="Arial" pitchFamily="34" charset="-120"/>
              </a:rPr>
              <a:t>Why not use a tool </a:t>
            </a:r>
            <a:pPr indent="0" marL="0">
              <a:buNone/>
            </a:pPr>
            <a:r>
              <a:rPr lang="en-US" sz="3200" b="1" dirty="0">
                <a:solidFill>
                  <a:srgbClr val="072840"/>
                </a:solidFill>
                <a:latin typeface="Arial" pitchFamily="34" charset="0"/>
                <a:ea typeface="Arial" pitchFamily="34" charset="-122"/>
                <a:cs typeface="Arial" pitchFamily="34" charset="-120"/>
              </a:rPr>
              <a:t>that already exists?</a:t>
            </a:r>
            <a:endParaRPr lang="en-US" sz="3200" dirty="0"/>
          </a:p>
        </p:txBody>
      </p:sp>
      <p:sp>
        <p:nvSpPr>
          <p:cNvPr id="5" name="Tool card 1"/>
          <p:cNvSpPr/>
          <p:nvPr/>
        </p:nvSpPr>
        <p:spPr>
          <a:xfrm>
            <a:off x="548640" y="1828800"/>
            <a:ext cx="3566160" cy="2788920"/>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548640" y="1828800"/>
            <a:ext cx="3566160" cy="109728"/>
          </a:xfrm>
          <a:prstGeom prst="rect">
            <a:avLst/>
          </a:prstGeom>
          <a:solidFill>
            <a:srgbClr val="1E8FCB"/>
          </a:solidFill>
          <a:ln w="12700">
            <a:solidFill>
              <a:srgbClr val="1E8FCB"/>
            </a:solidFill>
            <a:prstDash val="solid"/>
          </a:ln>
        </p:spPr>
      </p:sp>
      <p:sp>
        <p:nvSpPr>
          <p:cNvPr id="7" name="Text 5"/>
          <p:cNvSpPr txBox="1"/>
          <p:nvPr/>
        </p:nvSpPr>
        <p:spPr>
          <a:xfrm>
            <a:off x="822960" y="2103120"/>
            <a:ext cx="3017520" cy="457200"/>
          </a:xfrm>
          <a:prstGeom prst="rect">
            <a:avLst/>
          </a:prstGeom>
          <a:noFill/>
          <a:ln/>
        </p:spPr>
        <p:txBody>
          <a:bodyPr wrap="square" lIns="0" tIns="0" rIns="0" bIns="0" rtlCol="0" anchor="t"/>
          <a:lstStyle/>
          <a:p>
            <a:pPr indent="0" marL="0">
              <a:buNone/>
            </a:pPr>
            <a:r>
              <a:rPr lang="en-US" sz="2000" b="1" dirty="0">
                <a:solidFill>
                  <a:srgbClr val="072840"/>
                </a:solidFill>
              </a:rPr>
              <a:t>Microsoft Bookings</a:t>
            </a:r>
            <a:endParaRPr lang="en-US" sz="2000" dirty="0"/>
          </a:p>
        </p:txBody>
      </p:sp>
      <p:sp>
        <p:nvSpPr>
          <p:cNvPr id="8" name="Text 6"/>
          <p:cNvSpPr txBox="1"/>
          <p:nvPr/>
        </p:nvSpPr>
        <p:spPr>
          <a:xfrm>
            <a:off x="822960" y="2651760"/>
            <a:ext cx="3017520" cy="548640"/>
          </a:xfrm>
          <a:prstGeom prst="rect">
            <a:avLst/>
          </a:prstGeom>
          <a:noFill/>
          <a:ln/>
        </p:spPr>
        <p:txBody>
          <a:bodyPr wrap="square" lIns="0" tIns="0" rIns="0" bIns="0" rtlCol="0" anchor="t"/>
          <a:lstStyle/>
          <a:p>
            <a:pPr indent="0" marL="0">
              <a:buNone/>
            </a:pPr>
            <a:r>
              <a:rPr lang="en-US" sz="1500" dirty="0">
                <a:solidFill>
                  <a:srgbClr val="16232F"/>
                </a:solidFill>
              </a:rPr>
              <a:t>Good: syncs with Outlook and Teams</a:t>
            </a:r>
            <a:endParaRPr lang="en-US" sz="1500" dirty="0"/>
          </a:p>
        </p:txBody>
      </p:sp>
      <p:sp>
        <p:nvSpPr>
          <p:cNvPr id="9" name="Text 7"/>
          <p:cNvSpPr txBox="1"/>
          <p:nvPr/>
        </p:nvSpPr>
        <p:spPr>
          <a:xfrm>
            <a:off x="822960" y="3246120"/>
            <a:ext cx="3017520" cy="1280160"/>
          </a:xfrm>
          <a:prstGeom prst="rect">
            <a:avLst/>
          </a:prstGeom>
          <a:noFill/>
          <a:ln/>
        </p:spPr>
        <p:txBody>
          <a:bodyPr wrap="square" lIns="0" tIns="0" rIns="0" bIns="0" rtlCol="0" anchor="t"/>
          <a:lstStyle/>
          <a:p>
            <a:pPr indent="0" marL="0">
              <a:buNone/>
            </a:pPr>
            <a:r>
              <a:rPr lang="en-US" sz="1500" dirty="0">
                <a:solidFill>
                  <a:srgbClr val="8B1A2B"/>
                </a:solidFill>
              </a:rPr>
              <a:t>But: built for businesses, has no idea of students or modules, needs an administrator to set up</a:t>
            </a:r>
            <a:endParaRPr lang="en-US" sz="1500" dirty="0"/>
          </a:p>
        </p:txBody>
      </p:sp>
      <p:sp>
        <p:nvSpPr>
          <p:cNvPr id="10" name="Tool card 2"/>
          <p:cNvSpPr/>
          <p:nvPr/>
        </p:nvSpPr>
        <p:spPr>
          <a:xfrm>
            <a:off x="4297680" y="1828800"/>
            <a:ext cx="3566160" cy="2788920"/>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11" name="Shape 9"/>
          <p:cNvSpPr/>
          <p:nvPr/>
        </p:nvSpPr>
        <p:spPr>
          <a:xfrm>
            <a:off x="4297680" y="1828800"/>
            <a:ext cx="3566160" cy="109728"/>
          </a:xfrm>
          <a:prstGeom prst="rect">
            <a:avLst/>
          </a:prstGeom>
          <a:solidFill>
            <a:srgbClr val="8DC63F"/>
          </a:solidFill>
          <a:ln w="12700">
            <a:solidFill>
              <a:srgbClr val="8DC63F"/>
            </a:solidFill>
            <a:prstDash val="solid"/>
          </a:ln>
        </p:spPr>
      </p:sp>
      <p:sp>
        <p:nvSpPr>
          <p:cNvPr id="12" name="Text 10"/>
          <p:cNvSpPr txBox="1"/>
          <p:nvPr/>
        </p:nvSpPr>
        <p:spPr>
          <a:xfrm>
            <a:off x="4572000" y="2103120"/>
            <a:ext cx="3017520" cy="457200"/>
          </a:xfrm>
          <a:prstGeom prst="rect">
            <a:avLst/>
          </a:prstGeom>
          <a:noFill/>
          <a:ln/>
        </p:spPr>
        <p:txBody>
          <a:bodyPr wrap="square" lIns="0" tIns="0" rIns="0" bIns="0" rtlCol="0" anchor="t"/>
          <a:lstStyle/>
          <a:p>
            <a:pPr indent="0" marL="0">
              <a:buNone/>
            </a:pPr>
            <a:r>
              <a:rPr lang="en-US" sz="2000" b="1" dirty="0">
                <a:solidFill>
                  <a:srgbClr val="072840"/>
                </a:solidFill>
              </a:rPr>
              <a:t>Calendly</a:t>
            </a:r>
            <a:endParaRPr lang="en-US" sz="2000" dirty="0"/>
          </a:p>
        </p:txBody>
      </p:sp>
      <p:sp>
        <p:nvSpPr>
          <p:cNvPr id="13" name="Text 11"/>
          <p:cNvSpPr txBox="1"/>
          <p:nvPr/>
        </p:nvSpPr>
        <p:spPr>
          <a:xfrm>
            <a:off x="4572000" y="2651760"/>
            <a:ext cx="3017520" cy="548640"/>
          </a:xfrm>
          <a:prstGeom prst="rect">
            <a:avLst/>
          </a:prstGeom>
          <a:noFill/>
          <a:ln/>
        </p:spPr>
        <p:txBody>
          <a:bodyPr wrap="square" lIns="0" tIns="0" rIns="0" bIns="0" rtlCol="0" anchor="t"/>
          <a:lstStyle/>
          <a:p>
            <a:pPr indent="0" marL="0">
              <a:buNone/>
            </a:pPr>
            <a:r>
              <a:rPr lang="en-US" sz="1500" dirty="0">
                <a:solidFill>
                  <a:srgbClr val="16232F"/>
                </a:solidFill>
              </a:rPr>
              <a:t>Good: polished and easy to use</a:t>
            </a:r>
            <a:endParaRPr lang="en-US" sz="1500" dirty="0"/>
          </a:p>
        </p:txBody>
      </p:sp>
      <p:sp>
        <p:nvSpPr>
          <p:cNvPr id="14" name="Text 12"/>
          <p:cNvSpPr txBox="1"/>
          <p:nvPr/>
        </p:nvSpPr>
        <p:spPr>
          <a:xfrm>
            <a:off x="4572000" y="3246120"/>
            <a:ext cx="3017520" cy="1280160"/>
          </a:xfrm>
          <a:prstGeom prst="rect">
            <a:avLst/>
          </a:prstGeom>
          <a:noFill/>
          <a:ln/>
        </p:spPr>
        <p:txBody>
          <a:bodyPr wrap="square" lIns="0" tIns="0" rIns="0" bIns="0" rtlCol="0" anchor="t"/>
          <a:lstStyle/>
          <a:p>
            <a:pPr indent="0" marL="0">
              <a:buNone/>
            </a:pPr>
            <a:r>
              <a:rPr lang="en-US" sz="1500" dirty="0">
                <a:solidFill>
                  <a:srgbClr val="8B1A2B"/>
                </a:solidFill>
              </a:rPr>
              <a:t>But: reminders cost about 10 US dollars per lecturer per month, and every lecturer has a separate link</a:t>
            </a:r>
            <a:endParaRPr lang="en-US" sz="1500" dirty="0"/>
          </a:p>
        </p:txBody>
      </p:sp>
      <p:sp>
        <p:nvSpPr>
          <p:cNvPr id="15" name="Tool card 3"/>
          <p:cNvSpPr/>
          <p:nvPr/>
        </p:nvSpPr>
        <p:spPr>
          <a:xfrm>
            <a:off x="8046720" y="1828800"/>
            <a:ext cx="3566160" cy="2788920"/>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16" name="Shape 14"/>
          <p:cNvSpPr/>
          <p:nvPr/>
        </p:nvSpPr>
        <p:spPr>
          <a:xfrm>
            <a:off x="8046720" y="1828800"/>
            <a:ext cx="3566160" cy="109728"/>
          </a:xfrm>
          <a:prstGeom prst="rect">
            <a:avLst/>
          </a:prstGeom>
          <a:solidFill>
            <a:srgbClr val="B36BC4"/>
          </a:solidFill>
          <a:ln w="12700">
            <a:solidFill>
              <a:srgbClr val="B36BC4"/>
            </a:solidFill>
            <a:prstDash val="solid"/>
          </a:ln>
        </p:spPr>
      </p:sp>
      <p:sp>
        <p:nvSpPr>
          <p:cNvPr id="17" name="Text 15"/>
          <p:cNvSpPr txBox="1"/>
          <p:nvPr/>
        </p:nvSpPr>
        <p:spPr>
          <a:xfrm>
            <a:off x="8321040" y="2103120"/>
            <a:ext cx="3017520" cy="457200"/>
          </a:xfrm>
          <a:prstGeom prst="rect">
            <a:avLst/>
          </a:prstGeom>
          <a:noFill/>
          <a:ln/>
        </p:spPr>
        <p:txBody>
          <a:bodyPr wrap="square" lIns="0" tIns="0" rIns="0" bIns="0" rtlCol="0" anchor="t"/>
          <a:lstStyle/>
          <a:p>
            <a:pPr indent="0" marL="0">
              <a:buNone/>
            </a:pPr>
            <a:r>
              <a:rPr lang="en-US" sz="2000" b="1" dirty="0">
                <a:solidFill>
                  <a:srgbClr val="072840"/>
                </a:solidFill>
              </a:rPr>
              <a:t>Moodle Scheduler</a:t>
            </a:r>
            <a:endParaRPr lang="en-US" sz="2000" dirty="0"/>
          </a:p>
        </p:txBody>
      </p:sp>
      <p:sp>
        <p:nvSpPr>
          <p:cNvPr id="18" name="Text 16"/>
          <p:cNvSpPr txBox="1"/>
          <p:nvPr/>
        </p:nvSpPr>
        <p:spPr>
          <a:xfrm>
            <a:off x="8321040" y="2651760"/>
            <a:ext cx="3017520" cy="548640"/>
          </a:xfrm>
          <a:prstGeom prst="rect">
            <a:avLst/>
          </a:prstGeom>
          <a:noFill/>
          <a:ln/>
        </p:spPr>
        <p:txBody>
          <a:bodyPr wrap="square" lIns="0" tIns="0" rIns="0" bIns="0" rtlCol="0" anchor="t"/>
          <a:lstStyle/>
          <a:p>
            <a:pPr indent="0" marL="0">
              <a:buNone/>
            </a:pPr>
            <a:r>
              <a:rPr lang="en-US" sz="1500" dirty="0">
                <a:solidFill>
                  <a:srgbClr val="16232F"/>
                </a:solidFill>
              </a:rPr>
              <a:t>Good: made for teaching</a:t>
            </a:r>
            <a:endParaRPr lang="en-US" sz="1500" dirty="0"/>
          </a:p>
        </p:txBody>
      </p:sp>
      <p:sp>
        <p:nvSpPr>
          <p:cNvPr id="19" name="Text 17"/>
          <p:cNvSpPr txBox="1"/>
          <p:nvPr/>
        </p:nvSpPr>
        <p:spPr>
          <a:xfrm>
            <a:off x="8321040" y="3246120"/>
            <a:ext cx="3017520" cy="1280160"/>
          </a:xfrm>
          <a:prstGeom prst="rect">
            <a:avLst/>
          </a:prstGeom>
          <a:noFill/>
          <a:ln/>
        </p:spPr>
        <p:txBody>
          <a:bodyPr wrap="square" lIns="0" tIns="0" rIns="0" bIns="0" rtlCol="0" anchor="t"/>
          <a:lstStyle/>
          <a:p>
            <a:pPr indent="0" marL="0">
              <a:buNone/>
            </a:pPr>
            <a:r>
              <a:rPr lang="en-US" sz="1500" dirty="0">
                <a:solidFill>
                  <a:srgbClr val="8B1A2B"/>
                </a:solidFill>
              </a:rPr>
              <a:t>But: only works inside one course and needs an administrator to install it</a:t>
            </a:r>
            <a:endParaRPr lang="en-US" sz="1500" dirty="0"/>
          </a:p>
        </p:txBody>
      </p:sp>
      <p:sp>
        <p:nvSpPr>
          <p:cNvPr id="20" name="Gap banner"/>
          <p:cNvSpPr/>
          <p:nvPr/>
        </p:nvSpPr>
        <p:spPr>
          <a:xfrm>
            <a:off x="548640" y="4846320"/>
            <a:ext cx="11064240" cy="1280160"/>
          </a:xfrm>
          <a:prstGeom prst="rect">
            <a:avLst/>
          </a:prstGeom>
          <a:solidFill>
            <a:srgbClr val="8B1A2B"/>
          </a:solidFill>
          <a:ln w="12700">
            <a:solidFill>
              <a:srgbClr val="8B1A2B"/>
            </a:solidFill>
            <a:prstDash val="solid"/>
          </a:ln>
        </p:spPr>
      </p:sp>
      <p:sp>
        <p:nvSpPr>
          <p:cNvPr id="21" name="Text 19"/>
          <p:cNvSpPr txBox="1"/>
          <p:nvPr/>
        </p:nvSpPr>
        <p:spPr>
          <a:xfrm>
            <a:off x="868680" y="4846320"/>
            <a:ext cx="10424160" cy="1280160"/>
          </a:xfrm>
          <a:prstGeom prst="rect">
            <a:avLst/>
          </a:prstGeom>
          <a:noFill/>
          <a:ln/>
        </p:spPr>
        <p:txBody>
          <a:bodyPr wrap="square" lIns="0" tIns="0" rIns="0" bIns="0" rtlCol="0" anchor="ctr"/>
          <a:lstStyle/>
          <a:p>
            <a:pPr indent="0" marL="0">
              <a:buNone/>
            </a:pPr>
            <a:r>
              <a:rPr lang="en-US" sz="1500" b="1" spc="200" kern="0" dirty="0">
                <a:solidFill>
                  <a:srgbClr val="F3C6CD"/>
                </a:solidFill>
              </a:rPr>
              <a:t>THE GAP</a:t>
            </a:r>
            <a:endParaRPr lang="en-US" sz="1500" dirty="0"/>
          </a:p>
          <a:p>
            <a:pPr indent="0" marL="0">
              <a:buNone/>
            </a:pPr>
            <a:r>
              <a:rPr lang="en-US" sz="2400" b="1" dirty="0">
                <a:solidFill>
                  <a:srgbClr val="FFFFFF"/>
                </a:solidFill>
              </a:rPr>
              <a:t>None of them gives every CTU student one free place to book any lecturer.</a:t>
            </a:r>
            <a:endParaRPr lang="en-US" sz="1500" dirty="0"/>
          </a:p>
        </p:txBody>
      </p:sp>
      <p:sp>
        <p:nvSpPr>
          <p:cNvPr id="25" name="Slide Number Placeholder 0"/>
          <p:cNvSpPr>
            <a:spLocks noGrp="1"/>
          </p:cNvSpPr>
          <p:nvPr>
            <p:ph type="sldNum" sz="quarter" idx="4294967295"/>
          </p:nvPr>
        </p:nvSpPr>
        <p:spPr>
          <a:xfrm>
            <a:off x="1042416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411480"/>
            <a:ext cx="950976" cy="329184"/>
          </a:xfrm>
          <a:prstGeom prst="rect">
            <a:avLst/>
          </a:prstGeom>
          <a:solidFill>
            <a:srgbClr val="FFFFFF"/>
          </a:solidFill>
          <a:ln w="19050">
            <a:solidFill>
              <a:srgbClr val="072840"/>
            </a:solidFill>
            <a:prstDash val="solid"/>
          </a:ln>
        </p:spPr>
      </p:sp>
      <p:sp>
        <p:nvSpPr>
          <p:cNvPr id="3" name="Text 1"/>
          <p:cNvSpPr txBox="1"/>
          <p:nvPr/>
        </p:nvSpPr>
        <p:spPr>
          <a:xfrm>
            <a:off x="548640" y="411480"/>
            <a:ext cx="950976" cy="329184"/>
          </a:xfrm>
          <a:prstGeom prst="rect">
            <a:avLst/>
          </a:prstGeom>
          <a:noFill/>
          <a:ln/>
        </p:spPr>
        <p:txBody>
          <a:bodyPr wrap="square" lIns="0" tIns="0" rIns="0" bIns="0" rtlCol="0" anchor="ctr"/>
          <a:lstStyle/>
          <a:p>
            <a:pPr algn="ctr" indent="0" marL="0">
              <a:buNone/>
            </a:pPr>
            <a:r>
              <a:rPr lang="en-US" sz="1100" b="1" spc="100" kern="0" dirty="0">
                <a:solidFill>
                  <a:srgbClr val="072840"/>
                </a:solidFill>
              </a:rPr>
              <a:t>THE PLAN</a:t>
            </a:r>
            <a:endParaRPr lang="en-US" sz="1100" dirty="0"/>
          </a:p>
        </p:txBody>
      </p:sp>
      <p:sp>
        <p:nvSpPr>
          <p:cNvPr id="4" name="Title"/>
          <p:cNvSpPr txBox="1"/>
          <p:nvPr/>
        </p:nvSpPr>
        <p:spPr>
          <a:xfrm>
            <a:off x="548640" y="822960"/>
            <a:ext cx="10241280" cy="777240"/>
          </a:xfrm>
          <a:prstGeom prst="rect">
            <a:avLst/>
          </a:prstGeom>
          <a:noFill/>
          <a:ln/>
        </p:spPr>
        <p:txBody>
          <a:bodyPr wrap="square" lIns="0" tIns="0" rIns="0" bIns="0" rtlCol="0" anchor="ctr"/>
          <a:lstStyle/>
          <a:p>
            <a:pPr indent="0" marL="0">
              <a:buNone/>
            </a:pPr>
            <a:r>
              <a:rPr lang="en-US" sz="3200" dirty="0">
                <a:solidFill>
                  <a:srgbClr val="072840"/>
                </a:solidFill>
                <a:latin typeface="Arial" pitchFamily="34" charset="0"/>
                <a:ea typeface="Arial" pitchFamily="34" charset="-122"/>
                <a:cs typeface="Arial" pitchFamily="34" charset="-120"/>
              </a:rPr>
              <a:t>Requirements and </a:t>
            </a:r>
            <a:pPr indent="0" marL="0">
              <a:buNone/>
            </a:pPr>
            <a:r>
              <a:rPr lang="en-US" sz="3200" b="1" dirty="0">
                <a:solidFill>
                  <a:srgbClr val="072840"/>
                </a:solidFill>
                <a:latin typeface="Arial" pitchFamily="34" charset="0"/>
                <a:ea typeface="Arial" pitchFamily="34" charset="-122"/>
                <a:cs typeface="Arial" pitchFamily="34" charset="-120"/>
              </a:rPr>
              <a:t>how we worked</a:t>
            </a:r>
            <a:endParaRPr lang="en-US" sz="3200" dirty="0"/>
          </a:p>
        </p:txBody>
      </p:sp>
      <p:sp>
        <p:nvSpPr>
          <p:cNvPr id="5" name="Requirements card"/>
          <p:cNvSpPr/>
          <p:nvPr/>
        </p:nvSpPr>
        <p:spPr>
          <a:xfrm>
            <a:off x="548640" y="1828800"/>
            <a:ext cx="5486400" cy="4343400"/>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6" name="Text 4"/>
          <p:cNvSpPr txBox="1"/>
          <p:nvPr/>
        </p:nvSpPr>
        <p:spPr>
          <a:xfrm>
            <a:off x="822960" y="2011680"/>
            <a:ext cx="4937760" cy="365760"/>
          </a:xfrm>
          <a:prstGeom prst="rect">
            <a:avLst/>
          </a:prstGeom>
          <a:noFill/>
          <a:ln/>
        </p:spPr>
        <p:txBody>
          <a:bodyPr wrap="square" lIns="0" tIns="0" rIns="0" bIns="0" rtlCol="0" anchor="t"/>
          <a:lstStyle/>
          <a:p>
            <a:pPr indent="0" marL="0">
              <a:buNone/>
            </a:pPr>
            <a:r>
              <a:rPr lang="en-US" sz="1400" b="1" spc="200" kern="0" dirty="0">
                <a:solidFill>
                  <a:srgbClr val="8B1A2B"/>
                </a:solidFill>
              </a:rPr>
              <a:t>WHAT IT MUST DO</a:t>
            </a:r>
            <a:endParaRPr lang="en-US" sz="1400" dirty="0"/>
          </a:p>
        </p:txBody>
      </p:sp>
      <p:sp>
        <p:nvSpPr>
          <p:cNvPr id="7" name="Text 5"/>
          <p:cNvSpPr txBox="1"/>
          <p:nvPr/>
        </p:nvSpPr>
        <p:spPr>
          <a:xfrm>
            <a:off x="822960" y="2377440"/>
            <a:ext cx="4937760" cy="411480"/>
          </a:xfrm>
          <a:prstGeom prst="rect">
            <a:avLst/>
          </a:prstGeom>
          <a:noFill/>
          <a:ln/>
        </p:spPr>
        <p:txBody>
          <a:bodyPr wrap="square" lIns="0" tIns="0" rIns="0" bIns="0" rtlCol="0" anchor="t"/>
          <a:lstStyle/>
          <a:p>
            <a:pPr indent="0" marL="0">
              <a:buNone/>
            </a:pPr>
            <a:r>
              <a:rPr lang="en-US" sz="1900" b="1" dirty="0">
                <a:solidFill>
                  <a:srgbClr val="072840"/>
                </a:solidFill>
              </a:rPr>
              <a:t>9 functional requirements</a:t>
            </a:r>
            <a:endParaRPr lang="en-US" sz="1900" dirty="0"/>
          </a:p>
        </p:txBody>
      </p:sp>
      <p:sp>
        <p:nvSpPr>
          <p:cNvPr id="8" name="Text 6"/>
          <p:cNvSpPr txBox="1"/>
          <p:nvPr/>
        </p:nvSpPr>
        <p:spPr>
          <a:xfrm>
            <a:off x="822960" y="2834640"/>
            <a:ext cx="5029200" cy="178308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16232F"/>
                </a:solidFill>
              </a:rPr>
              <a:t>Log in as a student or a lecturer</a:t>
            </a:r>
            <a:endParaRPr lang="en-US" sz="1400" dirty="0"/>
          </a:p>
          <a:p>
            <a:pPr marL="342900" indent="-342900">
              <a:spcAft>
                <a:spcPts val="300"/>
              </a:spcAft>
              <a:buSzPct val="100000"/>
              <a:buChar char="•"/>
            </a:pPr>
            <a:r>
              <a:rPr lang="en-US" sz="1400" dirty="0">
                <a:solidFill>
                  <a:srgbClr val="16232F"/>
                </a:solidFill>
              </a:rPr>
              <a:t>Lecturers publish, edit and remove their slots</a:t>
            </a:r>
            <a:endParaRPr lang="en-US" sz="1400" dirty="0"/>
          </a:p>
          <a:p>
            <a:pPr marL="342900" indent="-342900">
              <a:spcAft>
                <a:spcPts val="300"/>
              </a:spcAft>
              <a:buSzPct val="100000"/>
              <a:buChar char="•"/>
            </a:pPr>
            <a:r>
              <a:rPr lang="en-US" sz="1400" dirty="0">
                <a:solidFill>
                  <a:srgbClr val="16232F"/>
                </a:solidFill>
              </a:rPr>
              <a:t>Students book, change or cancel with a reason</a:t>
            </a:r>
            <a:endParaRPr lang="en-US" sz="1400" dirty="0"/>
          </a:p>
          <a:p>
            <a:pPr marL="342900" indent="-342900">
              <a:spcAft>
                <a:spcPts val="300"/>
              </a:spcAft>
              <a:buSzPct val="100000"/>
              <a:buChar char="•"/>
            </a:pPr>
            <a:r>
              <a:rPr lang="en-US" sz="1400" dirty="0">
                <a:solidFill>
                  <a:srgbClr val="16232F"/>
                </a:solidFill>
              </a:rPr>
              <a:t>No double bookings</a:t>
            </a:r>
            <a:endParaRPr lang="en-US" sz="1400" dirty="0"/>
          </a:p>
          <a:p>
            <a:pPr marL="342900" indent="-342900">
              <a:spcAft>
                <a:spcPts val="300"/>
              </a:spcAft>
              <a:buSzPct val="100000"/>
              <a:buChar char="•"/>
            </a:pPr>
            <a:r>
              <a:rPr lang="en-US" sz="1400" dirty="0">
                <a:solidFill>
                  <a:srgbClr val="16232F"/>
                </a:solidFill>
              </a:rPr>
              <a:t>Confirmation and reminder emails, and booking history</a:t>
            </a:r>
            <a:endParaRPr lang="en-US" sz="1400" dirty="0"/>
          </a:p>
        </p:txBody>
      </p:sp>
      <p:sp>
        <p:nvSpPr>
          <p:cNvPr id="9" name="Text 7"/>
          <p:cNvSpPr txBox="1"/>
          <p:nvPr/>
        </p:nvSpPr>
        <p:spPr>
          <a:xfrm>
            <a:off x="822960" y="4617720"/>
            <a:ext cx="4937760" cy="411480"/>
          </a:xfrm>
          <a:prstGeom prst="rect">
            <a:avLst/>
          </a:prstGeom>
          <a:noFill/>
          <a:ln/>
        </p:spPr>
        <p:txBody>
          <a:bodyPr wrap="square" lIns="0" tIns="0" rIns="0" bIns="0" rtlCol="0" anchor="t"/>
          <a:lstStyle/>
          <a:p>
            <a:pPr indent="0" marL="0">
              <a:buNone/>
            </a:pPr>
            <a:r>
              <a:rPr lang="en-US" sz="1900" b="1" dirty="0">
                <a:solidFill>
                  <a:srgbClr val="072840"/>
                </a:solidFill>
              </a:rPr>
              <a:t>7 non-functional requirements</a:t>
            </a:r>
            <a:endParaRPr lang="en-US" sz="1900" dirty="0"/>
          </a:p>
        </p:txBody>
      </p:sp>
      <p:sp>
        <p:nvSpPr>
          <p:cNvPr id="10" name="Text 8"/>
          <p:cNvSpPr txBox="1"/>
          <p:nvPr/>
        </p:nvSpPr>
        <p:spPr>
          <a:xfrm>
            <a:off x="822960" y="5029200"/>
            <a:ext cx="5029200" cy="105156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16232F"/>
                </a:solidFill>
              </a:rPr>
              <a:t>Quick to book and pages that load fast</a:t>
            </a:r>
            <a:endParaRPr lang="en-US" sz="1400" dirty="0"/>
          </a:p>
          <a:p>
            <a:pPr marL="342900" indent="-342900">
              <a:spcAft>
                <a:spcPts val="300"/>
              </a:spcAft>
              <a:buSzPct val="100000"/>
              <a:buChar char="•"/>
            </a:pPr>
            <a:r>
              <a:rPr lang="en-US" sz="1400" dirty="0">
                <a:solidFill>
                  <a:srgbClr val="16232F"/>
                </a:solidFill>
              </a:rPr>
              <a:t>Works on a phone and a laptop</a:t>
            </a:r>
            <a:endParaRPr lang="en-US" sz="1400" dirty="0"/>
          </a:p>
          <a:p>
            <a:pPr marL="342900" indent="-342900">
              <a:spcAft>
                <a:spcPts val="300"/>
              </a:spcAft>
              <a:buSzPct val="100000"/>
              <a:buChar char="•"/>
            </a:pPr>
            <a:r>
              <a:rPr lang="en-US" sz="1400" dirty="0">
                <a:solidFill>
                  <a:srgbClr val="16232F"/>
                </a:solidFill>
              </a:rPr>
              <a:t>Hashed passwords, and each user only sees their own data</a:t>
            </a:r>
            <a:endParaRPr lang="en-US" sz="1400" dirty="0"/>
          </a:p>
        </p:txBody>
      </p:sp>
      <p:sp>
        <p:nvSpPr>
          <p:cNvPr id="11" name="Method panel"/>
          <p:cNvSpPr/>
          <p:nvPr/>
        </p:nvSpPr>
        <p:spPr>
          <a:xfrm>
            <a:off x="6309360" y="1828800"/>
            <a:ext cx="5303520" cy="4343400"/>
          </a:xfrm>
          <a:prstGeom prst="rect">
            <a:avLst/>
          </a:prstGeom>
          <a:solidFill>
            <a:srgbClr val="072840"/>
          </a:solidFill>
          <a:ln w="12700">
            <a:solidFill>
              <a:srgbClr val="072840"/>
            </a:solidFill>
            <a:prstDash val="solid"/>
          </a:ln>
        </p:spPr>
      </p:sp>
      <p:sp>
        <p:nvSpPr>
          <p:cNvPr id="12" name="Text 10"/>
          <p:cNvSpPr txBox="1"/>
          <p:nvPr/>
        </p:nvSpPr>
        <p:spPr>
          <a:xfrm>
            <a:off x="6583680" y="2011680"/>
            <a:ext cx="4754880" cy="365760"/>
          </a:xfrm>
          <a:prstGeom prst="rect">
            <a:avLst/>
          </a:prstGeom>
          <a:noFill/>
          <a:ln/>
        </p:spPr>
        <p:txBody>
          <a:bodyPr wrap="square" lIns="0" tIns="0" rIns="0" bIns="0" rtlCol="0" anchor="t"/>
          <a:lstStyle/>
          <a:p>
            <a:pPr indent="0" marL="0">
              <a:buNone/>
            </a:pPr>
            <a:r>
              <a:rPr lang="en-US" sz="1400" b="1" spc="200" kern="0" dirty="0">
                <a:solidFill>
                  <a:srgbClr val="5BCBE8"/>
                </a:solidFill>
              </a:rPr>
              <a:t>HOW WE WORKED</a:t>
            </a:r>
            <a:endParaRPr lang="en-US" sz="1400" dirty="0"/>
          </a:p>
        </p:txBody>
      </p:sp>
      <p:sp>
        <p:nvSpPr>
          <p:cNvPr id="13" name="Text 11"/>
          <p:cNvSpPr txBox="1"/>
          <p:nvPr/>
        </p:nvSpPr>
        <p:spPr>
          <a:xfrm>
            <a:off x="6583680" y="2377440"/>
            <a:ext cx="4846320" cy="411480"/>
          </a:xfrm>
          <a:prstGeom prst="rect">
            <a:avLst/>
          </a:prstGeom>
          <a:noFill/>
          <a:ln/>
        </p:spPr>
        <p:txBody>
          <a:bodyPr wrap="square" lIns="0" tIns="0" rIns="0" bIns="0" rtlCol="0" anchor="t"/>
          <a:lstStyle/>
          <a:p>
            <a:pPr indent="0" marL="0">
              <a:buNone/>
            </a:pPr>
            <a:r>
              <a:rPr lang="en-US" sz="1900" b="1" dirty="0">
                <a:solidFill>
                  <a:srgbClr val="FFFFFF"/>
                </a:solidFill>
              </a:rPr>
              <a:t>Agile Scrum in one-week sprints</a:t>
            </a:r>
            <a:endParaRPr lang="en-US" sz="1900" dirty="0"/>
          </a:p>
        </p:txBody>
      </p:sp>
      <p:sp>
        <p:nvSpPr>
          <p:cNvPr id="14" name="Text 12"/>
          <p:cNvSpPr txBox="1"/>
          <p:nvPr/>
        </p:nvSpPr>
        <p:spPr>
          <a:xfrm>
            <a:off x="6583680" y="3044952"/>
            <a:ext cx="512064" cy="512064"/>
          </a:xfrm>
          <a:prstGeom prst="ellipse">
            <a:avLst/>
          </a:prstGeom>
          <a:solidFill>
            <a:srgbClr val="5BCBE8"/>
          </a:solidFill>
          <a:ln>
            <a:solidFill>
              <a:srgbClr val="5BCBE8"/>
            </a:solidFill>
          </a:ln>
        </p:spPr>
        <p:txBody>
          <a:bodyPr wrap="square" lIns="0" tIns="0" rIns="0" bIns="0" rtlCol="0" anchor="ctr"/>
          <a:lstStyle/>
          <a:p>
            <a:pPr algn="ctr" indent="0" marL="0">
              <a:buNone/>
            </a:pPr>
            <a:r>
              <a:rPr lang="en-US" sz="1700" b="1" dirty="0">
                <a:solidFill>
                  <a:srgbClr val="072840"/>
                </a:solidFill>
              </a:rPr>
              <a:t>0</a:t>
            </a:r>
            <a:endParaRPr lang="en-US" sz="1700" dirty="0"/>
          </a:p>
        </p:txBody>
      </p:sp>
      <p:sp>
        <p:nvSpPr>
          <p:cNvPr id="15" name="Text 13"/>
          <p:cNvSpPr txBox="1"/>
          <p:nvPr/>
        </p:nvSpPr>
        <p:spPr>
          <a:xfrm>
            <a:off x="7269480" y="2971800"/>
            <a:ext cx="4206240" cy="685800"/>
          </a:xfrm>
          <a:prstGeom prst="rect">
            <a:avLst/>
          </a:prstGeom>
          <a:noFill/>
          <a:ln/>
        </p:spPr>
        <p:txBody>
          <a:bodyPr wrap="square" lIns="0" tIns="0" rIns="0" bIns="0" rtlCol="0" anchor="ctr"/>
          <a:lstStyle/>
          <a:p>
            <a:pPr indent="0" marL="0">
              <a:buNone/>
            </a:pPr>
            <a:r>
              <a:rPr lang="en-US" sz="1500" b="1" dirty="0">
                <a:solidFill>
                  <a:srgbClr val="FFFFFF"/>
                </a:solidFill>
              </a:rPr>
              <a:t>Sprint 0  |  16 to 19 Oct</a:t>
            </a:r>
            <a:endParaRPr lang="en-US" sz="1500" dirty="0"/>
          </a:p>
          <a:p>
            <a:pPr indent="0" marL="0">
              <a:buNone/>
            </a:pPr>
            <a:r>
              <a:rPr lang="en-US" sz="1300" dirty="0">
                <a:solidFill>
                  <a:srgbClr val="BFD3E0"/>
                </a:solidFill>
              </a:rPr>
              <a:t>Requirements, SRS and design</a:t>
            </a:r>
            <a:endParaRPr lang="en-US" sz="1500" dirty="0"/>
          </a:p>
        </p:txBody>
      </p:sp>
      <p:sp>
        <p:nvSpPr>
          <p:cNvPr id="16" name="Text 14"/>
          <p:cNvSpPr txBox="1"/>
          <p:nvPr/>
        </p:nvSpPr>
        <p:spPr>
          <a:xfrm>
            <a:off x="6583680" y="3867912"/>
            <a:ext cx="512064" cy="512064"/>
          </a:xfrm>
          <a:prstGeom prst="ellipse">
            <a:avLst/>
          </a:prstGeom>
          <a:solidFill>
            <a:srgbClr val="5BCBE8"/>
          </a:solidFill>
          <a:ln>
            <a:solidFill>
              <a:srgbClr val="5BCBE8"/>
            </a:solidFill>
          </a:ln>
        </p:spPr>
        <p:txBody>
          <a:bodyPr wrap="square" lIns="0" tIns="0" rIns="0" bIns="0" rtlCol="0" anchor="ctr"/>
          <a:lstStyle/>
          <a:p>
            <a:pPr algn="ctr" indent="0" marL="0">
              <a:buNone/>
            </a:pPr>
            <a:r>
              <a:rPr lang="en-US" sz="1700" b="1" dirty="0">
                <a:solidFill>
                  <a:srgbClr val="072840"/>
                </a:solidFill>
              </a:rPr>
              <a:t>1</a:t>
            </a:r>
            <a:endParaRPr lang="en-US" sz="1700" dirty="0"/>
          </a:p>
        </p:txBody>
      </p:sp>
      <p:sp>
        <p:nvSpPr>
          <p:cNvPr id="17" name="Text 15"/>
          <p:cNvSpPr txBox="1"/>
          <p:nvPr/>
        </p:nvSpPr>
        <p:spPr>
          <a:xfrm>
            <a:off x="7269480" y="3794760"/>
            <a:ext cx="4206240" cy="685800"/>
          </a:xfrm>
          <a:prstGeom prst="rect">
            <a:avLst/>
          </a:prstGeom>
          <a:noFill/>
          <a:ln/>
        </p:spPr>
        <p:txBody>
          <a:bodyPr wrap="square" lIns="0" tIns="0" rIns="0" bIns="0" rtlCol="0" anchor="ctr"/>
          <a:lstStyle/>
          <a:p>
            <a:pPr indent="0" marL="0">
              <a:buNone/>
            </a:pPr>
            <a:r>
              <a:rPr lang="en-US" sz="1500" b="1" dirty="0">
                <a:solidFill>
                  <a:srgbClr val="FFFFFF"/>
                </a:solidFill>
              </a:rPr>
              <a:t>Sprint 1  |  20 to 23 Oct</a:t>
            </a:r>
            <a:endParaRPr lang="en-US" sz="1500" dirty="0"/>
          </a:p>
          <a:p>
            <a:pPr indent="0" marL="0">
              <a:buNone/>
            </a:pPr>
            <a:r>
              <a:rPr lang="en-US" sz="1300" dirty="0">
                <a:solidFill>
                  <a:srgbClr val="BFD3E0"/>
                </a:solidFill>
              </a:rPr>
              <a:t>Build the six features and first tests</a:t>
            </a:r>
            <a:endParaRPr lang="en-US" sz="1500" dirty="0"/>
          </a:p>
        </p:txBody>
      </p:sp>
      <p:sp>
        <p:nvSpPr>
          <p:cNvPr id="18" name="Text 16"/>
          <p:cNvSpPr txBox="1"/>
          <p:nvPr/>
        </p:nvSpPr>
        <p:spPr>
          <a:xfrm>
            <a:off x="6583680" y="4690872"/>
            <a:ext cx="512064" cy="512064"/>
          </a:xfrm>
          <a:prstGeom prst="ellipse">
            <a:avLst/>
          </a:prstGeom>
          <a:solidFill>
            <a:srgbClr val="5BCBE8"/>
          </a:solidFill>
          <a:ln>
            <a:solidFill>
              <a:srgbClr val="5BCBE8"/>
            </a:solidFill>
          </a:ln>
        </p:spPr>
        <p:txBody>
          <a:bodyPr wrap="square" lIns="0" tIns="0" rIns="0" bIns="0" rtlCol="0" anchor="ctr"/>
          <a:lstStyle/>
          <a:p>
            <a:pPr algn="ctr" indent="0" marL="0">
              <a:buNone/>
            </a:pPr>
            <a:r>
              <a:rPr lang="en-US" sz="1700" b="1" dirty="0">
                <a:solidFill>
                  <a:srgbClr val="072840"/>
                </a:solidFill>
              </a:rPr>
              <a:t>2</a:t>
            </a:r>
            <a:endParaRPr lang="en-US" sz="1700" dirty="0"/>
          </a:p>
        </p:txBody>
      </p:sp>
      <p:sp>
        <p:nvSpPr>
          <p:cNvPr id="19" name="Text 17"/>
          <p:cNvSpPr txBox="1"/>
          <p:nvPr/>
        </p:nvSpPr>
        <p:spPr>
          <a:xfrm>
            <a:off x="7269480" y="4617720"/>
            <a:ext cx="4206240" cy="685800"/>
          </a:xfrm>
          <a:prstGeom prst="rect">
            <a:avLst/>
          </a:prstGeom>
          <a:noFill/>
          <a:ln/>
        </p:spPr>
        <p:txBody>
          <a:bodyPr wrap="square" lIns="0" tIns="0" rIns="0" bIns="0" rtlCol="0" anchor="ctr"/>
          <a:lstStyle/>
          <a:p>
            <a:pPr indent="0" marL="0">
              <a:buNone/>
            </a:pPr>
            <a:r>
              <a:rPr lang="en-US" sz="1500" b="1" dirty="0">
                <a:solidFill>
                  <a:srgbClr val="FFFFFF"/>
                </a:solidFill>
              </a:rPr>
              <a:t>Sprint 2  |  24 to 29 Oct</a:t>
            </a:r>
            <a:endParaRPr lang="en-US" sz="1500" dirty="0"/>
          </a:p>
          <a:p>
            <a:pPr indent="0" marL="0">
              <a:buNone/>
            </a:pPr>
            <a:r>
              <a:rPr lang="en-US" sz="1300" dirty="0">
                <a:solidFill>
                  <a:srgbClr val="BFD3E0"/>
                </a:solidFill>
              </a:rPr>
              <a:t>User testing, fixes and the final report</a:t>
            </a:r>
            <a:endParaRPr lang="en-US" sz="1500" dirty="0"/>
          </a:p>
        </p:txBody>
      </p:sp>
      <p:sp>
        <p:nvSpPr>
          <p:cNvPr id="20" name="Text 18"/>
          <p:cNvSpPr txBox="1"/>
          <p:nvPr/>
        </p:nvSpPr>
        <p:spPr>
          <a:xfrm>
            <a:off x="6583680" y="5486400"/>
            <a:ext cx="4846320" cy="594360"/>
          </a:xfrm>
          <a:prstGeom prst="rect">
            <a:avLst/>
          </a:prstGeom>
          <a:noFill/>
          <a:ln/>
        </p:spPr>
        <p:txBody>
          <a:bodyPr wrap="square" lIns="0" tIns="0" rIns="0" bIns="0" rtlCol="0" anchor="ctr"/>
          <a:lstStyle/>
          <a:p>
            <a:pPr indent="0" marL="0">
              <a:buNone/>
            </a:pPr>
            <a:r>
              <a:rPr lang="en-US" sz="1300" dirty="0">
                <a:solidFill>
                  <a:srgbClr val="FFFFFF"/>
                </a:solidFill>
              </a:rPr>
              <a:t>Each member worked on a GitHub branch, and pull requests were reviewed before merging into main.</a:t>
            </a:r>
            <a:endParaRPr lang="en-US" sz="1300" dirty="0"/>
          </a:p>
        </p:txBody>
      </p:sp>
      <p:sp>
        <p:nvSpPr>
          <p:cNvPr id="25" name="Slide Number Placeholder 0"/>
          <p:cNvSpPr>
            <a:spLocks noGrp="1"/>
          </p:cNvSpPr>
          <p:nvPr>
            <p:ph type="sldNum" sz="quarter" idx="4294967295"/>
          </p:nvPr>
        </p:nvSpPr>
        <p:spPr>
          <a:xfrm>
            <a:off x="1042416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411480"/>
            <a:ext cx="1335024" cy="329184"/>
          </a:xfrm>
          <a:prstGeom prst="rect">
            <a:avLst/>
          </a:prstGeom>
          <a:solidFill>
            <a:srgbClr val="FFFFFF"/>
          </a:solidFill>
          <a:ln w="19050">
            <a:solidFill>
              <a:srgbClr val="072840"/>
            </a:solidFill>
            <a:prstDash val="solid"/>
          </a:ln>
        </p:spPr>
      </p:sp>
      <p:sp>
        <p:nvSpPr>
          <p:cNvPr id="3" name="Text 1"/>
          <p:cNvSpPr txBox="1"/>
          <p:nvPr/>
        </p:nvSpPr>
        <p:spPr>
          <a:xfrm>
            <a:off x="548640" y="411480"/>
            <a:ext cx="1335024" cy="329184"/>
          </a:xfrm>
          <a:prstGeom prst="rect">
            <a:avLst/>
          </a:prstGeom>
          <a:noFill/>
          <a:ln/>
        </p:spPr>
        <p:txBody>
          <a:bodyPr wrap="square" lIns="0" tIns="0" rIns="0" bIns="0" rtlCol="0" anchor="ctr"/>
          <a:lstStyle/>
          <a:p>
            <a:pPr algn="ctr" indent="0" marL="0">
              <a:buNone/>
            </a:pPr>
            <a:r>
              <a:rPr lang="en-US" sz="1100" b="1" spc="100" kern="0" dirty="0">
                <a:solidFill>
                  <a:srgbClr val="072840"/>
                </a:solidFill>
              </a:rPr>
              <a:t>THE SOLUTION</a:t>
            </a:r>
            <a:endParaRPr lang="en-US" sz="1100" dirty="0"/>
          </a:p>
        </p:txBody>
      </p:sp>
      <p:sp>
        <p:nvSpPr>
          <p:cNvPr id="4" name="Title"/>
          <p:cNvSpPr txBox="1"/>
          <p:nvPr/>
        </p:nvSpPr>
        <p:spPr>
          <a:xfrm>
            <a:off x="548640" y="822960"/>
            <a:ext cx="10241280" cy="777240"/>
          </a:xfrm>
          <a:prstGeom prst="rect">
            <a:avLst/>
          </a:prstGeom>
          <a:noFill/>
          <a:ln/>
        </p:spPr>
        <p:txBody>
          <a:bodyPr wrap="square" lIns="0" tIns="0" rIns="0" bIns="0" rtlCol="0" anchor="ctr"/>
          <a:lstStyle/>
          <a:p>
            <a:pPr indent="0" marL="0">
              <a:buNone/>
            </a:pPr>
            <a:r>
              <a:rPr lang="en-US" sz="3200" dirty="0">
                <a:solidFill>
                  <a:srgbClr val="072840"/>
                </a:solidFill>
                <a:latin typeface="Arial" pitchFamily="34" charset="0"/>
                <a:ea typeface="Arial" pitchFamily="34" charset="-122"/>
                <a:cs typeface="Arial" pitchFamily="34" charset="-120"/>
              </a:rPr>
              <a:t>CampusBook: </a:t>
            </a:r>
            <a:pPr indent="0" marL="0">
              <a:buNone/>
            </a:pPr>
            <a:r>
              <a:rPr lang="en-US" sz="3200" b="1" dirty="0">
                <a:solidFill>
                  <a:srgbClr val="072840"/>
                </a:solidFill>
                <a:latin typeface="Arial" pitchFamily="34" charset="0"/>
                <a:ea typeface="Arial" pitchFamily="34" charset="-122"/>
                <a:cs typeface="Arial" pitchFamily="34" charset="-120"/>
              </a:rPr>
              <a:t>six must-have features</a:t>
            </a:r>
            <a:endParaRPr lang="en-US" sz="3200" dirty="0"/>
          </a:p>
        </p:txBody>
      </p:sp>
      <p:sp>
        <p:nvSpPr>
          <p:cNvPr id="5" name="Feature card 1"/>
          <p:cNvSpPr/>
          <p:nvPr/>
        </p:nvSpPr>
        <p:spPr>
          <a:xfrm>
            <a:off x="548640" y="1828800"/>
            <a:ext cx="3566160" cy="2057400"/>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822960" y="2103120"/>
            <a:ext cx="685800" cy="685800"/>
          </a:xfrm>
          <a:prstGeom prst="ellipse">
            <a:avLst/>
          </a:prstGeom>
          <a:solidFill>
            <a:srgbClr val="8B1A2B"/>
          </a:solidFill>
          <a:ln w="12700">
            <a:solidFill>
              <a:srgbClr val="8B1A2B"/>
            </a:solidFill>
            <a:prstDash val="solid"/>
          </a:ln>
        </p:spPr>
      </p:sp>
      <p:pic>
        <p:nvPicPr>
          <p:cNvPr id="7" name="Image 0" descr="preencoded.png">    </p:cNvPr>
          <p:cNvPicPr>
            <a:picLocks noChangeAspect="1"/>
          </p:cNvPicPr>
          <p:nvPr/>
        </p:nvPicPr>
        <p:blipFill>
          <a:blip r:embed="rId1"/>
          <a:stretch>
            <a:fillRect/>
          </a:stretch>
        </p:blipFill>
        <p:spPr>
          <a:xfrm>
            <a:off x="994410" y="2274570"/>
            <a:ext cx="342900" cy="342900"/>
          </a:xfrm>
          <a:prstGeom prst="rect">
            <a:avLst/>
          </a:prstGeom>
        </p:spPr>
      </p:pic>
      <p:sp>
        <p:nvSpPr>
          <p:cNvPr id="8" name="Text 5"/>
          <p:cNvSpPr txBox="1"/>
          <p:nvPr/>
        </p:nvSpPr>
        <p:spPr>
          <a:xfrm>
            <a:off x="1691640" y="2103120"/>
            <a:ext cx="2286000" cy="685800"/>
          </a:xfrm>
          <a:prstGeom prst="rect">
            <a:avLst/>
          </a:prstGeom>
          <a:noFill/>
          <a:ln/>
        </p:spPr>
        <p:txBody>
          <a:bodyPr wrap="square" lIns="0" tIns="0" rIns="0" bIns="0" rtlCol="0" anchor="ctr"/>
          <a:lstStyle/>
          <a:p>
            <a:pPr indent="0" marL="0">
              <a:buNone/>
            </a:pPr>
            <a:r>
              <a:rPr lang="en-US" sz="1900" b="1" dirty="0">
                <a:solidFill>
                  <a:srgbClr val="072840"/>
                </a:solidFill>
              </a:rPr>
              <a:t>Two roles</a:t>
            </a:r>
            <a:endParaRPr lang="en-US" sz="1900" dirty="0"/>
          </a:p>
        </p:txBody>
      </p:sp>
      <p:sp>
        <p:nvSpPr>
          <p:cNvPr id="9" name="Text 6"/>
          <p:cNvSpPr txBox="1"/>
          <p:nvPr/>
        </p:nvSpPr>
        <p:spPr>
          <a:xfrm>
            <a:off x="822960" y="2926080"/>
            <a:ext cx="3017520" cy="868680"/>
          </a:xfrm>
          <a:prstGeom prst="rect">
            <a:avLst/>
          </a:prstGeom>
          <a:noFill/>
          <a:ln/>
        </p:spPr>
        <p:txBody>
          <a:bodyPr wrap="square" lIns="0" tIns="0" rIns="0" bIns="0" rtlCol="0" anchor="t"/>
          <a:lstStyle/>
          <a:p>
            <a:pPr indent="0" marL="0">
              <a:buNone/>
            </a:pPr>
            <a:r>
              <a:rPr lang="en-US" sz="1600" dirty="0">
                <a:solidFill>
                  <a:srgbClr val="16232F"/>
                </a:solidFill>
              </a:rPr>
              <a:t>Students and lecturers log in and each sees their own pages</a:t>
            </a:r>
            <a:endParaRPr lang="en-US" sz="1600" dirty="0"/>
          </a:p>
        </p:txBody>
      </p:sp>
      <p:sp>
        <p:nvSpPr>
          <p:cNvPr id="10" name="Feature card 2"/>
          <p:cNvSpPr/>
          <p:nvPr/>
        </p:nvSpPr>
        <p:spPr>
          <a:xfrm>
            <a:off x="4297680" y="1828800"/>
            <a:ext cx="3566160" cy="2057400"/>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11" name="Shape 8"/>
          <p:cNvSpPr/>
          <p:nvPr/>
        </p:nvSpPr>
        <p:spPr>
          <a:xfrm>
            <a:off x="4572000" y="2103120"/>
            <a:ext cx="685800" cy="685800"/>
          </a:xfrm>
          <a:prstGeom prst="ellipse">
            <a:avLst/>
          </a:prstGeom>
          <a:solidFill>
            <a:srgbClr val="1E8FCB"/>
          </a:solidFill>
          <a:ln w="12700">
            <a:solidFill>
              <a:srgbClr val="1E8FCB"/>
            </a:solidFill>
            <a:prstDash val="solid"/>
          </a:ln>
        </p:spPr>
      </p:sp>
      <p:pic>
        <p:nvPicPr>
          <p:cNvPr id="12" name="Image 1" descr="preencoded.png">    </p:cNvPr>
          <p:cNvPicPr>
            <a:picLocks noChangeAspect="1"/>
          </p:cNvPicPr>
          <p:nvPr/>
        </p:nvPicPr>
        <p:blipFill>
          <a:blip r:embed="rId2"/>
          <a:stretch>
            <a:fillRect/>
          </a:stretch>
        </p:blipFill>
        <p:spPr>
          <a:xfrm>
            <a:off x="4743450" y="2274570"/>
            <a:ext cx="342900" cy="342900"/>
          </a:xfrm>
          <a:prstGeom prst="rect">
            <a:avLst/>
          </a:prstGeom>
        </p:spPr>
      </p:pic>
      <p:sp>
        <p:nvSpPr>
          <p:cNvPr id="13" name="Text 9"/>
          <p:cNvSpPr txBox="1"/>
          <p:nvPr/>
        </p:nvSpPr>
        <p:spPr>
          <a:xfrm>
            <a:off x="5440680" y="2103120"/>
            <a:ext cx="2286000" cy="685800"/>
          </a:xfrm>
          <a:prstGeom prst="rect">
            <a:avLst/>
          </a:prstGeom>
          <a:noFill/>
          <a:ln/>
        </p:spPr>
        <p:txBody>
          <a:bodyPr wrap="square" lIns="0" tIns="0" rIns="0" bIns="0" rtlCol="0" anchor="ctr"/>
          <a:lstStyle/>
          <a:p>
            <a:pPr indent="0" marL="0">
              <a:buNone/>
            </a:pPr>
            <a:r>
              <a:rPr lang="en-US" sz="1900" b="1" dirty="0">
                <a:solidFill>
                  <a:srgbClr val="072840"/>
                </a:solidFill>
              </a:rPr>
              <a:t>Lecturer slots</a:t>
            </a:r>
            <a:endParaRPr lang="en-US" sz="1900" dirty="0"/>
          </a:p>
        </p:txBody>
      </p:sp>
      <p:sp>
        <p:nvSpPr>
          <p:cNvPr id="14" name="Text 10"/>
          <p:cNvSpPr txBox="1"/>
          <p:nvPr/>
        </p:nvSpPr>
        <p:spPr>
          <a:xfrm>
            <a:off x="4572000" y="2926080"/>
            <a:ext cx="3017520" cy="868680"/>
          </a:xfrm>
          <a:prstGeom prst="rect">
            <a:avLst/>
          </a:prstGeom>
          <a:noFill/>
          <a:ln/>
        </p:spPr>
        <p:txBody>
          <a:bodyPr wrap="square" lIns="0" tIns="0" rIns="0" bIns="0" rtlCol="0" anchor="t"/>
          <a:lstStyle/>
          <a:p>
            <a:pPr indent="0" marL="0">
              <a:buNone/>
            </a:pPr>
            <a:r>
              <a:rPr lang="en-US" sz="1600" dirty="0">
                <a:solidFill>
                  <a:srgbClr val="16232F"/>
                </a:solidFill>
              </a:rPr>
              <a:t>Lecturers publish the times they are free each week</a:t>
            </a:r>
            <a:endParaRPr lang="en-US" sz="1600" dirty="0"/>
          </a:p>
        </p:txBody>
      </p:sp>
      <p:sp>
        <p:nvSpPr>
          <p:cNvPr id="15" name="Feature card 3"/>
          <p:cNvSpPr/>
          <p:nvPr/>
        </p:nvSpPr>
        <p:spPr>
          <a:xfrm>
            <a:off x="8046720" y="1828800"/>
            <a:ext cx="3566160" cy="2057400"/>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16" name="Shape 12"/>
          <p:cNvSpPr/>
          <p:nvPr/>
        </p:nvSpPr>
        <p:spPr>
          <a:xfrm>
            <a:off x="8321040" y="2103120"/>
            <a:ext cx="685800" cy="685800"/>
          </a:xfrm>
          <a:prstGeom prst="ellipse">
            <a:avLst/>
          </a:prstGeom>
          <a:solidFill>
            <a:srgbClr val="12506F"/>
          </a:solidFill>
          <a:ln w="12700">
            <a:solidFill>
              <a:srgbClr val="12506F"/>
            </a:solidFill>
            <a:prstDash val="solid"/>
          </a:ln>
        </p:spPr>
      </p:sp>
      <p:pic>
        <p:nvPicPr>
          <p:cNvPr id="17" name="Image 2" descr="preencoded.png">    </p:cNvPr>
          <p:cNvPicPr>
            <a:picLocks noChangeAspect="1"/>
          </p:cNvPicPr>
          <p:nvPr/>
        </p:nvPicPr>
        <p:blipFill>
          <a:blip r:embed="rId3"/>
          <a:stretch>
            <a:fillRect/>
          </a:stretch>
        </p:blipFill>
        <p:spPr>
          <a:xfrm>
            <a:off x="8492490" y="2274570"/>
            <a:ext cx="342900" cy="342900"/>
          </a:xfrm>
          <a:prstGeom prst="rect">
            <a:avLst/>
          </a:prstGeom>
        </p:spPr>
      </p:pic>
      <p:sp>
        <p:nvSpPr>
          <p:cNvPr id="18" name="Text 13"/>
          <p:cNvSpPr txBox="1"/>
          <p:nvPr/>
        </p:nvSpPr>
        <p:spPr>
          <a:xfrm>
            <a:off x="9189720" y="2103120"/>
            <a:ext cx="2286000" cy="685800"/>
          </a:xfrm>
          <a:prstGeom prst="rect">
            <a:avLst/>
          </a:prstGeom>
          <a:noFill/>
          <a:ln/>
        </p:spPr>
        <p:txBody>
          <a:bodyPr wrap="square" lIns="0" tIns="0" rIns="0" bIns="0" rtlCol="0" anchor="ctr"/>
          <a:lstStyle/>
          <a:p>
            <a:pPr indent="0" marL="0">
              <a:buNone/>
            </a:pPr>
            <a:r>
              <a:rPr lang="en-US" sz="1900" b="1" dirty="0">
                <a:solidFill>
                  <a:srgbClr val="072840"/>
                </a:solidFill>
              </a:rPr>
              <a:t>Book with a reason</a:t>
            </a:r>
            <a:endParaRPr lang="en-US" sz="1900" dirty="0"/>
          </a:p>
        </p:txBody>
      </p:sp>
      <p:sp>
        <p:nvSpPr>
          <p:cNvPr id="19" name="Text 14"/>
          <p:cNvSpPr txBox="1"/>
          <p:nvPr/>
        </p:nvSpPr>
        <p:spPr>
          <a:xfrm>
            <a:off x="8321040" y="2926080"/>
            <a:ext cx="3017520" cy="868680"/>
          </a:xfrm>
          <a:prstGeom prst="rect">
            <a:avLst/>
          </a:prstGeom>
          <a:noFill/>
          <a:ln/>
        </p:spPr>
        <p:txBody>
          <a:bodyPr wrap="square" lIns="0" tIns="0" rIns="0" bIns="0" rtlCol="0" anchor="t"/>
          <a:lstStyle/>
          <a:p>
            <a:pPr indent="0" marL="0">
              <a:buNone/>
            </a:pPr>
            <a:r>
              <a:rPr lang="en-US" sz="1600" dirty="0">
                <a:solidFill>
                  <a:srgbClr val="16232F"/>
                </a:solidFill>
              </a:rPr>
              <a:t>Students book, change or cancel and say why they are coming</a:t>
            </a:r>
            <a:endParaRPr lang="en-US" sz="1600" dirty="0"/>
          </a:p>
        </p:txBody>
      </p:sp>
      <p:sp>
        <p:nvSpPr>
          <p:cNvPr id="20" name="Feature card 4"/>
          <p:cNvSpPr/>
          <p:nvPr/>
        </p:nvSpPr>
        <p:spPr>
          <a:xfrm>
            <a:off x="548640" y="4069080"/>
            <a:ext cx="3566160" cy="2057400"/>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21" name="Shape 16"/>
          <p:cNvSpPr/>
          <p:nvPr/>
        </p:nvSpPr>
        <p:spPr>
          <a:xfrm>
            <a:off x="822960" y="4343400"/>
            <a:ext cx="685800" cy="685800"/>
          </a:xfrm>
          <a:prstGeom prst="ellipse">
            <a:avLst/>
          </a:prstGeom>
          <a:solidFill>
            <a:srgbClr val="8B1A2B"/>
          </a:solidFill>
          <a:ln w="12700">
            <a:solidFill>
              <a:srgbClr val="8B1A2B"/>
            </a:solidFill>
            <a:prstDash val="solid"/>
          </a:ln>
        </p:spPr>
      </p:sp>
      <p:pic>
        <p:nvPicPr>
          <p:cNvPr id="22" name="Image 3" descr="preencoded.png">    </p:cNvPr>
          <p:cNvPicPr>
            <a:picLocks noChangeAspect="1"/>
          </p:cNvPicPr>
          <p:nvPr/>
        </p:nvPicPr>
        <p:blipFill>
          <a:blip r:embed="rId4"/>
          <a:stretch>
            <a:fillRect/>
          </a:stretch>
        </p:blipFill>
        <p:spPr>
          <a:xfrm>
            <a:off x="994410" y="4514850"/>
            <a:ext cx="342900" cy="342900"/>
          </a:xfrm>
          <a:prstGeom prst="rect">
            <a:avLst/>
          </a:prstGeom>
        </p:spPr>
      </p:pic>
      <p:sp>
        <p:nvSpPr>
          <p:cNvPr id="23" name="Text 17"/>
          <p:cNvSpPr txBox="1"/>
          <p:nvPr/>
        </p:nvSpPr>
        <p:spPr>
          <a:xfrm>
            <a:off x="1691640" y="4343400"/>
            <a:ext cx="2286000" cy="685800"/>
          </a:xfrm>
          <a:prstGeom prst="rect">
            <a:avLst/>
          </a:prstGeom>
          <a:noFill/>
          <a:ln/>
        </p:spPr>
        <p:txBody>
          <a:bodyPr wrap="square" lIns="0" tIns="0" rIns="0" bIns="0" rtlCol="0" anchor="ctr"/>
          <a:lstStyle/>
          <a:p>
            <a:pPr indent="0" marL="0">
              <a:buNone/>
            </a:pPr>
            <a:r>
              <a:rPr lang="en-US" sz="1900" b="1" dirty="0">
                <a:solidFill>
                  <a:srgbClr val="072840"/>
                </a:solidFill>
              </a:rPr>
              <a:t>Email and reminder</a:t>
            </a:r>
            <a:endParaRPr lang="en-US" sz="1900" dirty="0"/>
          </a:p>
        </p:txBody>
      </p:sp>
      <p:sp>
        <p:nvSpPr>
          <p:cNvPr id="24" name="Text 18"/>
          <p:cNvSpPr txBox="1"/>
          <p:nvPr/>
        </p:nvSpPr>
        <p:spPr>
          <a:xfrm>
            <a:off x="822960" y="5166360"/>
            <a:ext cx="3017520" cy="868680"/>
          </a:xfrm>
          <a:prstGeom prst="rect">
            <a:avLst/>
          </a:prstGeom>
          <a:noFill/>
          <a:ln/>
        </p:spPr>
        <p:txBody>
          <a:bodyPr wrap="square" lIns="0" tIns="0" rIns="0" bIns="0" rtlCol="0" anchor="t"/>
          <a:lstStyle/>
          <a:p>
            <a:pPr indent="0" marL="0">
              <a:buNone/>
            </a:pPr>
            <a:r>
              <a:rPr lang="en-US" sz="1600" dirty="0">
                <a:solidFill>
                  <a:srgbClr val="16232F"/>
                </a:solidFill>
              </a:rPr>
              <a:t>A confirmation straight away and a reminder before the meeting</a:t>
            </a:r>
            <a:endParaRPr lang="en-US" sz="1600" dirty="0"/>
          </a:p>
        </p:txBody>
      </p:sp>
      <p:sp>
        <p:nvSpPr>
          <p:cNvPr id="25" name="Feature card 5"/>
          <p:cNvSpPr/>
          <p:nvPr/>
        </p:nvSpPr>
        <p:spPr>
          <a:xfrm>
            <a:off x="4297680" y="4069080"/>
            <a:ext cx="3566160" cy="2057400"/>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26" name="Shape 20"/>
          <p:cNvSpPr/>
          <p:nvPr/>
        </p:nvSpPr>
        <p:spPr>
          <a:xfrm>
            <a:off x="4572000" y="4343400"/>
            <a:ext cx="685800" cy="685800"/>
          </a:xfrm>
          <a:prstGeom prst="ellipse">
            <a:avLst/>
          </a:prstGeom>
          <a:solidFill>
            <a:srgbClr val="1E8FCB"/>
          </a:solidFill>
          <a:ln w="12700">
            <a:solidFill>
              <a:srgbClr val="1E8FCB"/>
            </a:solidFill>
            <a:prstDash val="solid"/>
          </a:ln>
        </p:spPr>
      </p:sp>
      <p:pic>
        <p:nvPicPr>
          <p:cNvPr id="27" name="Image 4" descr="preencoded.png">    </p:cNvPr>
          <p:cNvPicPr>
            <a:picLocks noChangeAspect="1"/>
          </p:cNvPicPr>
          <p:nvPr/>
        </p:nvPicPr>
        <p:blipFill>
          <a:blip r:embed="rId5"/>
          <a:stretch>
            <a:fillRect/>
          </a:stretch>
        </p:blipFill>
        <p:spPr>
          <a:xfrm>
            <a:off x="4743450" y="4514850"/>
            <a:ext cx="342900" cy="342900"/>
          </a:xfrm>
          <a:prstGeom prst="rect">
            <a:avLst/>
          </a:prstGeom>
        </p:spPr>
      </p:pic>
      <p:sp>
        <p:nvSpPr>
          <p:cNvPr id="28" name="Text 21"/>
          <p:cNvSpPr txBox="1"/>
          <p:nvPr/>
        </p:nvSpPr>
        <p:spPr>
          <a:xfrm>
            <a:off x="5440680" y="4343400"/>
            <a:ext cx="2286000" cy="685800"/>
          </a:xfrm>
          <a:prstGeom prst="rect">
            <a:avLst/>
          </a:prstGeom>
          <a:noFill/>
          <a:ln/>
        </p:spPr>
        <p:txBody>
          <a:bodyPr wrap="square" lIns="0" tIns="0" rIns="0" bIns="0" rtlCol="0" anchor="ctr"/>
          <a:lstStyle/>
          <a:p>
            <a:pPr indent="0" marL="0">
              <a:buNone/>
            </a:pPr>
            <a:r>
              <a:rPr lang="en-US" sz="1900" b="1" dirty="0">
                <a:solidFill>
                  <a:srgbClr val="072840"/>
                </a:solidFill>
              </a:rPr>
              <a:t>Booking history</a:t>
            </a:r>
            <a:endParaRPr lang="en-US" sz="1900" dirty="0"/>
          </a:p>
        </p:txBody>
      </p:sp>
      <p:sp>
        <p:nvSpPr>
          <p:cNvPr id="29" name="Text 22"/>
          <p:cNvSpPr txBox="1"/>
          <p:nvPr/>
        </p:nvSpPr>
        <p:spPr>
          <a:xfrm>
            <a:off x="4572000" y="5166360"/>
            <a:ext cx="3017520" cy="868680"/>
          </a:xfrm>
          <a:prstGeom prst="rect">
            <a:avLst/>
          </a:prstGeom>
          <a:noFill/>
          <a:ln/>
        </p:spPr>
        <p:txBody>
          <a:bodyPr wrap="square" lIns="0" tIns="0" rIns="0" bIns="0" rtlCol="0" anchor="t"/>
          <a:lstStyle/>
          <a:p>
            <a:pPr indent="0" marL="0">
              <a:buNone/>
            </a:pPr>
            <a:r>
              <a:rPr lang="en-US" sz="1600" dirty="0">
                <a:solidFill>
                  <a:srgbClr val="16232F"/>
                </a:solidFill>
              </a:rPr>
              <a:t>Both roles see upcoming and past bookings</a:t>
            </a:r>
            <a:endParaRPr lang="en-US" sz="1600" dirty="0"/>
          </a:p>
        </p:txBody>
      </p:sp>
      <p:sp>
        <p:nvSpPr>
          <p:cNvPr id="30" name="Feature card 6"/>
          <p:cNvSpPr/>
          <p:nvPr/>
        </p:nvSpPr>
        <p:spPr>
          <a:xfrm>
            <a:off x="8046720" y="4069080"/>
            <a:ext cx="3566160" cy="2057400"/>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31" name="Shape 24"/>
          <p:cNvSpPr/>
          <p:nvPr/>
        </p:nvSpPr>
        <p:spPr>
          <a:xfrm>
            <a:off x="8321040" y="4343400"/>
            <a:ext cx="685800" cy="685800"/>
          </a:xfrm>
          <a:prstGeom prst="ellipse">
            <a:avLst/>
          </a:prstGeom>
          <a:solidFill>
            <a:srgbClr val="12506F"/>
          </a:solidFill>
          <a:ln w="12700">
            <a:solidFill>
              <a:srgbClr val="12506F"/>
            </a:solidFill>
            <a:prstDash val="solid"/>
          </a:ln>
        </p:spPr>
      </p:sp>
      <p:pic>
        <p:nvPicPr>
          <p:cNvPr id="32" name="Image 5" descr="preencoded.png">    </p:cNvPr>
          <p:cNvPicPr>
            <a:picLocks noChangeAspect="1"/>
          </p:cNvPicPr>
          <p:nvPr/>
        </p:nvPicPr>
        <p:blipFill>
          <a:blip r:embed="rId6"/>
          <a:stretch>
            <a:fillRect/>
          </a:stretch>
        </p:blipFill>
        <p:spPr>
          <a:xfrm>
            <a:off x="8492490" y="4514850"/>
            <a:ext cx="342900" cy="342900"/>
          </a:xfrm>
          <a:prstGeom prst="rect">
            <a:avLst/>
          </a:prstGeom>
        </p:spPr>
      </p:pic>
      <p:sp>
        <p:nvSpPr>
          <p:cNvPr id="33" name="Text 25"/>
          <p:cNvSpPr txBox="1"/>
          <p:nvPr/>
        </p:nvSpPr>
        <p:spPr>
          <a:xfrm>
            <a:off x="9189720" y="4343400"/>
            <a:ext cx="2286000" cy="685800"/>
          </a:xfrm>
          <a:prstGeom prst="rect">
            <a:avLst/>
          </a:prstGeom>
          <a:noFill/>
          <a:ln/>
        </p:spPr>
        <p:txBody>
          <a:bodyPr wrap="square" lIns="0" tIns="0" rIns="0" bIns="0" rtlCol="0" anchor="ctr"/>
          <a:lstStyle/>
          <a:p>
            <a:pPr indent="0" marL="0">
              <a:buNone/>
            </a:pPr>
            <a:r>
              <a:rPr lang="en-US" sz="1900" b="1" dirty="0">
                <a:solidFill>
                  <a:srgbClr val="072840"/>
                </a:solidFill>
              </a:rPr>
              <a:t>Phone and laptop</a:t>
            </a:r>
            <a:endParaRPr lang="en-US" sz="1900" dirty="0"/>
          </a:p>
        </p:txBody>
      </p:sp>
      <p:sp>
        <p:nvSpPr>
          <p:cNvPr id="34" name="Text 26"/>
          <p:cNvSpPr txBox="1"/>
          <p:nvPr/>
        </p:nvSpPr>
        <p:spPr>
          <a:xfrm>
            <a:off x="8321040" y="5166360"/>
            <a:ext cx="3017520" cy="868680"/>
          </a:xfrm>
          <a:prstGeom prst="rect">
            <a:avLst/>
          </a:prstGeom>
          <a:noFill/>
          <a:ln/>
        </p:spPr>
        <p:txBody>
          <a:bodyPr wrap="square" lIns="0" tIns="0" rIns="0" bIns="0" rtlCol="0" anchor="t"/>
          <a:lstStyle/>
          <a:p>
            <a:pPr indent="0" marL="0">
              <a:buNone/>
            </a:pPr>
            <a:r>
              <a:rPr lang="en-US" sz="1600" dirty="0">
                <a:solidFill>
                  <a:srgbClr val="16232F"/>
                </a:solidFill>
              </a:rPr>
              <a:t>Every page works on a small phone screen and a laptop</a:t>
            </a:r>
            <a:endParaRPr lang="en-US" sz="1600" dirty="0"/>
          </a:p>
        </p:txBody>
      </p:sp>
      <p:sp>
        <p:nvSpPr>
          <p:cNvPr id="25" name="Slide Number Placeholder 0"/>
          <p:cNvSpPr>
            <a:spLocks noGrp="1"/>
          </p:cNvSpPr>
          <p:nvPr>
            <p:ph type="sldNum" sz="quarter" idx="4294967295"/>
          </p:nvPr>
        </p:nvSpPr>
        <p:spPr>
          <a:xfrm>
            <a:off x="1042416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411480"/>
            <a:ext cx="1046988" cy="329184"/>
          </a:xfrm>
          <a:prstGeom prst="rect">
            <a:avLst/>
          </a:prstGeom>
          <a:solidFill>
            <a:srgbClr val="FFFFFF"/>
          </a:solidFill>
          <a:ln w="19050">
            <a:solidFill>
              <a:srgbClr val="072840"/>
            </a:solidFill>
            <a:prstDash val="solid"/>
          </a:ln>
        </p:spPr>
      </p:sp>
      <p:sp>
        <p:nvSpPr>
          <p:cNvPr id="3" name="Text 1"/>
          <p:cNvSpPr txBox="1"/>
          <p:nvPr/>
        </p:nvSpPr>
        <p:spPr>
          <a:xfrm>
            <a:off x="548640" y="411480"/>
            <a:ext cx="1046988" cy="329184"/>
          </a:xfrm>
          <a:prstGeom prst="rect">
            <a:avLst/>
          </a:prstGeom>
          <a:noFill/>
          <a:ln/>
        </p:spPr>
        <p:txBody>
          <a:bodyPr wrap="square" lIns="0" tIns="0" rIns="0" bIns="0" rtlCol="0" anchor="ctr"/>
          <a:lstStyle/>
          <a:p>
            <a:pPr algn="ctr" indent="0" marL="0">
              <a:buNone/>
            </a:pPr>
            <a:r>
              <a:rPr lang="en-US" sz="1100" b="1" spc="100" kern="0" dirty="0">
                <a:solidFill>
                  <a:srgbClr val="072840"/>
                </a:solidFill>
              </a:rPr>
              <a:t>THE BUILD</a:t>
            </a:r>
            <a:endParaRPr lang="en-US" sz="1100" dirty="0"/>
          </a:p>
        </p:txBody>
      </p:sp>
      <p:sp>
        <p:nvSpPr>
          <p:cNvPr id="4" name="Title"/>
          <p:cNvSpPr txBox="1"/>
          <p:nvPr/>
        </p:nvSpPr>
        <p:spPr>
          <a:xfrm>
            <a:off x="548640" y="822960"/>
            <a:ext cx="10241280" cy="777240"/>
          </a:xfrm>
          <a:prstGeom prst="rect">
            <a:avLst/>
          </a:prstGeom>
          <a:noFill/>
          <a:ln/>
        </p:spPr>
        <p:txBody>
          <a:bodyPr wrap="square" lIns="0" tIns="0" rIns="0" bIns="0" rtlCol="0" anchor="ctr"/>
          <a:lstStyle/>
          <a:p>
            <a:pPr indent="0" marL="0">
              <a:buNone/>
            </a:pPr>
            <a:r>
              <a:rPr lang="en-US" sz="3200" dirty="0">
                <a:solidFill>
                  <a:srgbClr val="072840"/>
                </a:solidFill>
                <a:latin typeface="Arial" pitchFamily="34" charset="0"/>
                <a:ea typeface="Arial" pitchFamily="34" charset="-122"/>
                <a:cs typeface="Arial" pitchFamily="34" charset="-120"/>
              </a:rPr>
              <a:t>How it is </a:t>
            </a:r>
            <a:pPr indent="0" marL="0">
              <a:buNone/>
            </a:pPr>
            <a:r>
              <a:rPr lang="en-US" sz="3200" b="1" dirty="0">
                <a:solidFill>
                  <a:srgbClr val="072840"/>
                </a:solidFill>
                <a:latin typeface="Arial" pitchFamily="34" charset="0"/>
                <a:ea typeface="Arial" pitchFamily="34" charset="-122"/>
                <a:cs typeface="Arial" pitchFamily="34" charset="-120"/>
              </a:rPr>
              <a:t>built</a:t>
            </a:r>
            <a:endParaRPr lang="en-US" sz="3200" dirty="0"/>
          </a:p>
        </p:txBody>
      </p:sp>
      <p:sp>
        <p:nvSpPr>
          <p:cNvPr id="5" name="Tier 1"/>
          <p:cNvSpPr/>
          <p:nvPr/>
        </p:nvSpPr>
        <p:spPr>
          <a:xfrm>
            <a:off x="548640" y="1828800"/>
            <a:ext cx="3291840" cy="2606040"/>
          </a:xfrm>
          <a:prstGeom prst="rect">
            <a:avLst/>
          </a:prstGeom>
          <a:solidFill>
            <a:srgbClr val="1E8FCB"/>
          </a:solidFill>
          <a:ln w="12700">
            <a:solidFill>
              <a:srgbClr val="1E8FCB"/>
            </a:solidFill>
            <a:prstDash val="solid"/>
          </a:ln>
          <a:effectLst>
            <a:outerShdw sx="100000" sy="100000" kx="0" ky="0" algn="bl" rotWithShape="0" blurRad="101600" dist="25400" dir="5400000">
              <a:srgbClr val="000000">
                <a:alpha val="12000"/>
              </a:srgbClr>
            </a:outerShdw>
          </a:effectLst>
        </p:spPr>
      </p:sp>
      <p:pic>
        <p:nvPicPr>
          <p:cNvPr id="6" name="Image 0" descr="preencoded.png">    </p:cNvPr>
          <p:cNvPicPr>
            <a:picLocks noChangeAspect="1"/>
          </p:cNvPicPr>
          <p:nvPr/>
        </p:nvPicPr>
        <p:blipFill>
          <a:blip r:embed="rId1"/>
          <a:stretch>
            <a:fillRect/>
          </a:stretch>
        </p:blipFill>
        <p:spPr>
          <a:xfrm>
            <a:off x="822960" y="2057400"/>
            <a:ext cx="548640" cy="548640"/>
          </a:xfrm>
          <a:prstGeom prst="rect">
            <a:avLst/>
          </a:prstGeom>
        </p:spPr>
      </p:pic>
      <p:sp>
        <p:nvSpPr>
          <p:cNvPr id="7" name="Text 4"/>
          <p:cNvSpPr txBox="1"/>
          <p:nvPr/>
        </p:nvSpPr>
        <p:spPr>
          <a:xfrm>
            <a:off x="1508760" y="2103120"/>
            <a:ext cx="2194560" cy="457200"/>
          </a:xfrm>
          <a:prstGeom prst="rect">
            <a:avLst/>
          </a:prstGeom>
          <a:noFill/>
          <a:ln/>
        </p:spPr>
        <p:txBody>
          <a:bodyPr wrap="square" lIns="0" tIns="0" rIns="0" bIns="0" rtlCol="0" anchor="ctr"/>
          <a:lstStyle/>
          <a:p>
            <a:pPr indent="0" marL="0">
              <a:buNone/>
            </a:pPr>
            <a:r>
              <a:rPr lang="en-US" sz="1300" b="1" spc="100" kern="0" dirty="0">
                <a:solidFill>
                  <a:srgbClr val="FFFFFF"/>
                </a:solidFill>
              </a:rPr>
              <a:t>WHAT YOU SEE</a:t>
            </a:r>
            <a:endParaRPr lang="en-US" sz="1300" dirty="0"/>
          </a:p>
        </p:txBody>
      </p:sp>
      <p:sp>
        <p:nvSpPr>
          <p:cNvPr id="8" name="Text 5"/>
          <p:cNvSpPr txBox="1"/>
          <p:nvPr/>
        </p:nvSpPr>
        <p:spPr>
          <a:xfrm>
            <a:off x="822960" y="2743200"/>
            <a:ext cx="2834640" cy="457200"/>
          </a:xfrm>
          <a:prstGeom prst="rect">
            <a:avLst/>
          </a:prstGeom>
          <a:noFill/>
          <a:ln/>
        </p:spPr>
        <p:txBody>
          <a:bodyPr wrap="square" lIns="0" tIns="0" rIns="0" bIns="0" rtlCol="0" anchor="t"/>
          <a:lstStyle/>
          <a:p>
            <a:pPr indent="0" marL="0">
              <a:buNone/>
            </a:pPr>
            <a:r>
              <a:rPr lang="en-US" sz="1900" b="1" dirty="0">
                <a:solidFill>
                  <a:srgbClr val="FFFFFF"/>
                </a:solidFill>
              </a:rPr>
              <a:t>React web app</a:t>
            </a:r>
            <a:endParaRPr lang="en-US" sz="1900" dirty="0"/>
          </a:p>
        </p:txBody>
      </p:sp>
      <p:sp>
        <p:nvSpPr>
          <p:cNvPr id="9" name="Text 6"/>
          <p:cNvSpPr txBox="1"/>
          <p:nvPr/>
        </p:nvSpPr>
        <p:spPr>
          <a:xfrm>
            <a:off x="822960" y="3246120"/>
            <a:ext cx="2834640" cy="1097280"/>
          </a:xfrm>
          <a:prstGeom prst="rect">
            <a:avLst/>
          </a:prstGeom>
          <a:noFill/>
          <a:ln/>
        </p:spPr>
        <p:txBody>
          <a:bodyPr wrap="square" lIns="0" tIns="0" rIns="0" bIns="0" rtlCol="0" anchor="t"/>
          <a:lstStyle/>
          <a:p>
            <a:pPr indent="0" marL="0">
              <a:buNone/>
            </a:pPr>
            <a:r>
              <a:rPr lang="en-US" sz="1400" dirty="0">
                <a:solidFill>
                  <a:srgbClr val="FFFFFF"/>
                </a:solidFill>
              </a:rPr>
              <a:t>The pages in the browser: log in, book a slot, my bookings, lecturer slots</a:t>
            </a:r>
            <a:endParaRPr lang="en-US" sz="1400" dirty="0"/>
          </a:p>
        </p:txBody>
      </p:sp>
      <p:sp>
        <p:nvSpPr>
          <p:cNvPr id="10" name="Text 7"/>
          <p:cNvSpPr txBox="1"/>
          <p:nvPr/>
        </p:nvSpPr>
        <p:spPr>
          <a:xfrm>
            <a:off x="3840480" y="2743200"/>
            <a:ext cx="594360" cy="548640"/>
          </a:xfrm>
          <a:prstGeom prst="rect">
            <a:avLst/>
          </a:prstGeom>
          <a:noFill/>
          <a:ln/>
        </p:spPr>
        <p:txBody>
          <a:bodyPr wrap="square" lIns="0" tIns="0" rIns="0" bIns="0" rtlCol="0" anchor="ctr"/>
          <a:lstStyle/>
          <a:p>
            <a:pPr algn="ctr" indent="0" marL="0">
              <a:buNone/>
            </a:pPr>
            <a:r>
              <a:rPr lang="en-US" sz="3400" b="1" dirty="0">
                <a:solidFill>
                  <a:srgbClr val="5B6B7B"/>
                </a:solidFill>
              </a:rPr>
              <a:t>→</a:t>
            </a:r>
            <a:endParaRPr lang="en-US" sz="3400" dirty="0"/>
          </a:p>
        </p:txBody>
      </p:sp>
      <p:sp>
        <p:nvSpPr>
          <p:cNvPr id="11" name="Tier 2"/>
          <p:cNvSpPr/>
          <p:nvPr/>
        </p:nvSpPr>
        <p:spPr>
          <a:xfrm>
            <a:off x="4434840" y="1828800"/>
            <a:ext cx="3291840" cy="2606040"/>
          </a:xfrm>
          <a:prstGeom prst="rect">
            <a:avLst/>
          </a:prstGeom>
          <a:solidFill>
            <a:srgbClr val="072840"/>
          </a:solidFill>
          <a:ln w="12700">
            <a:solidFill>
              <a:srgbClr val="072840"/>
            </a:solidFill>
            <a:prstDash val="solid"/>
          </a:ln>
          <a:effectLst>
            <a:outerShdw sx="100000" sy="100000" kx="0" ky="0" algn="bl" rotWithShape="0" blurRad="101600" dist="25400" dir="5400000">
              <a:srgbClr val="000000">
                <a:alpha val="12000"/>
              </a:srgbClr>
            </a:outerShdw>
          </a:effectLst>
        </p:spPr>
      </p:sp>
      <p:pic>
        <p:nvPicPr>
          <p:cNvPr id="12" name="Image 1" descr="preencoded.png">    </p:cNvPr>
          <p:cNvPicPr>
            <a:picLocks noChangeAspect="1"/>
          </p:cNvPicPr>
          <p:nvPr/>
        </p:nvPicPr>
        <p:blipFill>
          <a:blip r:embed="rId2"/>
          <a:stretch>
            <a:fillRect/>
          </a:stretch>
        </p:blipFill>
        <p:spPr>
          <a:xfrm>
            <a:off x="4709160" y="2057400"/>
            <a:ext cx="548640" cy="548640"/>
          </a:xfrm>
          <a:prstGeom prst="rect">
            <a:avLst/>
          </a:prstGeom>
        </p:spPr>
      </p:pic>
      <p:sp>
        <p:nvSpPr>
          <p:cNvPr id="13" name="Text 9"/>
          <p:cNvSpPr txBox="1"/>
          <p:nvPr/>
        </p:nvSpPr>
        <p:spPr>
          <a:xfrm>
            <a:off x="5394960" y="2103120"/>
            <a:ext cx="2194560" cy="457200"/>
          </a:xfrm>
          <a:prstGeom prst="rect">
            <a:avLst/>
          </a:prstGeom>
          <a:noFill/>
          <a:ln/>
        </p:spPr>
        <p:txBody>
          <a:bodyPr wrap="square" lIns="0" tIns="0" rIns="0" bIns="0" rtlCol="0" anchor="ctr"/>
          <a:lstStyle/>
          <a:p>
            <a:pPr indent="0" marL="0">
              <a:buNone/>
            </a:pPr>
            <a:r>
              <a:rPr lang="en-US" sz="1300" b="1" spc="100" kern="0" dirty="0">
                <a:solidFill>
                  <a:srgbClr val="FFFFFF"/>
                </a:solidFill>
              </a:rPr>
              <a:t>THE RULES</a:t>
            </a:r>
            <a:endParaRPr lang="en-US" sz="1300" dirty="0"/>
          </a:p>
        </p:txBody>
      </p:sp>
      <p:sp>
        <p:nvSpPr>
          <p:cNvPr id="14" name="Text 10"/>
          <p:cNvSpPr txBox="1"/>
          <p:nvPr/>
        </p:nvSpPr>
        <p:spPr>
          <a:xfrm>
            <a:off x="4709160" y="2743200"/>
            <a:ext cx="2834640" cy="457200"/>
          </a:xfrm>
          <a:prstGeom prst="rect">
            <a:avLst/>
          </a:prstGeom>
          <a:noFill/>
          <a:ln/>
        </p:spPr>
        <p:txBody>
          <a:bodyPr wrap="square" lIns="0" tIns="0" rIns="0" bIns="0" rtlCol="0" anchor="t"/>
          <a:lstStyle/>
          <a:p>
            <a:pPr indent="0" marL="0">
              <a:buNone/>
            </a:pPr>
            <a:r>
              <a:rPr lang="en-US" sz="1900" b="1" dirty="0">
                <a:solidFill>
                  <a:srgbClr val="FFFFFF"/>
                </a:solidFill>
              </a:rPr>
              <a:t>Node.js and Express API</a:t>
            </a:r>
            <a:endParaRPr lang="en-US" sz="1900" dirty="0"/>
          </a:p>
        </p:txBody>
      </p:sp>
      <p:sp>
        <p:nvSpPr>
          <p:cNvPr id="15" name="Text 11"/>
          <p:cNvSpPr txBox="1"/>
          <p:nvPr/>
        </p:nvSpPr>
        <p:spPr>
          <a:xfrm>
            <a:off x="4709160" y="3246120"/>
            <a:ext cx="2834640" cy="1097280"/>
          </a:xfrm>
          <a:prstGeom prst="rect">
            <a:avLst/>
          </a:prstGeom>
          <a:noFill/>
          <a:ln/>
        </p:spPr>
        <p:txBody>
          <a:bodyPr wrap="square" lIns="0" tIns="0" rIns="0" bIns="0" rtlCol="0" anchor="t"/>
          <a:lstStyle/>
          <a:p>
            <a:pPr indent="0" marL="0">
              <a:buNone/>
            </a:pPr>
            <a:r>
              <a:rPr lang="en-US" sz="1400" dirty="0">
                <a:solidFill>
                  <a:srgbClr val="FFFFFF"/>
                </a:solidFill>
              </a:rPr>
              <a:t>Checks who you are and what you may do, then applies the booking rules</a:t>
            </a:r>
            <a:endParaRPr lang="en-US" sz="1400" dirty="0"/>
          </a:p>
        </p:txBody>
      </p:sp>
      <p:sp>
        <p:nvSpPr>
          <p:cNvPr id="16" name="Text 12"/>
          <p:cNvSpPr txBox="1"/>
          <p:nvPr/>
        </p:nvSpPr>
        <p:spPr>
          <a:xfrm>
            <a:off x="7726680" y="2743200"/>
            <a:ext cx="594360" cy="548640"/>
          </a:xfrm>
          <a:prstGeom prst="rect">
            <a:avLst/>
          </a:prstGeom>
          <a:noFill/>
          <a:ln/>
        </p:spPr>
        <p:txBody>
          <a:bodyPr wrap="square" lIns="0" tIns="0" rIns="0" bIns="0" rtlCol="0" anchor="ctr"/>
          <a:lstStyle/>
          <a:p>
            <a:pPr algn="ctr" indent="0" marL="0">
              <a:buNone/>
            </a:pPr>
            <a:r>
              <a:rPr lang="en-US" sz="3400" b="1" dirty="0">
                <a:solidFill>
                  <a:srgbClr val="5B6B7B"/>
                </a:solidFill>
              </a:rPr>
              <a:t>→</a:t>
            </a:r>
            <a:endParaRPr lang="en-US" sz="3400" dirty="0"/>
          </a:p>
        </p:txBody>
      </p:sp>
      <p:sp>
        <p:nvSpPr>
          <p:cNvPr id="17" name="Tier 3"/>
          <p:cNvSpPr/>
          <p:nvPr/>
        </p:nvSpPr>
        <p:spPr>
          <a:xfrm>
            <a:off x="8321040" y="1828800"/>
            <a:ext cx="3291840" cy="2606040"/>
          </a:xfrm>
          <a:prstGeom prst="rect">
            <a:avLst/>
          </a:prstGeom>
          <a:solidFill>
            <a:srgbClr val="8B1A2B"/>
          </a:solidFill>
          <a:ln w="12700">
            <a:solidFill>
              <a:srgbClr val="8B1A2B"/>
            </a:solidFill>
            <a:prstDash val="solid"/>
          </a:ln>
          <a:effectLst>
            <a:outerShdw sx="100000" sy="100000" kx="0" ky="0" algn="bl" rotWithShape="0" blurRad="101600" dist="25400" dir="5400000">
              <a:srgbClr val="000000">
                <a:alpha val="12000"/>
              </a:srgbClr>
            </a:outerShdw>
          </a:effectLst>
        </p:spPr>
      </p:sp>
      <p:pic>
        <p:nvPicPr>
          <p:cNvPr id="18" name="Image 2" descr="preencoded.png">    </p:cNvPr>
          <p:cNvPicPr>
            <a:picLocks noChangeAspect="1"/>
          </p:cNvPicPr>
          <p:nvPr/>
        </p:nvPicPr>
        <p:blipFill>
          <a:blip r:embed="rId3"/>
          <a:stretch>
            <a:fillRect/>
          </a:stretch>
        </p:blipFill>
        <p:spPr>
          <a:xfrm>
            <a:off x="8595360" y="2057400"/>
            <a:ext cx="548640" cy="548640"/>
          </a:xfrm>
          <a:prstGeom prst="rect">
            <a:avLst/>
          </a:prstGeom>
        </p:spPr>
      </p:pic>
      <p:sp>
        <p:nvSpPr>
          <p:cNvPr id="19" name="Text 14"/>
          <p:cNvSpPr txBox="1"/>
          <p:nvPr/>
        </p:nvSpPr>
        <p:spPr>
          <a:xfrm>
            <a:off x="9281160" y="2103120"/>
            <a:ext cx="2194560" cy="457200"/>
          </a:xfrm>
          <a:prstGeom prst="rect">
            <a:avLst/>
          </a:prstGeom>
          <a:noFill/>
          <a:ln/>
        </p:spPr>
        <p:txBody>
          <a:bodyPr wrap="square" lIns="0" tIns="0" rIns="0" bIns="0" rtlCol="0" anchor="ctr"/>
          <a:lstStyle/>
          <a:p>
            <a:pPr indent="0" marL="0">
              <a:buNone/>
            </a:pPr>
            <a:r>
              <a:rPr lang="en-US" sz="1300" b="1" spc="100" kern="0" dirty="0">
                <a:solidFill>
                  <a:srgbClr val="FFFFFF"/>
                </a:solidFill>
              </a:rPr>
              <a:t>THE DATA</a:t>
            </a:r>
            <a:endParaRPr lang="en-US" sz="1300" dirty="0"/>
          </a:p>
        </p:txBody>
      </p:sp>
      <p:sp>
        <p:nvSpPr>
          <p:cNvPr id="20" name="Text 15"/>
          <p:cNvSpPr txBox="1"/>
          <p:nvPr/>
        </p:nvSpPr>
        <p:spPr>
          <a:xfrm>
            <a:off x="8595360" y="2743200"/>
            <a:ext cx="2834640" cy="457200"/>
          </a:xfrm>
          <a:prstGeom prst="rect">
            <a:avLst/>
          </a:prstGeom>
          <a:noFill/>
          <a:ln/>
        </p:spPr>
        <p:txBody>
          <a:bodyPr wrap="square" lIns="0" tIns="0" rIns="0" bIns="0" rtlCol="0" anchor="t"/>
          <a:lstStyle/>
          <a:p>
            <a:pPr indent="0" marL="0">
              <a:buNone/>
            </a:pPr>
            <a:r>
              <a:rPr lang="en-US" sz="1900" b="1" dirty="0">
                <a:solidFill>
                  <a:srgbClr val="FFFFFF"/>
                </a:solidFill>
              </a:rPr>
              <a:t>MySQL database</a:t>
            </a:r>
            <a:endParaRPr lang="en-US" sz="1900" dirty="0"/>
          </a:p>
        </p:txBody>
      </p:sp>
      <p:sp>
        <p:nvSpPr>
          <p:cNvPr id="21" name="Text 16"/>
          <p:cNvSpPr txBox="1"/>
          <p:nvPr/>
        </p:nvSpPr>
        <p:spPr>
          <a:xfrm>
            <a:off x="8595360" y="3246120"/>
            <a:ext cx="2834640" cy="1097280"/>
          </a:xfrm>
          <a:prstGeom prst="rect">
            <a:avLst/>
          </a:prstGeom>
          <a:noFill/>
          <a:ln/>
        </p:spPr>
        <p:txBody>
          <a:bodyPr wrap="square" lIns="0" tIns="0" rIns="0" bIns="0" rtlCol="0" anchor="t"/>
          <a:lstStyle/>
          <a:p>
            <a:pPr indent="0" marL="0">
              <a:buNone/>
            </a:pPr>
            <a:r>
              <a:rPr lang="en-US" sz="1400" dirty="0">
                <a:solidFill>
                  <a:srgbClr val="FFFFFF"/>
                </a:solidFill>
              </a:rPr>
              <a:t>Stores users, lecturers, slots, bookings and emails in five tables</a:t>
            </a:r>
            <a:endParaRPr lang="en-US" sz="1400" dirty="0"/>
          </a:p>
        </p:txBody>
      </p:sp>
      <p:sp>
        <p:nvSpPr>
          <p:cNvPr id="22" name="Support card 1"/>
          <p:cNvSpPr/>
          <p:nvPr/>
        </p:nvSpPr>
        <p:spPr>
          <a:xfrm>
            <a:off x="548640" y="4617720"/>
            <a:ext cx="5440680" cy="1554480"/>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23" name="Shape 18"/>
          <p:cNvSpPr/>
          <p:nvPr/>
        </p:nvSpPr>
        <p:spPr>
          <a:xfrm>
            <a:off x="777240" y="4983480"/>
            <a:ext cx="731520" cy="731520"/>
          </a:xfrm>
          <a:prstGeom prst="ellipse">
            <a:avLst/>
          </a:prstGeom>
          <a:solidFill>
            <a:srgbClr val="B36BC4"/>
          </a:solidFill>
          <a:ln w="12700">
            <a:solidFill>
              <a:srgbClr val="B36BC4"/>
            </a:solidFill>
            <a:prstDash val="solid"/>
          </a:ln>
        </p:spPr>
      </p:sp>
      <p:pic>
        <p:nvPicPr>
          <p:cNvPr id="24" name="Image 3" descr="preencoded.png">    </p:cNvPr>
          <p:cNvPicPr>
            <a:picLocks noChangeAspect="1"/>
          </p:cNvPicPr>
          <p:nvPr/>
        </p:nvPicPr>
        <p:blipFill>
          <a:blip r:embed="rId4"/>
          <a:stretch>
            <a:fillRect/>
          </a:stretch>
        </p:blipFill>
        <p:spPr>
          <a:xfrm>
            <a:off x="960120" y="5166360"/>
            <a:ext cx="365760" cy="365760"/>
          </a:xfrm>
          <a:prstGeom prst="rect">
            <a:avLst/>
          </a:prstGeom>
        </p:spPr>
      </p:pic>
      <p:sp>
        <p:nvSpPr>
          <p:cNvPr id="25" name="Text 19"/>
          <p:cNvSpPr txBox="1"/>
          <p:nvPr/>
        </p:nvSpPr>
        <p:spPr>
          <a:xfrm>
            <a:off x="1691640" y="4663440"/>
            <a:ext cx="4160520" cy="1463040"/>
          </a:xfrm>
          <a:prstGeom prst="rect">
            <a:avLst/>
          </a:prstGeom>
          <a:noFill/>
          <a:ln/>
        </p:spPr>
        <p:txBody>
          <a:bodyPr wrap="square" lIns="0" tIns="0" rIns="0" bIns="0" rtlCol="0" anchor="ctr"/>
          <a:lstStyle/>
          <a:p>
            <a:pPr indent="0" marL="0">
              <a:buNone/>
            </a:pPr>
            <a:r>
              <a:rPr lang="en-US" sz="1700" b="1" dirty="0">
                <a:solidFill>
                  <a:srgbClr val="072840"/>
                </a:solidFill>
              </a:rPr>
              <a:t>Emails</a:t>
            </a:r>
            <a:endParaRPr lang="en-US" sz="1700" dirty="0"/>
          </a:p>
          <a:p>
            <a:pPr indent="0" marL="0">
              <a:buNone/>
            </a:pPr>
            <a:r>
              <a:rPr lang="en-US" sz="1400" dirty="0">
                <a:solidFill>
                  <a:srgbClr val="16232F"/>
                </a:solidFill>
              </a:rPr>
              <a:t>Nodemailer sends the confirmation. A timer job checks every minute and sends reminders 60 minutes before.</a:t>
            </a:r>
            <a:endParaRPr lang="en-US" sz="1700" dirty="0"/>
          </a:p>
        </p:txBody>
      </p:sp>
      <p:sp>
        <p:nvSpPr>
          <p:cNvPr id="26" name="Support card 2"/>
          <p:cNvSpPr/>
          <p:nvPr/>
        </p:nvSpPr>
        <p:spPr>
          <a:xfrm>
            <a:off x="6172200" y="4617720"/>
            <a:ext cx="5440680" cy="1554480"/>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27" name="Shape 21"/>
          <p:cNvSpPr/>
          <p:nvPr/>
        </p:nvSpPr>
        <p:spPr>
          <a:xfrm>
            <a:off x="6400800" y="4983480"/>
            <a:ext cx="731520" cy="731520"/>
          </a:xfrm>
          <a:prstGeom prst="ellipse">
            <a:avLst/>
          </a:prstGeom>
          <a:solidFill>
            <a:srgbClr val="12506F"/>
          </a:solidFill>
          <a:ln w="12700">
            <a:solidFill>
              <a:srgbClr val="12506F"/>
            </a:solidFill>
            <a:prstDash val="solid"/>
          </a:ln>
        </p:spPr>
      </p:sp>
      <p:pic>
        <p:nvPicPr>
          <p:cNvPr id="28" name="Image 4" descr="preencoded.png">    </p:cNvPr>
          <p:cNvPicPr>
            <a:picLocks noChangeAspect="1"/>
          </p:cNvPicPr>
          <p:nvPr/>
        </p:nvPicPr>
        <p:blipFill>
          <a:blip r:embed="rId5"/>
          <a:stretch>
            <a:fillRect/>
          </a:stretch>
        </p:blipFill>
        <p:spPr>
          <a:xfrm>
            <a:off x="6583680" y="5166360"/>
            <a:ext cx="365760" cy="365760"/>
          </a:xfrm>
          <a:prstGeom prst="rect">
            <a:avLst/>
          </a:prstGeom>
        </p:spPr>
      </p:pic>
      <p:sp>
        <p:nvSpPr>
          <p:cNvPr id="29" name="Text 22"/>
          <p:cNvSpPr txBox="1"/>
          <p:nvPr/>
        </p:nvSpPr>
        <p:spPr>
          <a:xfrm>
            <a:off x="7315200" y="4663440"/>
            <a:ext cx="4160520" cy="1463040"/>
          </a:xfrm>
          <a:prstGeom prst="rect">
            <a:avLst/>
          </a:prstGeom>
          <a:noFill/>
          <a:ln/>
        </p:spPr>
        <p:txBody>
          <a:bodyPr wrap="square" lIns="0" tIns="0" rIns="0" bIns="0" rtlCol="0" anchor="ctr"/>
          <a:lstStyle/>
          <a:p>
            <a:pPr indent="0" marL="0">
              <a:buNone/>
            </a:pPr>
            <a:r>
              <a:rPr lang="en-US" sz="1700" b="1" dirty="0">
                <a:solidFill>
                  <a:srgbClr val="072840"/>
                </a:solidFill>
              </a:rPr>
              <a:t>Security</a:t>
            </a:r>
            <a:endParaRPr lang="en-US" sz="1700" dirty="0"/>
          </a:p>
          <a:p>
            <a:pPr indent="0" marL="0">
              <a:buNone/>
            </a:pPr>
            <a:r>
              <a:rPr lang="en-US" sz="1400" dirty="0">
                <a:solidFill>
                  <a:srgbClr val="16232F"/>
                </a:solidFill>
              </a:rPr>
              <a:t>Passwords are stored scrambled (bcrypt). After logging in, each request carries a token that proves who you are.</a:t>
            </a:r>
            <a:endParaRPr lang="en-US" sz="1700" dirty="0"/>
          </a:p>
        </p:txBody>
      </p:sp>
      <p:sp>
        <p:nvSpPr>
          <p:cNvPr id="25" name="Slide Number Placeholder 0"/>
          <p:cNvSpPr>
            <a:spLocks noGrp="1"/>
          </p:cNvSpPr>
          <p:nvPr>
            <p:ph type="sldNum" sz="quarter" idx="4294967295"/>
          </p:nvPr>
        </p:nvSpPr>
        <p:spPr>
          <a:xfrm>
            <a:off x="1042416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411480"/>
            <a:ext cx="1335024" cy="329184"/>
          </a:xfrm>
          <a:prstGeom prst="rect">
            <a:avLst/>
          </a:prstGeom>
          <a:solidFill>
            <a:srgbClr val="FFFFFF"/>
          </a:solidFill>
          <a:ln w="19050">
            <a:solidFill>
              <a:srgbClr val="072840"/>
            </a:solidFill>
            <a:prstDash val="solid"/>
          </a:ln>
        </p:spPr>
      </p:sp>
      <p:sp>
        <p:nvSpPr>
          <p:cNvPr id="3" name="Text 1"/>
          <p:cNvSpPr txBox="1"/>
          <p:nvPr/>
        </p:nvSpPr>
        <p:spPr>
          <a:xfrm>
            <a:off x="548640" y="411480"/>
            <a:ext cx="1335024" cy="329184"/>
          </a:xfrm>
          <a:prstGeom prst="rect">
            <a:avLst/>
          </a:prstGeom>
          <a:noFill/>
          <a:ln/>
        </p:spPr>
        <p:txBody>
          <a:bodyPr wrap="square" lIns="0" tIns="0" rIns="0" bIns="0" rtlCol="0" anchor="ctr"/>
          <a:lstStyle/>
          <a:p>
            <a:pPr algn="ctr" indent="0" marL="0">
              <a:buNone/>
            </a:pPr>
            <a:r>
              <a:rPr lang="en-US" sz="1100" b="1" spc="100" kern="0" dirty="0">
                <a:solidFill>
                  <a:srgbClr val="072840"/>
                </a:solidFill>
              </a:rPr>
              <a:t>THE SOLUTION</a:t>
            </a:r>
            <a:endParaRPr lang="en-US" sz="1100" dirty="0"/>
          </a:p>
        </p:txBody>
      </p:sp>
      <p:sp>
        <p:nvSpPr>
          <p:cNvPr id="4" name="Title"/>
          <p:cNvSpPr txBox="1"/>
          <p:nvPr/>
        </p:nvSpPr>
        <p:spPr>
          <a:xfrm>
            <a:off x="548640" y="822960"/>
            <a:ext cx="10241280" cy="777240"/>
          </a:xfrm>
          <a:prstGeom prst="rect">
            <a:avLst/>
          </a:prstGeom>
          <a:noFill/>
          <a:ln/>
        </p:spPr>
        <p:txBody>
          <a:bodyPr wrap="square" lIns="0" tIns="0" rIns="0" bIns="0" rtlCol="0" anchor="ctr"/>
          <a:lstStyle/>
          <a:p>
            <a:pPr indent="0" marL="0">
              <a:buNone/>
            </a:pPr>
            <a:r>
              <a:rPr lang="en-US" sz="3200" dirty="0">
                <a:solidFill>
                  <a:srgbClr val="072840"/>
                </a:solidFill>
                <a:latin typeface="Arial" pitchFamily="34" charset="0"/>
                <a:ea typeface="Arial" pitchFamily="34" charset="-122"/>
                <a:cs typeface="Arial" pitchFamily="34" charset="-120"/>
              </a:rPr>
              <a:t>One booking, </a:t>
            </a:r>
            <a:pPr indent="0" marL="0">
              <a:buNone/>
            </a:pPr>
            <a:r>
              <a:rPr lang="en-US" sz="3200" b="1" dirty="0">
                <a:solidFill>
                  <a:srgbClr val="072840"/>
                </a:solidFill>
                <a:latin typeface="Arial" pitchFamily="34" charset="0"/>
                <a:ea typeface="Arial" pitchFamily="34" charset="-122"/>
                <a:cs typeface="Arial" pitchFamily="34" charset="-120"/>
              </a:rPr>
              <a:t>step by step</a:t>
            </a:r>
            <a:endParaRPr lang="en-US" sz="3200" dirty="0"/>
          </a:p>
        </p:txBody>
      </p:sp>
      <p:sp>
        <p:nvSpPr>
          <p:cNvPr id="5" name="Step 1"/>
          <p:cNvSpPr/>
          <p:nvPr/>
        </p:nvSpPr>
        <p:spPr>
          <a:xfrm>
            <a:off x="548640" y="2194560"/>
            <a:ext cx="1700784" cy="3017520"/>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987552" y="2468880"/>
            <a:ext cx="822960" cy="822960"/>
          </a:xfrm>
          <a:prstGeom prst="ellipse">
            <a:avLst/>
          </a:prstGeom>
          <a:solidFill>
            <a:srgbClr val="8B1A2B"/>
          </a:solidFill>
          <a:ln w="12700">
            <a:solidFill>
              <a:srgbClr val="8B1A2B"/>
            </a:solidFill>
            <a:prstDash val="solid"/>
          </a:ln>
        </p:spPr>
      </p:sp>
      <p:pic>
        <p:nvPicPr>
          <p:cNvPr id="7" name="Image 0" descr="preencoded.png">    </p:cNvPr>
          <p:cNvPicPr>
            <a:picLocks noChangeAspect="1"/>
          </p:cNvPicPr>
          <p:nvPr/>
        </p:nvPicPr>
        <p:blipFill>
          <a:blip r:embed="rId1"/>
          <a:stretch>
            <a:fillRect/>
          </a:stretch>
        </p:blipFill>
        <p:spPr>
          <a:xfrm>
            <a:off x="1193292" y="2674620"/>
            <a:ext cx="411480" cy="411480"/>
          </a:xfrm>
          <a:prstGeom prst="rect">
            <a:avLst/>
          </a:prstGeom>
        </p:spPr>
      </p:pic>
      <p:sp>
        <p:nvSpPr>
          <p:cNvPr id="8" name="Text 5"/>
          <p:cNvSpPr txBox="1"/>
          <p:nvPr/>
        </p:nvSpPr>
        <p:spPr>
          <a:xfrm>
            <a:off x="685800" y="3474720"/>
            <a:ext cx="1426464" cy="320040"/>
          </a:xfrm>
          <a:prstGeom prst="rect">
            <a:avLst/>
          </a:prstGeom>
          <a:noFill/>
          <a:ln/>
        </p:spPr>
        <p:txBody>
          <a:bodyPr wrap="square" lIns="0" tIns="0" rIns="0" bIns="0" rtlCol="0" anchor="t"/>
          <a:lstStyle/>
          <a:p>
            <a:pPr algn="ctr" indent="0" marL="0">
              <a:buNone/>
            </a:pPr>
            <a:r>
              <a:rPr lang="en-US" sz="1200" b="1" spc="100" kern="0" dirty="0">
                <a:solidFill>
                  <a:srgbClr val="5B6B7B"/>
                </a:solidFill>
              </a:rPr>
              <a:t>STEP 1</a:t>
            </a:r>
            <a:endParaRPr lang="en-US" sz="1200" dirty="0"/>
          </a:p>
        </p:txBody>
      </p:sp>
      <p:sp>
        <p:nvSpPr>
          <p:cNvPr id="9" name="Text 6"/>
          <p:cNvSpPr txBox="1"/>
          <p:nvPr/>
        </p:nvSpPr>
        <p:spPr>
          <a:xfrm>
            <a:off x="685800" y="3840480"/>
            <a:ext cx="1426464" cy="1280160"/>
          </a:xfrm>
          <a:prstGeom prst="rect">
            <a:avLst/>
          </a:prstGeom>
          <a:noFill/>
          <a:ln/>
        </p:spPr>
        <p:txBody>
          <a:bodyPr wrap="square" lIns="0" tIns="0" rIns="0" bIns="0" rtlCol="0" anchor="t"/>
          <a:lstStyle/>
          <a:p>
            <a:pPr algn="ctr" indent="0" marL="0">
              <a:buNone/>
            </a:pPr>
            <a:r>
              <a:rPr lang="en-US" sz="1500" b="1" dirty="0">
                <a:solidFill>
                  <a:srgbClr val="072840"/>
                </a:solidFill>
              </a:rPr>
              <a:t>Lecturer publishes a free time</a:t>
            </a:r>
            <a:endParaRPr lang="en-US" sz="1500" dirty="0"/>
          </a:p>
        </p:txBody>
      </p:sp>
      <p:sp>
        <p:nvSpPr>
          <p:cNvPr id="10" name="Step 2"/>
          <p:cNvSpPr/>
          <p:nvPr/>
        </p:nvSpPr>
        <p:spPr>
          <a:xfrm>
            <a:off x="2432304" y="2194560"/>
            <a:ext cx="1700784" cy="3017520"/>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11" name="Shape 8"/>
          <p:cNvSpPr/>
          <p:nvPr/>
        </p:nvSpPr>
        <p:spPr>
          <a:xfrm>
            <a:off x="2871216" y="2468880"/>
            <a:ext cx="822960" cy="822960"/>
          </a:xfrm>
          <a:prstGeom prst="ellipse">
            <a:avLst/>
          </a:prstGeom>
          <a:solidFill>
            <a:srgbClr val="1E8FCB"/>
          </a:solidFill>
          <a:ln w="12700">
            <a:solidFill>
              <a:srgbClr val="1E8FCB"/>
            </a:solidFill>
            <a:prstDash val="solid"/>
          </a:ln>
        </p:spPr>
      </p:sp>
      <p:pic>
        <p:nvPicPr>
          <p:cNvPr id="12" name="Image 1" descr="preencoded.png">    </p:cNvPr>
          <p:cNvPicPr>
            <a:picLocks noChangeAspect="1"/>
          </p:cNvPicPr>
          <p:nvPr/>
        </p:nvPicPr>
        <p:blipFill>
          <a:blip r:embed="rId2"/>
          <a:stretch>
            <a:fillRect/>
          </a:stretch>
        </p:blipFill>
        <p:spPr>
          <a:xfrm>
            <a:off x="3076956" y="2674620"/>
            <a:ext cx="411480" cy="411480"/>
          </a:xfrm>
          <a:prstGeom prst="rect">
            <a:avLst/>
          </a:prstGeom>
        </p:spPr>
      </p:pic>
      <p:sp>
        <p:nvSpPr>
          <p:cNvPr id="13" name="Text 9"/>
          <p:cNvSpPr txBox="1"/>
          <p:nvPr/>
        </p:nvSpPr>
        <p:spPr>
          <a:xfrm>
            <a:off x="2569464" y="3474720"/>
            <a:ext cx="1426464" cy="320040"/>
          </a:xfrm>
          <a:prstGeom prst="rect">
            <a:avLst/>
          </a:prstGeom>
          <a:noFill/>
          <a:ln/>
        </p:spPr>
        <p:txBody>
          <a:bodyPr wrap="square" lIns="0" tIns="0" rIns="0" bIns="0" rtlCol="0" anchor="t"/>
          <a:lstStyle/>
          <a:p>
            <a:pPr algn="ctr" indent="0" marL="0">
              <a:buNone/>
            </a:pPr>
            <a:r>
              <a:rPr lang="en-US" sz="1200" b="1" spc="100" kern="0" dirty="0">
                <a:solidFill>
                  <a:srgbClr val="5B6B7B"/>
                </a:solidFill>
              </a:rPr>
              <a:t>STEP 2</a:t>
            </a:r>
            <a:endParaRPr lang="en-US" sz="1200" dirty="0"/>
          </a:p>
        </p:txBody>
      </p:sp>
      <p:sp>
        <p:nvSpPr>
          <p:cNvPr id="14" name="Text 10"/>
          <p:cNvSpPr txBox="1"/>
          <p:nvPr/>
        </p:nvSpPr>
        <p:spPr>
          <a:xfrm>
            <a:off x="2569464" y="3840480"/>
            <a:ext cx="1426464" cy="1280160"/>
          </a:xfrm>
          <a:prstGeom prst="rect">
            <a:avLst/>
          </a:prstGeom>
          <a:noFill/>
          <a:ln/>
        </p:spPr>
        <p:txBody>
          <a:bodyPr wrap="square" lIns="0" tIns="0" rIns="0" bIns="0" rtlCol="0" anchor="t"/>
          <a:lstStyle/>
          <a:p>
            <a:pPr algn="ctr" indent="0" marL="0">
              <a:buNone/>
            </a:pPr>
            <a:r>
              <a:rPr lang="en-US" sz="1500" b="1" dirty="0">
                <a:solidFill>
                  <a:srgbClr val="072840"/>
                </a:solidFill>
              </a:rPr>
              <a:t>Student picks a lecturer and an open time</a:t>
            </a:r>
            <a:endParaRPr lang="en-US" sz="1500" dirty="0"/>
          </a:p>
        </p:txBody>
      </p:sp>
      <p:sp>
        <p:nvSpPr>
          <p:cNvPr id="15" name="Step 3"/>
          <p:cNvSpPr/>
          <p:nvPr/>
        </p:nvSpPr>
        <p:spPr>
          <a:xfrm>
            <a:off x="4315968" y="2194560"/>
            <a:ext cx="1700784" cy="3017520"/>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16" name="Shape 12"/>
          <p:cNvSpPr/>
          <p:nvPr/>
        </p:nvSpPr>
        <p:spPr>
          <a:xfrm>
            <a:off x="4754880" y="2468880"/>
            <a:ext cx="822960" cy="822960"/>
          </a:xfrm>
          <a:prstGeom prst="ellipse">
            <a:avLst/>
          </a:prstGeom>
          <a:solidFill>
            <a:srgbClr val="12506F"/>
          </a:solidFill>
          <a:ln w="12700">
            <a:solidFill>
              <a:srgbClr val="12506F"/>
            </a:solidFill>
            <a:prstDash val="solid"/>
          </a:ln>
        </p:spPr>
      </p:sp>
      <p:pic>
        <p:nvPicPr>
          <p:cNvPr id="17" name="Image 2" descr="preencoded.png">    </p:cNvPr>
          <p:cNvPicPr>
            <a:picLocks noChangeAspect="1"/>
          </p:cNvPicPr>
          <p:nvPr/>
        </p:nvPicPr>
        <p:blipFill>
          <a:blip r:embed="rId3"/>
          <a:stretch>
            <a:fillRect/>
          </a:stretch>
        </p:blipFill>
        <p:spPr>
          <a:xfrm>
            <a:off x="4960620" y="2674620"/>
            <a:ext cx="411480" cy="411480"/>
          </a:xfrm>
          <a:prstGeom prst="rect">
            <a:avLst/>
          </a:prstGeom>
        </p:spPr>
      </p:pic>
      <p:sp>
        <p:nvSpPr>
          <p:cNvPr id="18" name="Text 13"/>
          <p:cNvSpPr txBox="1"/>
          <p:nvPr/>
        </p:nvSpPr>
        <p:spPr>
          <a:xfrm>
            <a:off x="4453128" y="3474720"/>
            <a:ext cx="1426464" cy="320040"/>
          </a:xfrm>
          <a:prstGeom prst="rect">
            <a:avLst/>
          </a:prstGeom>
          <a:noFill/>
          <a:ln/>
        </p:spPr>
        <p:txBody>
          <a:bodyPr wrap="square" lIns="0" tIns="0" rIns="0" bIns="0" rtlCol="0" anchor="t"/>
          <a:lstStyle/>
          <a:p>
            <a:pPr algn="ctr" indent="0" marL="0">
              <a:buNone/>
            </a:pPr>
            <a:r>
              <a:rPr lang="en-US" sz="1200" b="1" spc="100" kern="0" dirty="0">
                <a:solidFill>
                  <a:srgbClr val="5B6B7B"/>
                </a:solidFill>
              </a:rPr>
              <a:t>STEP 3</a:t>
            </a:r>
            <a:endParaRPr lang="en-US" sz="1200" dirty="0"/>
          </a:p>
        </p:txBody>
      </p:sp>
      <p:sp>
        <p:nvSpPr>
          <p:cNvPr id="19" name="Text 14"/>
          <p:cNvSpPr txBox="1"/>
          <p:nvPr/>
        </p:nvSpPr>
        <p:spPr>
          <a:xfrm>
            <a:off x="4453128" y="3840480"/>
            <a:ext cx="1426464" cy="1280160"/>
          </a:xfrm>
          <a:prstGeom prst="rect">
            <a:avLst/>
          </a:prstGeom>
          <a:noFill/>
          <a:ln/>
        </p:spPr>
        <p:txBody>
          <a:bodyPr wrap="square" lIns="0" tIns="0" rIns="0" bIns="0" rtlCol="0" anchor="t"/>
          <a:lstStyle/>
          <a:p>
            <a:pPr algn="ctr" indent="0" marL="0">
              <a:buNone/>
            </a:pPr>
            <a:r>
              <a:rPr lang="en-US" sz="1500" b="1" dirty="0">
                <a:solidFill>
                  <a:srgbClr val="072840"/>
                </a:solidFill>
              </a:rPr>
              <a:t>Student adds a reason and confirms</a:t>
            </a:r>
            <a:endParaRPr lang="en-US" sz="1500" dirty="0"/>
          </a:p>
        </p:txBody>
      </p:sp>
      <p:sp>
        <p:nvSpPr>
          <p:cNvPr id="20" name="Step 4"/>
          <p:cNvSpPr/>
          <p:nvPr/>
        </p:nvSpPr>
        <p:spPr>
          <a:xfrm>
            <a:off x="6199632" y="2194560"/>
            <a:ext cx="1700784" cy="3017520"/>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21" name="Shape 16"/>
          <p:cNvSpPr/>
          <p:nvPr/>
        </p:nvSpPr>
        <p:spPr>
          <a:xfrm>
            <a:off x="6638544" y="2468880"/>
            <a:ext cx="822960" cy="822960"/>
          </a:xfrm>
          <a:prstGeom prst="ellipse">
            <a:avLst/>
          </a:prstGeom>
          <a:solidFill>
            <a:srgbClr val="B36BC4"/>
          </a:solidFill>
          <a:ln w="12700">
            <a:solidFill>
              <a:srgbClr val="B36BC4"/>
            </a:solidFill>
            <a:prstDash val="solid"/>
          </a:ln>
        </p:spPr>
      </p:sp>
      <p:pic>
        <p:nvPicPr>
          <p:cNvPr id="22" name="Image 3" descr="preencoded.png">    </p:cNvPr>
          <p:cNvPicPr>
            <a:picLocks noChangeAspect="1"/>
          </p:cNvPicPr>
          <p:nvPr/>
        </p:nvPicPr>
        <p:blipFill>
          <a:blip r:embed="rId4"/>
          <a:stretch>
            <a:fillRect/>
          </a:stretch>
        </p:blipFill>
        <p:spPr>
          <a:xfrm>
            <a:off x="6844284" y="2674620"/>
            <a:ext cx="411480" cy="411480"/>
          </a:xfrm>
          <a:prstGeom prst="rect">
            <a:avLst/>
          </a:prstGeom>
        </p:spPr>
      </p:pic>
      <p:sp>
        <p:nvSpPr>
          <p:cNvPr id="23" name="Text 17"/>
          <p:cNvSpPr txBox="1"/>
          <p:nvPr/>
        </p:nvSpPr>
        <p:spPr>
          <a:xfrm>
            <a:off x="6336792" y="3474720"/>
            <a:ext cx="1426464" cy="320040"/>
          </a:xfrm>
          <a:prstGeom prst="rect">
            <a:avLst/>
          </a:prstGeom>
          <a:noFill/>
          <a:ln/>
        </p:spPr>
        <p:txBody>
          <a:bodyPr wrap="square" lIns="0" tIns="0" rIns="0" bIns="0" rtlCol="0" anchor="t"/>
          <a:lstStyle/>
          <a:p>
            <a:pPr algn="ctr" indent="0" marL="0">
              <a:buNone/>
            </a:pPr>
            <a:r>
              <a:rPr lang="en-US" sz="1200" b="1" spc="100" kern="0" dirty="0">
                <a:solidFill>
                  <a:srgbClr val="5B6B7B"/>
                </a:solidFill>
              </a:rPr>
              <a:t>STEP 4</a:t>
            </a:r>
            <a:endParaRPr lang="en-US" sz="1200" dirty="0"/>
          </a:p>
        </p:txBody>
      </p:sp>
      <p:sp>
        <p:nvSpPr>
          <p:cNvPr id="24" name="Text 18"/>
          <p:cNvSpPr txBox="1"/>
          <p:nvPr/>
        </p:nvSpPr>
        <p:spPr>
          <a:xfrm>
            <a:off x="6336792" y="3840480"/>
            <a:ext cx="1426464" cy="1280160"/>
          </a:xfrm>
          <a:prstGeom prst="rect">
            <a:avLst/>
          </a:prstGeom>
          <a:noFill/>
          <a:ln/>
        </p:spPr>
        <p:txBody>
          <a:bodyPr wrap="square" lIns="0" tIns="0" rIns="0" bIns="0" rtlCol="0" anchor="t"/>
          <a:lstStyle/>
          <a:p>
            <a:pPr algn="ctr" indent="0" marL="0">
              <a:buNone/>
            </a:pPr>
            <a:r>
              <a:rPr lang="en-US" sz="1500" b="1" dirty="0">
                <a:solidFill>
                  <a:srgbClr val="072840"/>
                </a:solidFill>
              </a:rPr>
              <a:t>Both get a confirmation email</a:t>
            </a:r>
            <a:endParaRPr lang="en-US" sz="1500" dirty="0"/>
          </a:p>
        </p:txBody>
      </p:sp>
      <p:sp>
        <p:nvSpPr>
          <p:cNvPr id="25" name="Step 5"/>
          <p:cNvSpPr/>
          <p:nvPr/>
        </p:nvSpPr>
        <p:spPr>
          <a:xfrm>
            <a:off x="8083296" y="2194560"/>
            <a:ext cx="1700784" cy="3017520"/>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26" name="Shape 20"/>
          <p:cNvSpPr/>
          <p:nvPr/>
        </p:nvSpPr>
        <p:spPr>
          <a:xfrm>
            <a:off x="8522208" y="2468880"/>
            <a:ext cx="822960" cy="822960"/>
          </a:xfrm>
          <a:prstGeom prst="ellipse">
            <a:avLst/>
          </a:prstGeom>
          <a:solidFill>
            <a:srgbClr val="1E8FCB"/>
          </a:solidFill>
          <a:ln w="12700">
            <a:solidFill>
              <a:srgbClr val="1E8FCB"/>
            </a:solidFill>
            <a:prstDash val="solid"/>
          </a:ln>
        </p:spPr>
      </p:sp>
      <p:pic>
        <p:nvPicPr>
          <p:cNvPr id="27" name="Image 4" descr="preencoded.png">    </p:cNvPr>
          <p:cNvPicPr>
            <a:picLocks noChangeAspect="1"/>
          </p:cNvPicPr>
          <p:nvPr/>
        </p:nvPicPr>
        <p:blipFill>
          <a:blip r:embed="rId5"/>
          <a:stretch>
            <a:fillRect/>
          </a:stretch>
        </p:blipFill>
        <p:spPr>
          <a:xfrm>
            <a:off x="8727948" y="2674620"/>
            <a:ext cx="411480" cy="411480"/>
          </a:xfrm>
          <a:prstGeom prst="rect">
            <a:avLst/>
          </a:prstGeom>
        </p:spPr>
      </p:pic>
      <p:sp>
        <p:nvSpPr>
          <p:cNvPr id="28" name="Text 21"/>
          <p:cNvSpPr txBox="1"/>
          <p:nvPr/>
        </p:nvSpPr>
        <p:spPr>
          <a:xfrm>
            <a:off x="8220456" y="3474720"/>
            <a:ext cx="1426464" cy="320040"/>
          </a:xfrm>
          <a:prstGeom prst="rect">
            <a:avLst/>
          </a:prstGeom>
          <a:noFill/>
          <a:ln/>
        </p:spPr>
        <p:txBody>
          <a:bodyPr wrap="square" lIns="0" tIns="0" rIns="0" bIns="0" rtlCol="0" anchor="t"/>
          <a:lstStyle/>
          <a:p>
            <a:pPr algn="ctr" indent="0" marL="0">
              <a:buNone/>
            </a:pPr>
            <a:r>
              <a:rPr lang="en-US" sz="1200" b="1" spc="100" kern="0" dirty="0">
                <a:solidFill>
                  <a:srgbClr val="5B6B7B"/>
                </a:solidFill>
              </a:rPr>
              <a:t>STEP 5</a:t>
            </a:r>
            <a:endParaRPr lang="en-US" sz="1200" dirty="0"/>
          </a:p>
        </p:txBody>
      </p:sp>
      <p:sp>
        <p:nvSpPr>
          <p:cNvPr id="29" name="Text 22"/>
          <p:cNvSpPr txBox="1"/>
          <p:nvPr/>
        </p:nvSpPr>
        <p:spPr>
          <a:xfrm>
            <a:off x="8220456" y="3840480"/>
            <a:ext cx="1426464" cy="1280160"/>
          </a:xfrm>
          <a:prstGeom prst="rect">
            <a:avLst/>
          </a:prstGeom>
          <a:noFill/>
          <a:ln/>
        </p:spPr>
        <p:txBody>
          <a:bodyPr wrap="square" lIns="0" tIns="0" rIns="0" bIns="0" rtlCol="0" anchor="t"/>
          <a:lstStyle/>
          <a:p>
            <a:pPr algn="ctr" indent="0" marL="0">
              <a:buNone/>
            </a:pPr>
            <a:r>
              <a:rPr lang="en-US" sz="1500" b="1" dirty="0">
                <a:solidFill>
                  <a:srgbClr val="072840"/>
                </a:solidFill>
              </a:rPr>
              <a:t>Reminder email before the meeting</a:t>
            </a:r>
            <a:endParaRPr lang="en-US" sz="1500" dirty="0"/>
          </a:p>
        </p:txBody>
      </p:sp>
      <p:sp>
        <p:nvSpPr>
          <p:cNvPr id="30" name="Step 6"/>
          <p:cNvSpPr/>
          <p:nvPr/>
        </p:nvSpPr>
        <p:spPr>
          <a:xfrm>
            <a:off x="9966960" y="2194560"/>
            <a:ext cx="1700784" cy="3017520"/>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31" name="Shape 24"/>
          <p:cNvSpPr/>
          <p:nvPr/>
        </p:nvSpPr>
        <p:spPr>
          <a:xfrm>
            <a:off x="10405872" y="2468880"/>
            <a:ext cx="822960" cy="822960"/>
          </a:xfrm>
          <a:prstGeom prst="ellipse">
            <a:avLst/>
          </a:prstGeom>
          <a:solidFill>
            <a:srgbClr val="8B1A2B"/>
          </a:solidFill>
          <a:ln w="12700">
            <a:solidFill>
              <a:srgbClr val="8B1A2B"/>
            </a:solidFill>
            <a:prstDash val="solid"/>
          </a:ln>
        </p:spPr>
      </p:sp>
      <p:pic>
        <p:nvPicPr>
          <p:cNvPr id="32" name="Image 5" descr="preencoded.png">    </p:cNvPr>
          <p:cNvPicPr>
            <a:picLocks noChangeAspect="1"/>
          </p:cNvPicPr>
          <p:nvPr/>
        </p:nvPicPr>
        <p:blipFill>
          <a:blip r:embed="rId6"/>
          <a:stretch>
            <a:fillRect/>
          </a:stretch>
        </p:blipFill>
        <p:spPr>
          <a:xfrm>
            <a:off x="10611612" y="2674620"/>
            <a:ext cx="411480" cy="411480"/>
          </a:xfrm>
          <a:prstGeom prst="rect">
            <a:avLst/>
          </a:prstGeom>
        </p:spPr>
      </p:pic>
      <p:sp>
        <p:nvSpPr>
          <p:cNvPr id="33" name="Text 25"/>
          <p:cNvSpPr txBox="1"/>
          <p:nvPr/>
        </p:nvSpPr>
        <p:spPr>
          <a:xfrm>
            <a:off x="10104120" y="3474720"/>
            <a:ext cx="1426464" cy="320040"/>
          </a:xfrm>
          <a:prstGeom prst="rect">
            <a:avLst/>
          </a:prstGeom>
          <a:noFill/>
          <a:ln/>
        </p:spPr>
        <p:txBody>
          <a:bodyPr wrap="square" lIns="0" tIns="0" rIns="0" bIns="0" rtlCol="0" anchor="t"/>
          <a:lstStyle/>
          <a:p>
            <a:pPr algn="ctr" indent="0" marL="0">
              <a:buNone/>
            </a:pPr>
            <a:r>
              <a:rPr lang="en-US" sz="1200" b="1" spc="100" kern="0" dirty="0">
                <a:solidFill>
                  <a:srgbClr val="5B6B7B"/>
                </a:solidFill>
              </a:rPr>
              <a:t>STEP 6</a:t>
            </a:r>
            <a:endParaRPr lang="en-US" sz="1200" dirty="0"/>
          </a:p>
        </p:txBody>
      </p:sp>
      <p:sp>
        <p:nvSpPr>
          <p:cNvPr id="34" name="Text 26"/>
          <p:cNvSpPr txBox="1"/>
          <p:nvPr/>
        </p:nvSpPr>
        <p:spPr>
          <a:xfrm>
            <a:off x="10104120" y="3840480"/>
            <a:ext cx="1426464" cy="1280160"/>
          </a:xfrm>
          <a:prstGeom prst="rect">
            <a:avLst/>
          </a:prstGeom>
          <a:noFill/>
          <a:ln/>
        </p:spPr>
        <p:txBody>
          <a:bodyPr wrap="square" lIns="0" tIns="0" rIns="0" bIns="0" rtlCol="0" anchor="t"/>
          <a:lstStyle/>
          <a:p>
            <a:pPr algn="ctr" indent="0" marL="0">
              <a:buNone/>
            </a:pPr>
            <a:r>
              <a:rPr lang="en-US" sz="1500" b="1" dirty="0">
                <a:solidFill>
                  <a:srgbClr val="072840"/>
                </a:solidFill>
              </a:rPr>
              <a:t>Change or cancel opens the time again</a:t>
            </a:r>
            <a:endParaRPr lang="en-US" sz="1500" dirty="0"/>
          </a:p>
        </p:txBody>
      </p:sp>
      <p:sp>
        <p:nvSpPr>
          <p:cNvPr id="35" name="Shape 27"/>
          <p:cNvSpPr/>
          <p:nvPr/>
        </p:nvSpPr>
        <p:spPr>
          <a:xfrm>
            <a:off x="548640" y="5440680"/>
            <a:ext cx="11064240" cy="731520"/>
          </a:xfrm>
          <a:prstGeom prst="rect">
            <a:avLst/>
          </a:prstGeom>
          <a:solidFill>
            <a:srgbClr val="EEF3F7"/>
          </a:solidFill>
          <a:ln w="9525">
            <a:solidFill>
              <a:srgbClr val="D5DEE6"/>
            </a:solidFill>
            <a:prstDash val="solid"/>
          </a:ln>
        </p:spPr>
      </p:sp>
      <p:sp>
        <p:nvSpPr>
          <p:cNvPr id="36" name="Text 28"/>
          <p:cNvSpPr txBox="1"/>
          <p:nvPr/>
        </p:nvSpPr>
        <p:spPr>
          <a:xfrm>
            <a:off x="822960" y="5440680"/>
            <a:ext cx="10607040" cy="731520"/>
          </a:xfrm>
          <a:prstGeom prst="rect">
            <a:avLst/>
          </a:prstGeom>
          <a:noFill/>
          <a:ln/>
        </p:spPr>
        <p:txBody>
          <a:bodyPr wrap="square" lIns="0" tIns="0" rIns="0" bIns="0" rtlCol="0" anchor="ctr"/>
          <a:lstStyle/>
          <a:p>
            <a:pPr indent="0" marL="0">
              <a:buNone/>
            </a:pPr>
            <a:r>
              <a:rPr lang="en-US" sz="1600" b="1" dirty="0">
                <a:solidFill>
                  <a:srgbClr val="8B1A2B"/>
                </a:solidFill>
              </a:rPr>
              <a:t>No messages back and forth. </a:t>
            </a:r>
            <a:pPr indent="0" marL="0">
              <a:buNone/>
            </a:pPr>
            <a:r>
              <a:rPr lang="en-US" sz="1600" dirty="0">
                <a:solidFill>
                  <a:srgbClr val="16232F"/>
                </a:solidFill>
              </a:rPr>
              <a:t>The moment a time is booked, no other student can take it.</a:t>
            </a:r>
            <a:endParaRPr lang="en-US" sz="1600" dirty="0"/>
          </a:p>
        </p:txBody>
      </p:sp>
      <p:sp>
        <p:nvSpPr>
          <p:cNvPr id="25" name="Slide Number Placeholder 0"/>
          <p:cNvSpPr>
            <a:spLocks noGrp="1"/>
          </p:cNvSpPr>
          <p:nvPr>
            <p:ph type="sldNum" sz="quarter" idx="4294967295"/>
          </p:nvPr>
        </p:nvSpPr>
        <p:spPr>
          <a:xfrm>
            <a:off x="1042416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411480"/>
            <a:ext cx="1046988" cy="329184"/>
          </a:xfrm>
          <a:prstGeom prst="rect">
            <a:avLst/>
          </a:prstGeom>
          <a:solidFill>
            <a:srgbClr val="FFFFFF"/>
          </a:solidFill>
          <a:ln w="19050">
            <a:solidFill>
              <a:srgbClr val="072840"/>
            </a:solidFill>
            <a:prstDash val="solid"/>
          </a:ln>
        </p:spPr>
      </p:sp>
      <p:sp>
        <p:nvSpPr>
          <p:cNvPr id="3" name="Text 1"/>
          <p:cNvSpPr txBox="1"/>
          <p:nvPr/>
        </p:nvSpPr>
        <p:spPr>
          <a:xfrm>
            <a:off x="548640" y="411480"/>
            <a:ext cx="1046988" cy="329184"/>
          </a:xfrm>
          <a:prstGeom prst="rect">
            <a:avLst/>
          </a:prstGeom>
          <a:noFill/>
          <a:ln/>
        </p:spPr>
        <p:txBody>
          <a:bodyPr wrap="square" lIns="0" tIns="0" rIns="0" bIns="0" rtlCol="0" anchor="ctr"/>
          <a:lstStyle/>
          <a:p>
            <a:pPr algn="ctr" indent="0" marL="0">
              <a:buNone/>
            </a:pPr>
            <a:r>
              <a:rPr lang="en-US" sz="1100" b="1" spc="100" kern="0" dirty="0">
                <a:solidFill>
                  <a:srgbClr val="072840"/>
                </a:solidFill>
              </a:rPr>
              <a:t>THE BUILD</a:t>
            </a:r>
            <a:endParaRPr lang="en-US" sz="1100" dirty="0"/>
          </a:p>
        </p:txBody>
      </p:sp>
      <p:sp>
        <p:nvSpPr>
          <p:cNvPr id="4" name="Title"/>
          <p:cNvSpPr txBox="1"/>
          <p:nvPr/>
        </p:nvSpPr>
        <p:spPr>
          <a:xfrm>
            <a:off x="548640" y="822960"/>
            <a:ext cx="10241280" cy="777240"/>
          </a:xfrm>
          <a:prstGeom prst="rect">
            <a:avLst/>
          </a:prstGeom>
          <a:noFill/>
          <a:ln/>
        </p:spPr>
        <p:txBody>
          <a:bodyPr wrap="square" lIns="0" tIns="0" rIns="0" bIns="0" rtlCol="0" anchor="ctr"/>
          <a:lstStyle/>
          <a:p>
            <a:pPr indent="0" marL="0">
              <a:buNone/>
            </a:pPr>
            <a:r>
              <a:rPr lang="en-US" sz="3200" dirty="0">
                <a:solidFill>
                  <a:srgbClr val="072840"/>
                </a:solidFill>
                <a:latin typeface="Arial" pitchFamily="34" charset="0"/>
                <a:ea typeface="Arial" pitchFamily="34" charset="-122"/>
                <a:cs typeface="Arial" pitchFamily="34" charset="-120"/>
              </a:rPr>
              <a:t>The hard part: </a:t>
            </a:r>
            <a:pPr indent="0" marL="0">
              <a:buNone/>
            </a:pPr>
            <a:r>
              <a:rPr lang="en-US" sz="3200" b="1" dirty="0">
                <a:solidFill>
                  <a:srgbClr val="072840"/>
                </a:solidFill>
                <a:latin typeface="Arial" pitchFamily="34" charset="0"/>
                <a:ea typeface="Arial" pitchFamily="34" charset="-122"/>
                <a:cs typeface="Arial" pitchFamily="34" charset="-120"/>
              </a:rPr>
              <a:t>two students, one slot</a:t>
            </a:r>
            <a:endParaRPr lang="en-US" sz="3200" dirty="0"/>
          </a:p>
        </p:txBody>
      </p:sp>
      <p:sp>
        <p:nvSpPr>
          <p:cNvPr id="5" name="Double booking test"/>
          <p:cNvSpPr/>
          <p:nvPr/>
        </p:nvSpPr>
        <p:spPr>
          <a:xfrm>
            <a:off x="548640" y="1828800"/>
            <a:ext cx="4206240" cy="4343400"/>
          </a:xfrm>
          <a:prstGeom prst="rect">
            <a:avLst/>
          </a:prstGeom>
          <a:solidFill>
            <a:srgbClr val="072840"/>
          </a:solidFill>
          <a:ln w="12700">
            <a:solidFill>
              <a:srgbClr val="072840"/>
            </a:solidFill>
            <a:prstDash val="solid"/>
          </a:ln>
        </p:spPr>
      </p:sp>
      <p:sp>
        <p:nvSpPr>
          <p:cNvPr id="6" name="Text 4"/>
          <p:cNvSpPr txBox="1"/>
          <p:nvPr/>
        </p:nvSpPr>
        <p:spPr>
          <a:xfrm>
            <a:off x="822960" y="2057400"/>
            <a:ext cx="3657600" cy="365760"/>
          </a:xfrm>
          <a:prstGeom prst="rect">
            <a:avLst/>
          </a:prstGeom>
          <a:noFill/>
          <a:ln/>
        </p:spPr>
        <p:txBody>
          <a:bodyPr wrap="square" lIns="0" tIns="0" rIns="0" bIns="0" rtlCol="0" anchor="t"/>
          <a:lstStyle/>
          <a:p>
            <a:pPr indent="0" marL="0">
              <a:buNone/>
            </a:pPr>
            <a:r>
              <a:rPr lang="en-US" sz="1400" b="1" spc="200" kern="0" dirty="0">
                <a:solidFill>
                  <a:srgbClr val="5BCBE8"/>
                </a:solidFill>
              </a:rPr>
              <a:t>OUR TEST</a:t>
            </a:r>
            <a:endParaRPr lang="en-US" sz="1400" dirty="0"/>
          </a:p>
        </p:txBody>
      </p:sp>
      <p:sp>
        <p:nvSpPr>
          <p:cNvPr id="7" name="Text 5"/>
          <p:cNvSpPr txBox="1"/>
          <p:nvPr/>
        </p:nvSpPr>
        <p:spPr>
          <a:xfrm>
            <a:off x="822960" y="2468880"/>
            <a:ext cx="3657600" cy="731520"/>
          </a:xfrm>
          <a:prstGeom prst="rect">
            <a:avLst/>
          </a:prstGeom>
          <a:noFill/>
          <a:ln/>
        </p:spPr>
        <p:txBody>
          <a:bodyPr wrap="square" lIns="0" tIns="0" rIns="0" bIns="0" rtlCol="0" anchor="t"/>
          <a:lstStyle/>
          <a:p>
            <a:pPr indent="0" marL="0">
              <a:buNone/>
            </a:pPr>
            <a:r>
              <a:rPr lang="en-US" sz="4000" b="1" dirty="0">
                <a:solidFill>
                  <a:srgbClr val="FFFFFF"/>
                </a:solidFill>
              </a:rPr>
              <a:t>8 requests</a:t>
            </a:r>
            <a:endParaRPr lang="en-US" sz="4000" dirty="0"/>
          </a:p>
        </p:txBody>
      </p:sp>
      <p:sp>
        <p:nvSpPr>
          <p:cNvPr id="8" name="Text 6"/>
          <p:cNvSpPr txBox="1"/>
          <p:nvPr/>
        </p:nvSpPr>
        <p:spPr>
          <a:xfrm>
            <a:off x="822960" y="3200400"/>
            <a:ext cx="3657600" cy="685800"/>
          </a:xfrm>
          <a:prstGeom prst="rect">
            <a:avLst/>
          </a:prstGeom>
          <a:noFill/>
          <a:ln/>
        </p:spPr>
        <p:txBody>
          <a:bodyPr wrap="square" lIns="0" tIns="0" rIns="0" bIns="0" rtlCol="0" anchor="t"/>
          <a:lstStyle/>
          <a:p>
            <a:pPr indent="0" marL="0">
              <a:buNone/>
            </a:pPr>
            <a:r>
              <a:rPr lang="en-US" sz="1600" dirty="0">
                <a:solidFill>
                  <a:srgbClr val="BFD3E0"/>
                </a:solidFill>
              </a:rPr>
              <a:t>for the same slot at the same moment, from three students</a:t>
            </a:r>
            <a:endParaRPr lang="en-US" sz="1600" dirty="0"/>
          </a:p>
        </p:txBody>
      </p:sp>
      <p:sp>
        <p:nvSpPr>
          <p:cNvPr id="9" name="Text 7"/>
          <p:cNvSpPr txBox="1"/>
          <p:nvPr/>
        </p:nvSpPr>
        <p:spPr>
          <a:xfrm>
            <a:off x="822960" y="4114800"/>
            <a:ext cx="3657600" cy="731520"/>
          </a:xfrm>
          <a:prstGeom prst="rect">
            <a:avLst/>
          </a:prstGeom>
          <a:noFill/>
          <a:ln/>
        </p:spPr>
        <p:txBody>
          <a:bodyPr wrap="square" lIns="0" tIns="0" rIns="0" bIns="0" rtlCol="0" anchor="t"/>
          <a:lstStyle/>
          <a:p>
            <a:pPr indent="0" marL="0">
              <a:buNone/>
            </a:pPr>
            <a:r>
              <a:rPr lang="en-US" sz="4000" b="1" dirty="0">
                <a:solidFill>
                  <a:srgbClr val="8DC63F"/>
                </a:solidFill>
              </a:rPr>
              <a:t>1 booking</a:t>
            </a:r>
            <a:endParaRPr lang="en-US" sz="4000" dirty="0"/>
          </a:p>
        </p:txBody>
      </p:sp>
      <p:sp>
        <p:nvSpPr>
          <p:cNvPr id="10" name="Text 8"/>
          <p:cNvSpPr txBox="1"/>
          <p:nvPr/>
        </p:nvSpPr>
        <p:spPr>
          <a:xfrm>
            <a:off x="822960" y="4846320"/>
            <a:ext cx="3657600" cy="914400"/>
          </a:xfrm>
          <a:prstGeom prst="rect">
            <a:avLst/>
          </a:prstGeom>
          <a:noFill/>
          <a:ln/>
        </p:spPr>
        <p:txBody>
          <a:bodyPr wrap="square" lIns="0" tIns="0" rIns="0" bIns="0" rtlCol="0" anchor="t"/>
          <a:lstStyle/>
          <a:p>
            <a:pPr indent="0" marL="0">
              <a:buNone/>
            </a:pPr>
            <a:r>
              <a:rPr lang="en-US" sz="1600" dirty="0">
                <a:solidFill>
                  <a:srgbClr val="BFD3E0"/>
                </a:solidFill>
              </a:rPr>
              <a:t>The other 7 saw "Sorry, that slot is no longer available"</a:t>
            </a:r>
            <a:endParaRPr lang="en-US" sz="1600" dirty="0"/>
          </a:p>
        </p:txBody>
      </p:sp>
      <p:sp>
        <p:nvSpPr>
          <p:cNvPr id="11" name="Rule card 1"/>
          <p:cNvSpPr/>
          <p:nvPr/>
        </p:nvSpPr>
        <p:spPr>
          <a:xfrm>
            <a:off x="5120640" y="1828800"/>
            <a:ext cx="6492240" cy="1353312"/>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12" name="Shape 10"/>
          <p:cNvSpPr/>
          <p:nvPr/>
        </p:nvSpPr>
        <p:spPr>
          <a:xfrm>
            <a:off x="5349240" y="2157984"/>
            <a:ext cx="694944" cy="694944"/>
          </a:xfrm>
          <a:prstGeom prst="ellipse">
            <a:avLst/>
          </a:prstGeom>
          <a:solidFill>
            <a:srgbClr val="8B1A2B"/>
          </a:solidFill>
          <a:ln w="12700">
            <a:solidFill>
              <a:srgbClr val="8B1A2B"/>
            </a:solidFill>
            <a:prstDash val="solid"/>
          </a:ln>
        </p:spPr>
      </p:sp>
      <p:pic>
        <p:nvPicPr>
          <p:cNvPr id="13" name="Image 0" descr="preencoded.png">    </p:cNvPr>
          <p:cNvPicPr>
            <a:picLocks noChangeAspect="1"/>
          </p:cNvPicPr>
          <p:nvPr/>
        </p:nvPicPr>
        <p:blipFill>
          <a:blip r:embed="rId1"/>
          <a:stretch>
            <a:fillRect/>
          </a:stretch>
        </p:blipFill>
        <p:spPr>
          <a:xfrm>
            <a:off x="5522976" y="2331720"/>
            <a:ext cx="347472" cy="347472"/>
          </a:xfrm>
          <a:prstGeom prst="rect">
            <a:avLst/>
          </a:prstGeom>
        </p:spPr>
      </p:pic>
      <p:sp>
        <p:nvSpPr>
          <p:cNvPr id="14" name="Text 11"/>
          <p:cNvSpPr txBox="1"/>
          <p:nvPr/>
        </p:nvSpPr>
        <p:spPr>
          <a:xfrm>
            <a:off x="6309360" y="1938528"/>
            <a:ext cx="5212080" cy="457200"/>
          </a:xfrm>
          <a:prstGeom prst="rect">
            <a:avLst/>
          </a:prstGeom>
          <a:noFill/>
          <a:ln/>
        </p:spPr>
        <p:txBody>
          <a:bodyPr wrap="square" lIns="0" tIns="0" rIns="0" bIns="0" rtlCol="0" anchor="t"/>
          <a:lstStyle/>
          <a:p>
            <a:pPr indent="0" marL="0">
              <a:buNone/>
            </a:pPr>
            <a:r>
              <a:rPr lang="en-US" sz="1800" b="1" dirty="0">
                <a:solidFill>
                  <a:srgbClr val="072840"/>
                </a:solidFill>
              </a:rPr>
              <a:t>The slot is locked while it is booked</a:t>
            </a:r>
            <a:endParaRPr lang="en-US" sz="1800" dirty="0"/>
          </a:p>
        </p:txBody>
      </p:sp>
      <p:sp>
        <p:nvSpPr>
          <p:cNvPr id="15" name="Text 12"/>
          <p:cNvSpPr txBox="1"/>
          <p:nvPr/>
        </p:nvSpPr>
        <p:spPr>
          <a:xfrm>
            <a:off x="6309360" y="2377440"/>
            <a:ext cx="5120640" cy="749808"/>
          </a:xfrm>
          <a:prstGeom prst="rect">
            <a:avLst/>
          </a:prstGeom>
          <a:noFill/>
          <a:ln/>
        </p:spPr>
        <p:txBody>
          <a:bodyPr wrap="square" lIns="0" tIns="0" rIns="0" bIns="0" rtlCol="0" anchor="t"/>
          <a:lstStyle/>
          <a:p>
            <a:pPr indent="0" marL="0">
              <a:buNone/>
            </a:pPr>
            <a:r>
              <a:rPr lang="en-US" sz="1500" dirty="0">
                <a:solidFill>
                  <a:srgbClr val="16232F"/>
                </a:solidFill>
              </a:rPr>
              <a:t>The second request waits for the first to finish, then sees the slot is taken.</a:t>
            </a:r>
            <a:endParaRPr lang="en-US" sz="1500" dirty="0"/>
          </a:p>
        </p:txBody>
      </p:sp>
      <p:sp>
        <p:nvSpPr>
          <p:cNvPr id="16" name="Rule card 2"/>
          <p:cNvSpPr/>
          <p:nvPr/>
        </p:nvSpPr>
        <p:spPr>
          <a:xfrm>
            <a:off x="5120640" y="3310128"/>
            <a:ext cx="6492240" cy="1353312"/>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17" name="Shape 14"/>
          <p:cNvSpPr/>
          <p:nvPr/>
        </p:nvSpPr>
        <p:spPr>
          <a:xfrm>
            <a:off x="5349240" y="3639312"/>
            <a:ext cx="694944" cy="694944"/>
          </a:xfrm>
          <a:prstGeom prst="ellipse">
            <a:avLst/>
          </a:prstGeom>
          <a:solidFill>
            <a:srgbClr val="1E8FCB"/>
          </a:solidFill>
          <a:ln w="12700">
            <a:solidFill>
              <a:srgbClr val="1E8FCB"/>
            </a:solidFill>
            <a:prstDash val="solid"/>
          </a:ln>
        </p:spPr>
      </p:sp>
      <p:pic>
        <p:nvPicPr>
          <p:cNvPr id="18" name="Image 1" descr="preencoded.png">    </p:cNvPr>
          <p:cNvPicPr>
            <a:picLocks noChangeAspect="1"/>
          </p:cNvPicPr>
          <p:nvPr/>
        </p:nvPicPr>
        <p:blipFill>
          <a:blip r:embed="rId2"/>
          <a:stretch>
            <a:fillRect/>
          </a:stretch>
        </p:blipFill>
        <p:spPr>
          <a:xfrm>
            <a:off x="5522976" y="3813048"/>
            <a:ext cx="347472" cy="347472"/>
          </a:xfrm>
          <a:prstGeom prst="rect">
            <a:avLst/>
          </a:prstGeom>
        </p:spPr>
      </p:pic>
      <p:sp>
        <p:nvSpPr>
          <p:cNvPr id="19" name="Text 15"/>
          <p:cNvSpPr txBox="1"/>
          <p:nvPr/>
        </p:nvSpPr>
        <p:spPr>
          <a:xfrm>
            <a:off x="6309360" y="3419856"/>
            <a:ext cx="5212080" cy="457200"/>
          </a:xfrm>
          <a:prstGeom prst="rect">
            <a:avLst/>
          </a:prstGeom>
          <a:noFill/>
          <a:ln/>
        </p:spPr>
        <p:txBody>
          <a:bodyPr wrap="square" lIns="0" tIns="0" rIns="0" bIns="0" rtlCol="0" anchor="t"/>
          <a:lstStyle/>
          <a:p>
            <a:pPr indent="0" marL="0">
              <a:buNone/>
            </a:pPr>
            <a:r>
              <a:rPr lang="en-US" sz="1800" b="1" dirty="0">
                <a:solidFill>
                  <a:srgbClr val="072840"/>
                </a:solidFill>
              </a:rPr>
              <a:t>The database is the safety net</a:t>
            </a:r>
            <a:endParaRPr lang="en-US" sz="1800" dirty="0"/>
          </a:p>
        </p:txBody>
      </p:sp>
      <p:sp>
        <p:nvSpPr>
          <p:cNvPr id="20" name="Text 16"/>
          <p:cNvSpPr txBox="1"/>
          <p:nvPr/>
        </p:nvSpPr>
        <p:spPr>
          <a:xfrm>
            <a:off x="6309360" y="3858768"/>
            <a:ext cx="5120640" cy="749808"/>
          </a:xfrm>
          <a:prstGeom prst="rect">
            <a:avLst/>
          </a:prstGeom>
          <a:noFill/>
          <a:ln/>
        </p:spPr>
        <p:txBody>
          <a:bodyPr wrap="square" lIns="0" tIns="0" rIns="0" bIns="0" rtlCol="0" anchor="t"/>
          <a:lstStyle/>
          <a:p>
            <a:pPr indent="0" marL="0">
              <a:buNone/>
            </a:pPr>
            <a:r>
              <a:rPr lang="en-US" sz="1500" dirty="0">
                <a:solidFill>
                  <a:srgbClr val="16232F"/>
                </a:solidFill>
              </a:rPr>
              <a:t>Even if the code had a bug, the database refuses a second booking for the same slot.</a:t>
            </a:r>
            <a:endParaRPr lang="en-US" sz="1500" dirty="0"/>
          </a:p>
        </p:txBody>
      </p:sp>
      <p:sp>
        <p:nvSpPr>
          <p:cNvPr id="21" name="Rule card 3"/>
          <p:cNvSpPr/>
          <p:nvPr/>
        </p:nvSpPr>
        <p:spPr>
          <a:xfrm>
            <a:off x="5120640" y="4791456"/>
            <a:ext cx="6492240" cy="1353312"/>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22" name="Shape 18"/>
          <p:cNvSpPr/>
          <p:nvPr/>
        </p:nvSpPr>
        <p:spPr>
          <a:xfrm>
            <a:off x="5349240" y="5120640"/>
            <a:ext cx="694944" cy="694944"/>
          </a:xfrm>
          <a:prstGeom prst="ellipse">
            <a:avLst/>
          </a:prstGeom>
          <a:solidFill>
            <a:srgbClr val="12506F"/>
          </a:solidFill>
          <a:ln w="12700">
            <a:solidFill>
              <a:srgbClr val="12506F"/>
            </a:solidFill>
            <a:prstDash val="solid"/>
          </a:ln>
        </p:spPr>
      </p:sp>
      <p:pic>
        <p:nvPicPr>
          <p:cNvPr id="23" name="Image 2" descr="preencoded.png">    </p:cNvPr>
          <p:cNvPicPr>
            <a:picLocks noChangeAspect="1"/>
          </p:cNvPicPr>
          <p:nvPr/>
        </p:nvPicPr>
        <p:blipFill>
          <a:blip r:embed="rId3"/>
          <a:stretch>
            <a:fillRect/>
          </a:stretch>
        </p:blipFill>
        <p:spPr>
          <a:xfrm>
            <a:off x="5522976" y="5294376"/>
            <a:ext cx="347472" cy="347472"/>
          </a:xfrm>
          <a:prstGeom prst="rect">
            <a:avLst/>
          </a:prstGeom>
        </p:spPr>
      </p:pic>
      <p:sp>
        <p:nvSpPr>
          <p:cNvPr id="24" name="Text 19"/>
          <p:cNvSpPr txBox="1"/>
          <p:nvPr/>
        </p:nvSpPr>
        <p:spPr>
          <a:xfrm>
            <a:off x="6309360" y="4901184"/>
            <a:ext cx="5212080" cy="457200"/>
          </a:xfrm>
          <a:prstGeom prst="rect">
            <a:avLst/>
          </a:prstGeom>
          <a:noFill/>
          <a:ln/>
        </p:spPr>
        <p:txBody>
          <a:bodyPr wrap="square" lIns="0" tIns="0" rIns="0" bIns="0" rtlCol="0" anchor="t"/>
          <a:lstStyle/>
          <a:p>
            <a:pPr indent="0" marL="0">
              <a:buNone/>
            </a:pPr>
            <a:r>
              <a:rPr lang="en-US" sz="1800" b="1" dirty="0">
                <a:solidFill>
                  <a:srgbClr val="072840"/>
                </a:solidFill>
              </a:rPr>
              <a:t>Lecturers cannot break a booking</a:t>
            </a:r>
            <a:endParaRPr lang="en-US" sz="1800" dirty="0"/>
          </a:p>
        </p:txBody>
      </p:sp>
      <p:sp>
        <p:nvSpPr>
          <p:cNvPr id="25" name="Text 20"/>
          <p:cNvSpPr txBox="1"/>
          <p:nvPr/>
        </p:nvSpPr>
        <p:spPr>
          <a:xfrm>
            <a:off x="6309360" y="5340096"/>
            <a:ext cx="5120640" cy="749808"/>
          </a:xfrm>
          <a:prstGeom prst="rect">
            <a:avLst/>
          </a:prstGeom>
          <a:noFill/>
          <a:ln/>
        </p:spPr>
        <p:txBody>
          <a:bodyPr wrap="square" lIns="0" tIns="0" rIns="0" bIns="0" rtlCol="0" anchor="t"/>
          <a:lstStyle/>
          <a:p>
            <a:pPr indent="0" marL="0">
              <a:buNone/>
            </a:pPr>
            <a:r>
              <a:rPr lang="en-US" sz="1500" dirty="0">
                <a:solidFill>
                  <a:srgbClr val="16232F"/>
                </a:solidFill>
              </a:rPr>
              <a:t>A slot that is already booked cannot be edited or removed, and slots cannot overlap or be in the past.</a:t>
            </a:r>
            <a:endParaRPr lang="en-US" sz="1500" dirty="0"/>
          </a:p>
        </p:txBody>
      </p:sp>
      <p:sp>
        <p:nvSpPr>
          <p:cNvPr id="25" name="Slide Number Placeholder 0"/>
          <p:cNvSpPr>
            <a:spLocks noGrp="1"/>
          </p:cNvSpPr>
          <p:nvPr>
            <p:ph type="sldNum" sz="quarter" idx="4294967295"/>
          </p:nvPr>
        </p:nvSpPr>
        <p:spPr>
          <a:xfrm>
            <a:off x="1042416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411480"/>
            <a:ext cx="1046988" cy="329184"/>
          </a:xfrm>
          <a:prstGeom prst="rect">
            <a:avLst/>
          </a:prstGeom>
          <a:solidFill>
            <a:srgbClr val="FFFFFF"/>
          </a:solidFill>
          <a:ln w="19050">
            <a:solidFill>
              <a:srgbClr val="072840"/>
            </a:solidFill>
            <a:prstDash val="solid"/>
          </a:ln>
        </p:spPr>
      </p:sp>
      <p:sp>
        <p:nvSpPr>
          <p:cNvPr id="3" name="Text 1"/>
          <p:cNvSpPr txBox="1"/>
          <p:nvPr/>
        </p:nvSpPr>
        <p:spPr>
          <a:xfrm>
            <a:off x="548640" y="411480"/>
            <a:ext cx="1046988" cy="329184"/>
          </a:xfrm>
          <a:prstGeom prst="rect">
            <a:avLst/>
          </a:prstGeom>
          <a:noFill/>
          <a:ln/>
        </p:spPr>
        <p:txBody>
          <a:bodyPr wrap="square" lIns="0" tIns="0" rIns="0" bIns="0" rtlCol="0" anchor="ctr"/>
          <a:lstStyle/>
          <a:p>
            <a:pPr algn="ctr" indent="0" marL="0">
              <a:buNone/>
            </a:pPr>
            <a:r>
              <a:rPr lang="en-US" sz="1100" b="1" spc="100" kern="0" dirty="0">
                <a:solidFill>
                  <a:srgbClr val="072840"/>
                </a:solidFill>
              </a:rPr>
              <a:t>THE BUILD</a:t>
            </a:r>
            <a:endParaRPr lang="en-US" sz="1100" dirty="0"/>
          </a:p>
        </p:txBody>
      </p:sp>
      <p:sp>
        <p:nvSpPr>
          <p:cNvPr id="4" name="Title"/>
          <p:cNvSpPr txBox="1"/>
          <p:nvPr/>
        </p:nvSpPr>
        <p:spPr>
          <a:xfrm>
            <a:off x="548640" y="822960"/>
            <a:ext cx="10241280" cy="777240"/>
          </a:xfrm>
          <a:prstGeom prst="rect">
            <a:avLst/>
          </a:prstGeom>
          <a:noFill/>
          <a:ln/>
        </p:spPr>
        <p:txBody>
          <a:bodyPr wrap="square" lIns="0" tIns="0" rIns="0" bIns="0" rtlCol="0" anchor="ctr"/>
          <a:lstStyle/>
          <a:p>
            <a:pPr indent="0" marL="0">
              <a:buNone/>
            </a:pPr>
            <a:r>
              <a:rPr lang="en-US" sz="3200" dirty="0">
                <a:solidFill>
                  <a:srgbClr val="072840"/>
                </a:solidFill>
                <a:latin typeface="Arial" pitchFamily="34" charset="0"/>
                <a:ea typeface="Arial" pitchFamily="34" charset="-122"/>
                <a:cs typeface="Arial" pitchFamily="34" charset="-120"/>
              </a:rPr>
              <a:t>Testing found 10 problems. </a:t>
            </a:r>
            <a:pPr indent="0" marL="0">
              <a:buNone/>
            </a:pPr>
            <a:r>
              <a:rPr lang="en-US" sz="3200" b="1" dirty="0">
                <a:solidFill>
                  <a:srgbClr val="072840"/>
                </a:solidFill>
                <a:latin typeface="Arial" pitchFamily="34" charset="0"/>
                <a:ea typeface="Arial" pitchFamily="34" charset="-122"/>
                <a:cs typeface="Arial" pitchFamily="34" charset="-120"/>
              </a:rPr>
              <a:t>We fixed all of them</a:t>
            </a:r>
            <a:endParaRPr lang="en-US" sz="3200" dirty="0"/>
          </a:p>
        </p:txBody>
      </p:sp>
      <p:sp>
        <p:nvSpPr>
          <p:cNvPr id="5" name="Problem card 1"/>
          <p:cNvSpPr/>
          <p:nvPr/>
        </p:nvSpPr>
        <p:spPr>
          <a:xfrm>
            <a:off x="548640" y="1828800"/>
            <a:ext cx="5440680" cy="1920240"/>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822960" y="2103120"/>
            <a:ext cx="640080" cy="640080"/>
          </a:xfrm>
          <a:prstGeom prst="ellipse">
            <a:avLst/>
          </a:prstGeom>
          <a:solidFill>
            <a:srgbClr val="8B1A2B"/>
          </a:solidFill>
          <a:ln w="12700">
            <a:solidFill>
              <a:srgbClr val="8B1A2B"/>
            </a:solidFill>
            <a:prstDash val="solid"/>
          </a:ln>
        </p:spPr>
      </p:sp>
      <p:pic>
        <p:nvPicPr>
          <p:cNvPr id="7" name="Image 0" descr="preencoded.png">    </p:cNvPr>
          <p:cNvPicPr>
            <a:picLocks noChangeAspect="1"/>
          </p:cNvPicPr>
          <p:nvPr/>
        </p:nvPicPr>
        <p:blipFill>
          <a:blip r:embed="rId1"/>
          <a:stretch>
            <a:fillRect/>
          </a:stretch>
        </p:blipFill>
        <p:spPr>
          <a:xfrm>
            <a:off x="982980" y="2263140"/>
            <a:ext cx="320040" cy="320040"/>
          </a:xfrm>
          <a:prstGeom prst="rect">
            <a:avLst/>
          </a:prstGeom>
        </p:spPr>
      </p:pic>
      <p:sp>
        <p:nvSpPr>
          <p:cNvPr id="8" name="Text 5"/>
          <p:cNvSpPr txBox="1"/>
          <p:nvPr/>
        </p:nvSpPr>
        <p:spPr>
          <a:xfrm>
            <a:off x="1645920" y="2103120"/>
            <a:ext cx="4114800" cy="640080"/>
          </a:xfrm>
          <a:prstGeom prst="rect">
            <a:avLst/>
          </a:prstGeom>
          <a:noFill/>
          <a:ln/>
        </p:spPr>
        <p:txBody>
          <a:bodyPr wrap="square" lIns="0" tIns="0" rIns="0" bIns="0" rtlCol="0" anchor="ctr"/>
          <a:lstStyle/>
          <a:p>
            <a:pPr indent="0" marL="0">
              <a:buNone/>
            </a:pPr>
            <a:r>
              <a:rPr lang="en-US" sz="1800" b="1" dirty="0">
                <a:solidFill>
                  <a:srgbClr val="072840"/>
                </a:solidFill>
              </a:rPr>
              <a:t>Two pages showed no times</a:t>
            </a:r>
            <a:endParaRPr lang="en-US" sz="1800" dirty="0"/>
          </a:p>
        </p:txBody>
      </p:sp>
      <p:sp>
        <p:nvSpPr>
          <p:cNvPr id="9" name="Text 6"/>
          <p:cNvSpPr txBox="1"/>
          <p:nvPr/>
        </p:nvSpPr>
        <p:spPr>
          <a:xfrm>
            <a:off x="822960" y="2834640"/>
            <a:ext cx="4892040" cy="822960"/>
          </a:xfrm>
          <a:prstGeom prst="rect">
            <a:avLst/>
          </a:prstGeom>
          <a:noFill/>
          <a:ln/>
        </p:spPr>
        <p:txBody>
          <a:bodyPr wrap="square" lIns="0" tIns="0" rIns="0" bIns="0" rtlCol="0" anchor="t"/>
          <a:lstStyle/>
          <a:p>
            <a:pPr indent="0" marL="0">
              <a:buNone/>
            </a:pPr>
            <a:r>
              <a:rPr lang="en-US" sz="1500" dirty="0">
                <a:solidFill>
                  <a:srgbClr val="16232F"/>
                </a:solidFill>
              </a:rPr>
              <a:t>The Lecturer slots and Book a slot pages used different names for the times than the API. We matched the names.</a:t>
            </a:r>
            <a:endParaRPr lang="en-US" sz="1500" dirty="0"/>
          </a:p>
        </p:txBody>
      </p:sp>
      <p:sp>
        <p:nvSpPr>
          <p:cNvPr id="10" name="Problem card 2"/>
          <p:cNvSpPr/>
          <p:nvPr/>
        </p:nvSpPr>
        <p:spPr>
          <a:xfrm>
            <a:off x="6172200" y="1828800"/>
            <a:ext cx="5440680" cy="1920240"/>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11" name="Shape 8"/>
          <p:cNvSpPr/>
          <p:nvPr/>
        </p:nvSpPr>
        <p:spPr>
          <a:xfrm>
            <a:off x="6446520" y="2103120"/>
            <a:ext cx="640080" cy="640080"/>
          </a:xfrm>
          <a:prstGeom prst="ellipse">
            <a:avLst/>
          </a:prstGeom>
          <a:solidFill>
            <a:srgbClr val="1E8FCB"/>
          </a:solidFill>
          <a:ln w="12700">
            <a:solidFill>
              <a:srgbClr val="1E8FCB"/>
            </a:solidFill>
            <a:prstDash val="solid"/>
          </a:ln>
        </p:spPr>
      </p:sp>
      <p:pic>
        <p:nvPicPr>
          <p:cNvPr id="12" name="Image 1" descr="preencoded.png">    </p:cNvPr>
          <p:cNvPicPr>
            <a:picLocks noChangeAspect="1"/>
          </p:cNvPicPr>
          <p:nvPr/>
        </p:nvPicPr>
        <p:blipFill>
          <a:blip r:embed="rId2"/>
          <a:stretch>
            <a:fillRect/>
          </a:stretch>
        </p:blipFill>
        <p:spPr>
          <a:xfrm>
            <a:off x="6606540" y="2263140"/>
            <a:ext cx="320040" cy="320040"/>
          </a:xfrm>
          <a:prstGeom prst="rect">
            <a:avLst/>
          </a:prstGeom>
        </p:spPr>
      </p:pic>
      <p:sp>
        <p:nvSpPr>
          <p:cNvPr id="13" name="Text 9"/>
          <p:cNvSpPr txBox="1"/>
          <p:nvPr/>
        </p:nvSpPr>
        <p:spPr>
          <a:xfrm>
            <a:off x="7269480" y="2103120"/>
            <a:ext cx="4114800" cy="640080"/>
          </a:xfrm>
          <a:prstGeom prst="rect">
            <a:avLst/>
          </a:prstGeom>
          <a:noFill/>
          <a:ln/>
        </p:spPr>
        <p:txBody>
          <a:bodyPr wrap="square" lIns="0" tIns="0" rIns="0" bIns="0" rtlCol="0" anchor="ctr"/>
          <a:lstStyle/>
          <a:p>
            <a:pPr indent="0" marL="0">
              <a:buNone/>
            </a:pPr>
            <a:r>
              <a:rPr lang="en-US" sz="1800" b="1" dirty="0">
                <a:solidFill>
                  <a:srgbClr val="072840"/>
                </a:solidFill>
              </a:rPr>
              <a:t>Dates moved by one day</a:t>
            </a:r>
            <a:endParaRPr lang="en-US" sz="1800" dirty="0"/>
          </a:p>
        </p:txBody>
      </p:sp>
      <p:sp>
        <p:nvSpPr>
          <p:cNvPr id="14" name="Text 10"/>
          <p:cNvSpPr txBox="1"/>
          <p:nvPr/>
        </p:nvSpPr>
        <p:spPr>
          <a:xfrm>
            <a:off x="6446520" y="2834640"/>
            <a:ext cx="4892040" cy="822960"/>
          </a:xfrm>
          <a:prstGeom prst="rect">
            <a:avLst/>
          </a:prstGeom>
          <a:noFill/>
          <a:ln/>
        </p:spPr>
        <p:txBody>
          <a:bodyPr wrap="square" lIns="0" tIns="0" rIns="0" bIns="0" rtlCol="0" anchor="t"/>
          <a:lstStyle/>
          <a:p>
            <a:pPr indent="0" marL="0">
              <a:buNone/>
            </a:pPr>
            <a:r>
              <a:rPr lang="en-US" sz="1500" dirty="0">
                <a:solidFill>
                  <a:srgbClr val="16232F"/>
                </a:solidFill>
              </a:rPr>
              <a:t>A time-zone conversion shifted some dates. The database now sends the date as plain text.</a:t>
            </a:r>
            <a:endParaRPr lang="en-US" sz="1500" dirty="0"/>
          </a:p>
        </p:txBody>
      </p:sp>
      <p:sp>
        <p:nvSpPr>
          <p:cNvPr id="15" name="Problem card 3"/>
          <p:cNvSpPr/>
          <p:nvPr/>
        </p:nvSpPr>
        <p:spPr>
          <a:xfrm>
            <a:off x="548640" y="3931920"/>
            <a:ext cx="5440680" cy="1920240"/>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16" name="Shape 12"/>
          <p:cNvSpPr/>
          <p:nvPr/>
        </p:nvSpPr>
        <p:spPr>
          <a:xfrm>
            <a:off x="822960" y="4206240"/>
            <a:ext cx="640080" cy="640080"/>
          </a:xfrm>
          <a:prstGeom prst="ellipse">
            <a:avLst/>
          </a:prstGeom>
          <a:solidFill>
            <a:srgbClr val="12506F"/>
          </a:solidFill>
          <a:ln w="12700">
            <a:solidFill>
              <a:srgbClr val="12506F"/>
            </a:solidFill>
            <a:prstDash val="solid"/>
          </a:ln>
        </p:spPr>
      </p:sp>
      <p:pic>
        <p:nvPicPr>
          <p:cNvPr id="17" name="Image 2" descr="preencoded.png">    </p:cNvPr>
          <p:cNvPicPr>
            <a:picLocks noChangeAspect="1"/>
          </p:cNvPicPr>
          <p:nvPr/>
        </p:nvPicPr>
        <p:blipFill>
          <a:blip r:embed="rId3"/>
          <a:stretch>
            <a:fillRect/>
          </a:stretch>
        </p:blipFill>
        <p:spPr>
          <a:xfrm>
            <a:off x="982980" y="4366260"/>
            <a:ext cx="320040" cy="320040"/>
          </a:xfrm>
          <a:prstGeom prst="rect">
            <a:avLst/>
          </a:prstGeom>
        </p:spPr>
      </p:pic>
      <p:sp>
        <p:nvSpPr>
          <p:cNvPr id="18" name="Text 13"/>
          <p:cNvSpPr txBox="1"/>
          <p:nvPr/>
        </p:nvSpPr>
        <p:spPr>
          <a:xfrm>
            <a:off x="1645920" y="4206240"/>
            <a:ext cx="4114800" cy="640080"/>
          </a:xfrm>
          <a:prstGeom prst="rect">
            <a:avLst/>
          </a:prstGeom>
          <a:noFill/>
          <a:ln/>
        </p:spPr>
        <p:txBody>
          <a:bodyPr wrap="square" lIns="0" tIns="0" rIns="0" bIns="0" rtlCol="0" anchor="ctr"/>
          <a:lstStyle/>
          <a:p>
            <a:pPr indent="0" marL="0">
              <a:buNone/>
            </a:pPr>
            <a:r>
              <a:rPr lang="en-US" sz="1800" b="1" dirty="0">
                <a:solidFill>
                  <a:srgbClr val="072840"/>
                </a:solidFill>
              </a:rPr>
              <a:t>No way to change a booking</a:t>
            </a:r>
            <a:endParaRPr lang="en-US" sz="1800" dirty="0"/>
          </a:p>
        </p:txBody>
      </p:sp>
      <p:sp>
        <p:nvSpPr>
          <p:cNvPr id="19" name="Text 14"/>
          <p:cNvSpPr txBox="1"/>
          <p:nvPr/>
        </p:nvSpPr>
        <p:spPr>
          <a:xfrm>
            <a:off x="822960" y="4937760"/>
            <a:ext cx="4892040" cy="822960"/>
          </a:xfrm>
          <a:prstGeom prst="rect">
            <a:avLst/>
          </a:prstGeom>
          <a:noFill/>
          <a:ln/>
        </p:spPr>
        <p:txBody>
          <a:bodyPr wrap="square" lIns="0" tIns="0" rIns="0" bIns="0" rtlCol="0" anchor="t"/>
          <a:lstStyle/>
          <a:p>
            <a:pPr indent="0" marL="0">
              <a:buNone/>
            </a:pPr>
            <a:r>
              <a:rPr lang="en-US" sz="1500" dirty="0">
                <a:solidFill>
                  <a:srgbClr val="16232F"/>
                </a:solidFill>
              </a:rPr>
              <a:t>My bookings only had Cancel. We added a Change time button that moves the booking.</a:t>
            </a:r>
            <a:endParaRPr lang="en-US" sz="1500" dirty="0"/>
          </a:p>
        </p:txBody>
      </p:sp>
      <p:sp>
        <p:nvSpPr>
          <p:cNvPr id="20" name="Problem card 4"/>
          <p:cNvSpPr/>
          <p:nvPr/>
        </p:nvSpPr>
        <p:spPr>
          <a:xfrm>
            <a:off x="6172200" y="3931920"/>
            <a:ext cx="5440680" cy="1920240"/>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21" name="Shape 16"/>
          <p:cNvSpPr/>
          <p:nvPr/>
        </p:nvSpPr>
        <p:spPr>
          <a:xfrm>
            <a:off x="6446520" y="4206240"/>
            <a:ext cx="640080" cy="640080"/>
          </a:xfrm>
          <a:prstGeom prst="ellipse">
            <a:avLst/>
          </a:prstGeom>
          <a:solidFill>
            <a:srgbClr val="B36BC4"/>
          </a:solidFill>
          <a:ln w="12700">
            <a:solidFill>
              <a:srgbClr val="B36BC4"/>
            </a:solidFill>
            <a:prstDash val="solid"/>
          </a:ln>
        </p:spPr>
      </p:sp>
      <p:pic>
        <p:nvPicPr>
          <p:cNvPr id="22" name="Image 3" descr="preencoded.png">    </p:cNvPr>
          <p:cNvPicPr>
            <a:picLocks noChangeAspect="1"/>
          </p:cNvPicPr>
          <p:nvPr/>
        </p:nvPicPr>
        <p:blipFill>
          <a:blip r:embed="rId4"/>
          <a:stretch>
            <a:fillRect/>
          </a:stretch>
        </p:blipFill>
        <p:spPr>
          <a:xfrm>
            <a:off x="6606540" y="4366260"/>
            <a:ext cx="320040" cy="320040"/>
          </a:xfrm>
          <a:prstGeom prst="rect">
            <a:avLst/>
          </a:prstGeom>
        </p:spPr>
      </p:pic>
      <p:sp>
        <p:nvSpPr>
          <p:cNvPr id="23" name="Text 17"/>
          <p:cNvSpPr txBox="1"/>
          <p:nvPr/>
        </p:nvSpPr>
        <p:spPr>
          <a:xfrm>
            <a:off x="7269480" y="4206240"/>
            <a:ext cx="4114800" cy="640080"/>
          </a:xfrm>
          <a:prstGeom prst="rect">
            <a:avLst/>
          </a:prstGeom>
          <a:noFill/>
          <a:ln/>
        </p:spPr>
        <p:txBody>
          <a:bodyPr wrap="square" lIns="0" tIns="0" rIns="0" bIns="0" rtlCol="0" anchor="ctr"/>
          <a:lstStyle/>
          <a:p>
            <a:pPr indent="0" marL="0">
              <a:buNone/>
            </a:pPr>
            <a:r>
              <a:rPr lang="en-US" sz="1800" b="1" dirty="0">
                <a:solidFill>
                  <a:srgbClr val="072840"/>
                </a:solidFill>
              </a:rPr>
              <a:t>Passwords could be guessed forever</a:t>
            </a:r>
            <a:endParaRPr lang="en-US" sz="1800" dirty="0"/>
          </a:p>
        </p:txBody>
      </p:sp>
      <p:sp>
        <p:nvSpPr>
          <p:cNvPr id="24" name="Text 18"/>
          <p:cNvSpPr txBox="1"/>
          <p:nvPr/>
        </p:nvSpPr>
        <p:spPr>
          <a:xfrm>
            <a:off x="6446520" y="4937760"/>
            <a:ext cx="4892040" cy="822960"/>
          </a:xfrm>
          <a:prstGeom prst="rect">
            <a:avLst/>
          </a:prstGeom>
          <a:noFill/>
          <a:ln/>
        </p:spPr>
        <p:txBody>
          <a:bodyPr wrap="square" lIns="0" tIns="0" rIns="0" bIns="0" rtlCol="0" anchor="t"/>
          <a:lstStyle/>
          <a:p>
            <a:pPr indent="0" marL="0">
              <a:buNone/>
            </a:pPr>
            <a:r>
              <a:rPr lang="en-US" sz="1500" dirty="0">
                <a:solidFill>
                  <a:srgbClr val="16232F"/>
                </a:solidFill>
              </a:rPr>
              <a:t>After 10 wrong passwords in 15 minutes, the login now blocks more tries for a while.</a:t>
            </a:r>
            <a:endParaRPr lang="en-US" sz="1500" dirty="0"/>
          </a:p>
        </p:txBody>
      </p:sp>
      <p:sp>
        <p:nvSpPr>
          <p:cNvPr id="25" name="Text 19"/>
          <p:cNvSpPr txBox="1"/>
          <p:nvPr/>
        </p:nvSpPr>
        <p:spPr>
          <a:xfrm>
            <a:off x="548640" y="6035040"/>
            <a:ext cx="11064240" cy="365760"/>
          </a:xfrm>
          <a:prstGeom prst="rect">
            <a:avLst/>
          </a:prstGeom>
          <a:noFill/>
          <a:ln/>
        </p:spPr>
        <p:txBody>
          <a:bodyPr wrap="square" lIns="0" tIns="0" rIns="0" bIns="0" rtlCol="0" anchor="t"/>
          <a:lstStyle/>
          <a:p>
            <a:pPr indent="0" marL="0">
              <a:buNone/>
            </a:pPr>
            <a:r>
              <a:rPr lang="en-US" sz="1500" b="1" i="1" dirty="0">
                <a:solidFill>
                  <a:srgbClr val="8B1A2B"/>
                </a:solidFill>
              </a:rPr>
              <a:t>Lesson: </a:t>
            </a:r>
            <a:pPr indent="0" marL="0">
              <a:buNone/>
            </a:pPr>
            <a:r>
              <a:rPr lang="en-US" sz="1500" i="1" dirty="0">
                <a:solidFill>
                  <a:srgbClr val="16232F"/>
                </a:solidFill>
              </a:rPr>
              <a:t>most bugs were at the joins between our parts, so agree on names and test the joins early.</a:t>
            </a:r>
            <a:endParaRPr lang="en-US" sz="1500" dirty="0"/>
          </a:p>
        </p:txBody>
      </p:sp>
      <p:sp>
        <p:nvSpPr>
          <p:cNvPr id="25" name="Slide Number Placeholder 0"/>
          <p:cNvSpPr>
            <a:spLocks noGrp="1"/>
          </p:cNvSpPr>
          <p:nvPr>
            <p:ph type="sldNum" sz="quarter" idx="4294967295"/>
          </p:nvPr>
        </p:nvSpPr>
        <p:spPr>
          <a:xfrm>
            <a:off x="1042416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411480"/>
            <a:ext cx="1239012" cy="329184"/>
          </a:xfrm>
          <a:prstGeom prst="rect">
            <a:avLst/>
          </a:prstGeom>
          <a:solidFill>
            <a:srgbClr val="072840"/>
          </a:solidFill>
          <a:ln w="19050">
            <a:solidFill>
              <a:srgbClr val="FFFFFF"/>
            </a:solidFill>
            <a:prstDash val="solid"/>
          </a:ln>
        </p:spPr>
      </p:sp>
      <p:sp>
        <p:nvSpPr>
          <p:cNvPr id="3" name="Text 1"/>
          <p:cNvSpPr txBox="1"/>
          <p:nvPr/>
        </p:nvSpPr>
        <p:spPr>
          <a:xfrm>
            <a:off x="548640" y="411480"/>
            <a:ext cx="1239012"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rPr>
              <a:t>THE RESULTS</a:t>
            </a:r>
            <a:endParaRPr lang="en-US" sz="1100" dirty="0"/>
          </a:p>
        </p:txBody>
      </p:sp>
      <p:sp>
        <p:nvSpPr>
          <p:cNvPr id="4" name="Title"/>
          <p:cNvSpPr txBox="1"/>
          <p:nvPr/>
        </p:nvSpPr>
        <p:spPr>
          <a:xfrm>
            <a:off x="548640" y="822960"/>
            <a:ext cx="10241280" cy="777240"/>
          </a:xfrm>
          <a:prstGeom prst="rect">
            <a:avLst/>
          </a:prstGeom>
          <a:noFill/>
          <a:ln/>
        </p:spPr>
        <p:txBody>
          <a:bodyPr wrap="square" lIns="0" tIns="0" rIns="0" bIns="0" rtlCol="0" anchor="ctr"/>
          <a:lstStyle/>
          <a:p>
            <a:pPr indent="0" marL="0">
              <a:buNone/>
            </a:pPr>
            <a:r>
              <a:rPr lang="en-US" sz="3200" dirty="0">
                <a:solidFill>
                  <a:srgbClr val="FFFFFF"/>
                </a:solidFill>
                <a:latin typeface="Arial" pitchFamily="34" charset="0"/>
                <a:ea typeface="Arial" pitchFamily="34" charset="-122"/>
                <a:cs typeface="Arial" pitchFamily="34" charset="-120"/>
              </a:rPr>
              <a:t>What the testing </a:t>
            </a:r>
            <a:pPr indent="0" marL="0">
              <a:buNone/>
            </a:pPr>
            <a:r>
              <a:rPr lang="en-US" sz="3200" b="1" dirty="0">
                <a:solidFill>
                  <a:srgbClr val="5BCBE8"/>
                </a:solidFill>
                <a:latin typeface="Arial" pitchFamily="34" charset="0"/>
                <a:ea typeface="Arial" pitchFamily="34" charset="-122"/>
                <a:cs typeface="Arial" pitchFamily="34" charset="-120"/>
              </a:rPr>
              <a:t>showed</a:t>
            </a:r>
            <a:endParaRPr lang="en-US" sz="3200" dirty="0"/>
          </a:p>
        </p:txBody>
      </p:sp>
      <p:sp>
        <p:nvSpPr>
          <p:cNvPr id="5" name="User testing card"/>
          <p:cNvSpPr/>
          <p:nvPr/>
        </p:nvSpPr>
        <p:spPr>
          <a:xfrm>
            <a:off x="548640" y="1828800"/>
            <a:ext cx="4206240" cy="3886200"/>
          </a:xfrm>
          <a:prstGeom prst="rect">
            <a:avLst/>
          </a:prstGeom>
          <a:solidFill>
            <a:srgbClr val="12506F">
              <a:alpha val="75000"/>
            </a:srgbClr>
          </a:solidFill>
          <a:ln w="19050">
            <a:solidFill>
              <a:srgbClr val="F2C46D"/>
            </a:solidFill>
            <a:prstDash val="solid"/>
          </a:ln>
        </p:spPr>
      </p:sp>
      <p:sp>
        <p:nvSpPr>
          <p:cNvPr id="6" name="Text 4"/>
          <p:cNvSpPr txBox="1"/>
          <p:nvPr/>
        </p:nvSpPr>
        <p:spPr>
          <a:xfrm>
            <a:off x="822960" y="2057400"/>
            <a:ext cx="3657600" cy="365760"/>
          </a:xfrm>
          <a:prstGeom prst="rect">
            <a:avLst/>
          </a:prstGeom>
          <a:noFill/>
          <a:ln/>
        </p:spPr>
        <p:txBody>
          <a:bodyPr wrap="square" lIns="0" tIns="0" rIns="0" bIns="0" rtlCol="0" anchor="t"/>
          <a:lstStyle/>
          <a:p>
            <a:pPr indent="0" marL="0">
              <a:buNone/>
            </a:pPr>
            <a:r>
              <a:rPr lang="en-US" sz="1400" b="1" spc="200" kern="0" dirty="0">
                <a:solidFill>
                  <a:srgbClr val="F2C46D"/>
                </a:solidFill>
              </a:rPr>
              <a:t>USER TESTING</a:t>
            </a:r>
            <a:endParaRPr lang="en-US" sz="1400" dirty="0"/>
          </a:p>
        </p:txBody>
      </p:sp>
      <p:sp>
        <p:nvSpPr>
          <p:cNvPr id="7" name="Text 5"/>
          <p:cNvSpPr txBox="1"/>
          <p:nvPr/>
        </p:nvSpPr>
        <p:spPr>
          <a:xfrm>
            <a:off x="822960" y="2423160"/>
            <a:ext cx="3657600" cy="457200"/>
          </a:xfrm>
          <a:prstGeom prst="rect">
            <a:avLst/>
          </a:prstGeom>
          <a:noFill/>
          <a:ln/>
        </p:spPr>
        <p:txBody>
          <a:bodyPr wrap="square" lIns="0" tIns="0" rIns="0" bIns="0" rtlCol="0" anchor="t"/>
          <a:lstStyle/>
          <a:p>
            <a:pPr indent="0" marL="0">
              <a:buNone/>
            </a:pPr>
            <a:r>
              <a:rPr lang="en-US" sz="1800" b="1" dirty="0">
                <a:solidFill>
                  <a:srgbClr val="FFFFFF"/>
                </a:solidFill>
              </a:rPr>
              <a:t>4 students and 2 lecturers</a:t>
            </a:r>
            <a:endParaRPr lang="en-US" sz="1800" dirty="0"/>
          </a:p>
        </p:txBody>
      </p:sp>
      <p:sp>
        <p:nvSpPr>
          <p:cNvPr id="8" name="Text 6"/>
          <p:cNvSpPr txBox="1"/>
          <p:nvPr/>
        </p:nvSpPr>
        <p:spPr>
          <a:xfrm>
            <a:off x="822960" y="2971800"/>
            <a:ext cx="3657600" cy="777240"/>
          </a:xfrm>
          <a:prstGeom prst="rect">
            <a:avLst/>
          </a:prstGeom>
          <a:noFill/>
          <a:ln/>
        </p:spPr>
        <p:txBody>
          <a:bodyPr wrap="square" lIns="0" tIns="0" rIns="0" bIns="0" rtlCol="0" anchor="t"/>
          <a:lstStyle/>
          <a:p>
            <a:pPr indent="0" marL="0">
              <a:buNone/>
            </a:pPr>
            <a:r>
              <a:rPr lang="en-US" sz="4400" b="1" dirty="0">
                <a:solidFill>
                  <a:srgbClr val="F2C46D"/>
                </a:solidFill>
              </a:rPr>
              <a:t>4 of 6</a:t>
            </a:r>
            <a:endParaRPr lang="en-US" sz="4400" dirty="0"/>
          </a:p>
        </p:txBody>
      </p:sp>
      <p:sp>
        <p:nvSpPr>
          <p:cNvPr id="9" name="Text 7"/>
          <p:cNvSpPr txBox="1"/>
          <p:nvPr/>
        </p:nvSpPr>
        <p:spPr>
          <a:xfrm>
            <a:off x="822960" y="3749040"/>
            <a:ext cx="3657600" cy="457200"/>
          </a:xfrm>
          <a:prstGeom prst="rect">
            <a:avLst/>
          </a:prstGeom>
          <a:noFill/>
          <a:ln/>
        </p:spPr>
        <p:txBody>
          <a:bodyPr wrap="square" lIns="0" tIns="0" rIns="0" bIns="0" rtlCol="0" anchor="t"/>
          <a:lstStyle/>
          <a:p>
            <a:pPr indent="0" marL="0">
              <a:buNone/>
            </a:pPr>
            <a:r>
              <a:rPr lang="en-US" sz="1500" dirty="0">
                <a:solidFill>
                  <a:srgbClr val="FFFFFF"/>
                </a:solidFill>
              </a:rPr>
              <a:t>rated it easy to use</a:t>
            </a:r>
            <a:endParaRPr lang="en-US" sz="1500" dirty="0"/>
          </a:p>
        </p:txBody>
      </p:sp>
      <p:sp>
        <p:nvSpPr>
          <p:cNvPr id="10" name="Text 8"/>
          <p:cNvSpPr txBox="1"/>
          <p:nvPr/>
        </p:nvSpPr>
        <p:spPr>
          <a:xfrm>
            <a:off x="822960" y="4343400"/>
            <a:ext cx="3657600" cy="640080"/>
          </a:xfrm>
          <a:prstGeom prst="rect">
            <a:avLst/>
          </a:prstGeom>
          <a:noFill/>
          <a:ln/>
        </p:spPr>
        <p:txBody>
          <a:bodyPr wrap="square" lIns="0" tIns="0" rIns="0" bIns="0" rtlCol="0" anchor="t"/>
          <a:lstStyle/>
          <a:p>
            <a:pPr indent="0" marL="0">
              <a:buNone/>
            </a:pPr>
            <a:r>
              <a:rPr lang="en-US" sz="3200" b="1" dirty="0">
                <a:solidFill>
                  <a:srgbClr val="F2C46D"/>
                </a:solidFill>
              </a:rPr>
              <a:t>4.5 out of 5</a:t>
            </a:r>
            <a:endParaRPr lang="en-US" sz="3200" dirty="0"/>
          </a:p>
        </p:txBody>
      </p:sp>
      <p:sp>
        <p:nvSpPr>
          <p:cNvPr id="11" name="Text 9"/>
          <p:cNvSpPr txBox="1"/>
          <p:nvPr/>
        </p:nvSpPr>
        <p:spPr>
          <a:xfrm>
            <a:off x="822960" y="4983480"/>
            <a:ext cx="3657600" cy="457200"/>
          </a:xfrm>
          <a:prstGeom prst="rect">
            <a:avLst/>
          </a:prstGeom>
          <a:noFill/>
          <a:ln/>
        </p:spPr>
        <p:txBody>
          <a:bodyPr wrap="square" lIns="0" tIns="0" rIns="0" bIns="0" rtlCol="0" anchor="t"/>
          <a:lstStyle/>
          <a:p>
            <a:pPr indent="0" marL="0">
              <a:buNone/>
            </a:pPr>
            <a:r>
              <a:rPr lang="en-US" sz="1500" dirty="0">
                <a:solidFill>
                  <a:srgbClr val="FFFFFF"/>
                </a:solidFill>
              </a:rPr>
              <a:t>students’ average ease rating (lecturers 2.5)</a:t>
            </a:r>
            <a:endParaRPr lang="en-US" sz="1500" dirty="0"/>
          </a:p>
        </p:txBody>
      </p:sp>
      <p:sp>
        <p:nvSpPr>
          <p:cNvPr id="12" name="KPI 1"/>
          <p:cNvSpPr/>
          <p:nvPr/>
        </p:nvSpPr>
        <p:spPr>
          <a:xfrm>
            <a:off x="5120640" y="1828800"/>
            <a:ext cx="3154680" cy="1874520"/>
          </a:xfrm>
          <a:prstGeom prst="rect">
            <a:avLst/>
          </a:prstGeom>
          <a:solidFill>
            <a:srgbClr val="12506F">
              <a:alpha val="75000"/>
            </a:srgbClr>
          </a:solidFill>
          <a:ln w="15875">
            <a:solidFill>
              <a:srgbClr val="5BCBE8"/>
            </a:solidFill>
            <a:prstDash val="solid"/>
          </a:ln>
        </p:spPr>
      </p:sp>
      <p:sp>
        <p:nvSpPr>
          <p:cNvPr id="13" name="Text 11"/>
          <p:cNvSpPr txBox="1"/>
          <p:nvPr/>
        </p:nvSpPr>
        <p:spPr>
          <a:xfrm>
            <a:off x="5349240" y="2011680"/>
            <a:ext cx="2743200" cy="822960"/>
          </a:xfrm>
          <a:prstGeom prst="rect">
            <a:avLst/>
          </a:prstGeom>
          <a:noFill/>
          <a:ln/>
        </p:spPr>
        <p:txBody>
          <a:bodyPr wrap="square" lIns="0" tIns="0" rIns="0" bIns="0" rtlCol="0" anchor="t"/>
          <a:lstStyle/>
          <a:p>
            <a:pPr indent="0" marL="0">
              <a:buNone/>
            </a:pPr>
            <a:r>
              <a:rPr lang="en-US" sz="3800" b="1" dirty="0">
                <a:solidFill>
                  <a:srgbClr val="5BCBE8"/>
                </a:solidFill>
              </a:rPr>
              <a:t>9 of 9</a:t>
            </a:r>
            <a:endParaRPr lang="en-US" sz="3800" dirty="0"/>
          </a:p>
        </p:txBody>
      </p:sp>
      <p:sp>
        <p:nvSpPr>
          <p:cNvPr id="14" name="Text 12"/>
          <p:cNvSpPr txBox="1"/>
          <p:nvPr/>
        </p:nvSpPr>
        <p:spPr>
          <a:xfrm>
            <a:off x="5349240" y="2880360"/>
            <a:ext cx="2743200" cy="731520"/>
          </a:xfrm>
          <a:prstGeom prst="rect">
            <a:avLst/>
          </a:prstGeom>
          <a:noFill/>
          <a:ln/>
        </p:spPr>
        <p:txBody>
          <a:bodyPr wrap="square" lIns="0" tIns="0" rIns="0" bIns="0" rtlCol="0" anchor="t"/>
          <a:lstStyle/>
          <a:p>
            <a:pPr indent="0" marL="0">
              <a:buNone/>
            </a:pPr>
            <a:r>
              <a:rPr lang="en-US" sz="1600" dirty="0">
                <a:solidFill>
                  <a:srgbClr val="FFFFFF"/>
                </a:solidFill>
              </a:rPr>
              <a:t>functional requirements met</a:t>
            </a:r>
            <a:endParaRPr lang="en-US" sz="1600" dirty="0"/>
          </a:p>
        </p:txBody>
      </p:sp>
      <p:sp>
        <p:nvSpPr>
          <p:cNvPr id="15" name="KPI 2"/>
          <p:cNvSpPr/>
          <p:nvPr/>
        </p:nvSpPr>
        <p:spPr>
          <a:xfrm>
            <a:off x="8412480" y="1828800"/>
            <a:ext cx="3154680" cy="1874520"/>
          </a:xfrm>
          <a:prstGeom prst="rect">
            <a:avLst/>
          </a:prstGeom>
          <a:solidFill>
            <a:srgbClr val="12506F">
              <a:alpha val="75000"/>
            </a:srgbClr>
          </a:solidFill>
          <a:ln w="15875">
            <a:solidFill>
              <a:srgbClr val="8DC63F"/>
            </a:solidFill>
            <a:prstDash val="solid"/>
          </a:ln>
        </p:spPr>
      </p:sp>
      <p:sp>
        <p:nvSpPr>
          <p:cNvPr id="16" name="Text 14"/>
          <p:cNvSpPr txBox="1"/>
          <p:nvPr/>
        </p:nvSpPr>
        <p:spPr>
          <a:xfrm>
            <a:off x="8641080" y="2011680"/>
            <a:ext cx="2743200" cy="822960"/>
          </a:xfrm>
          <a:prstGeom prst="rect">
            <a:avLst/>
          </a:prstGeom>
          <a:noFill/>
          <a:ln/>
        </p:spPr>
        <p:txBody>
          <a:bodyPr wrap="square" lIns="0" tIns="0" rIns="0" bIns="0" rtlCol="0" anchor="t"/>
          <a:lstStyle/>
          <a:p>
            <a:pPr indent="0" marL="0">
              <a:buNone/>
            </a:pPr>
            <a:r>
              <a:rPr lang="en-US" sz="3800" b="1" dirty="0">
                <a:solidFill>
                  <a:srgbClr val="8DC63F"/>
                </a:solidFill>
              </a:rPr>
              <a:t>10 of 10</a:t>
            </a:r>
            <a:endParaRPr lang="en-US" sz="3800" dirty="0"/>
          </a:p>
        </p:txBody>
      </p:sp>
      <p:sp>
        <p:nvSpPr>
          <p:cNvPr id="17" name="Text 15"/>
          <p:cNvSpPr txBox="1"/>
          <p:nvPr/>
        </p:nvSpPr>
        <p:spPr>
          <a:xfrm>
            <a:off x="8641080" y="2880360"/>
            <a:ext cx="2743200" cy="731520"/>
          </a:xfrm>
          <a:prstGeom prst="rect">
            <a:avLst/>
          </a:prstGeom>
          <a:noFill/>
          <a:ln/>
        </p:spPr>
        <p:txBody>
          <a:bodyPr wrap="square" lIns="0" tIns="0" rIns="0" bIns="0" rtlCol="0" anchor="t"/>
          <a:lstStyle/>
          <a:p>
            <a:pPr indent="0" marL="0">
              <a:buNone/>
            </a:pPr>
            <a:r>
              <a:rPr lang="en-US" sz="1600" dirty="0">
                <a:solidFill>
                  <a:srgbClr val="FFFFFF"/>
                </a:solidFill>
              </a:rPr>
              <a:t>defects fixed, none left open</a:t>
            </a:r>
            <a:endParaRPr lang="en-US" sz="1600" dirty="0"/>
          </a:p>
        </p:txBody>
      </p:sp>
      <p:sp>
        <p:nvSpPr>
          <p:cNvPr id="18" name="KPI 3"/>
          <p:cNvSpPr/>
          <p:nvPr/>
        </p:nvSpPr>
        <p:spPr>
          <a:xfrm>
            <a:off x="5120640" y="3840480"/>
            <a:ext cx="3154680" cy="1874520"/>
          </a:xfrm>
          <a:prstGeom prst="rect">
            <a:avLst/>
          </a:prstGeom>
          <a:solidFill>
            <a:srgbClr val="12506F">
              <a:alpha val="75000"/>
            </a:srgbClr>
          </a:solidFill>
          <a:ln w="15875">
            <a:solidFill>
              <a:srgbClr val="B36BC4"/>
            </a:solidFill>
            <a:prstDash val="solid"/>
          </a:ln>
        </p:spPr>
      </p:sp>
      <p:sp>
        <p:nvSpPr>
          <p:cNvPr id="19" name="Text 17"/>
          <p:cNvSpPr txBox="1"/>
          <p:nvPr/>
        </p:nvSpPr>
        <p:spPr>
          <a:xfrm>
            <a:off x="5349240" y="4023360"/>
            <a:ext cx="2743200" cy="822960"/>
          </a:xfrm>
          <a:prstGeom prst="rect">
            <a:avLst/>
          </a:prstGeom>
          <a:noFill/>
          <a:ln/>
        </p:spPr>
        <p:txBody>
          <a:bodyPr wrap="square" lIns="0" tIns="0" rIns="0" bIns="0" rtlCol="0" anchor="t"/>
          <a:lstStyle/>
          <a:p>
            <a:pPr indent="0" marL="0">
              <a:buNone/>
            </a:pPr>
            <a:r>
              <a:rPr lang="en-US" sz="3800" b="1" dirty="0">
                <a:solidFill>
                  <a:srgbClr val="B36BC4"/>
                </a:solidFill>
              </a:rPr>
              <a:t>389 ms</a:t>
            </a:r>
            <a:endParaRPr lang="en-US" sz="3800" dirty="0"/>
          </a:p>
        </p:txBody>
      </p:sp>
      <p:sp>
        <p:nvSpPr>
          <p:cNvPr id="20" name="Text 18"/>
          <p:cNvSpPr txBox="1"/>
          <p:nvPr/>
        </p:nvSpPr>
        <p:spPr>
          <a:xfrm>
            <a:off x="5349240" y="4892040"/>
            <a:ext cx="2743200" cy="731520"/>
          </a:xfrm>
          <a:prstGeom prst="rect">
            <a:avLst/>
          </a:prstGeom>
          <a:noFill/>
          <a:ln/>
        </p:spPr>
        <p:txBody>
          <a:bodyPr wrap="square" lIns="0" tIns="0" rIns="0" bIns="0" rtlCol="0" anchor="t"/>
          <a:lstStyle/>
          <a:p>
            <a:pPr indent="0" marL="0">
              <a:buNone/>
            </a:pPr>
            <a:r>
              <a:rPr lang="en-US" sz="1600" dirty="0">
                <a:solidFill>
                  <a:srgbClr val="FFFFFF"/>
                </a:solidFill>
              </a:rPr>
              <a:t>slowest page load</a:t>
            </a:r>
            <a:endParaRPr lang="en-US" sz="1600" dirty="0"/>
          </a:p>
        </p:txBody>
      </p:sp>
      <p:sp>
        <p:nvSpPr>
          <p:cNvPr id="21" name="KPI 4"/>
          <p:cNvSpPr/>
          <p:nvPr/>
        </p:nvSpPr>
        <p:spPr>
          <a:xfrm>
            <a:off x="8412480" y="3840480"/>
            <a:ext cx="3154680" cy="1874520"/>
          </a:xfrm>
          <a:prstGeom prst="rect">
            <a:avLst/>
          </a:prstGeom>
          <a:solidFill>
            <a:srgbClr val="12506F">
              <a:alpha val="75000"/>
            </a:srgbClr>
          </a:solidFill>
          <a:ln w="15875">
            <a:solidFill>
              <a:srgbClr val="5BCBE8"/>
            </a:solidFill>
            <a:prstDash val="solid"/>
          </a:ln>
        </p:spPr>
      </p:sp>
      <p:sp>
        <p:nvSpPr>
          <p:cNvPr id="22" name="Text 20"/>
          <p:cNvSpPr txBox="1"/>
          <p:nvPr/>
        </p:nvSpPr>
        <p:spPr>
          <a:xfrm>
            <a:off x="8641080" y="4023360"/>
            <a:ext cx="2743200" cy="822960"/>
          </a:xfrm>
          <a:prstGeom prst="rect">
            <a:avLst/>
          </a:prstGeom>
          <a:noFill/>
          <a:ln/>
        </p:spPr>
        <p:txBody>
          <a:bodyPr wrap="square" lIns="0" tIns="0" rIns="0" bIns="0" rtlCol="0" anchor="t"/>
          <a:lstStyle/>
          <a:p>
            <a:pPr indent="0" marL="0">
              <a:buNone/>
            </a:pPr>
            <a:r>
              <a:rPr lang="en-US" sz="3800" b="1" dirty="0">
                <a:solidFill>
                  <a:srgbClr val="5BCBE8"/>
                </a:solidFill>
              </a:rPr>
              <a:t>1 of 8</a:t>
            </a:r>
            <a:endParaRPr lang="en-US" sz="3800" dirty="0"/>
          </a:p>
        </p:txBody>
      </p:sp>
      <p:sp>
        <p:nvSpPr>
          <p:cNvPr id="23" name="Text 21"/>
          <p:cNvSpPr txBox="1"/>
          <p:nvPr/>
        </p:nvSpPr>
        <p:spPr>
          <a:xfrm>
            <a:off x="8641080" y="4892040"/>
            <a:ext cx="2743200" cy="731520"/>
          </a:xfrm>
          <a:prstGeom prst="rect">
            <a:avLst/>
          </a:prstGeom>
          <a:noFill/>
          <a:ln/>
        </p:spPr>
        <p:txBody>
          <a:bodyPr wrap="square" lIns="0" tIns="0" rIns="0" bIns="0" rtlCol="0" anchor="t"/>
          <a:lstStyle/>
          <a:p>
            <a:pPr indent="0" marL="0">
              <a:buNone/>
            </a:pPr>
            <a:r>
              <a:rPr lang="en-US" sz="1600" dirty="0">
                <a:solidFill>
                  <a:srgbClr val="FFFFFF"/>
                </a:solidFill>
              </a:rPr>
              <a:t>booking requests for the same slot got through</a:t>
            </a:r>
            <a:endParaRPr lang="en-US" sz="1600" dirty="0"/>
          </a:p>
        </p:txBody>
      </p:sp>
      <p:sp>
        <p:nvSpPr>
          <p:cNvPr id="24" name="Text 22"/>
          <p:cNvSpPr txBox="1"/>
          <p:nvPr/>
        </p:nvSpPr>
        <p:spPr>
          <a:xfrm>
            <a:off x="548640" y="5852160"/>
            <a:ext cx="11064240" cy="457200"/>
          </a:xfrm>
          <a:prstGeom prst="rect">
            <a:avLst/>
          </a:prstGeom>
          <a:noFill/>
          <a:ln/>
        </p:spPr>
        <p:txBody>
          <a:bodyPr wrap="square" lIns="0" tIns="0" rIns="0" bIns="0" rtlCol="0" anchor="t"/>
          <a:lstStyle/>
          <a:p>
            <a:pPr indent="0" marL="0">
              <a:buNone/>
            </a:pPr>
            <a:r>
              <a:rPr lang="en-US" sz="1500" i="1" dirty="0">
                <a:solidFill>
                  <a:srgbClr val="BFD3E0"/>
                </a:solidFill>
              </a:rPr>
              <a:t>Also passed: students cannot see each other’s bookings, and every page works on a phone and a laptop.</a:t>
            </a:r>
            <a:endParaRPr lang="en-US" sz="1500" dirty="0"/>
          </a:p>
        </p:txBody>
      </p:sp>
      <p:sp>
        <p:nvSpPr>
          <p:cNvPr id="25" name="Slide Number Placeholder 0"/>
          <p:cNvSpPr>
            <a:spLocks noGrp="1"/>
          </p:cNvSpPr>
          <p:nvPr>
            <p:ph type="sldNum" sz="quarter" idx="4294967295"/>
          </p:nvPr>
        </p:nvSpPr>
        <p:spPr>
          <a:xfrm>
            <a:off x="1042416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3E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411480"/>
            <a:ext cx="1239012" cy="329184"/>
          </a:xfrm>
          <a:prstGeom prst="rect">
            <a:avLst/>
          </a:prstGeom>
          <a:solidFill>
            <a:srgbClr val="FFFFFF"/>
          </a:solidFill>
          <a:ln w="19050">
            <a:solidFill>
              <a:srgbClr val="072840"/>
            </a:solidFill>
            <a:prstDash val="solid"/>
          </a:ln>
        </p:spPr>
      </p:sp>
      <p:sp>
        <p:nvSpPr>
          <p:cNvPr id="3" name="Text 1"/>
          <p:cNvSpPr txBox="1"/>
          <p:nvPr/>
        </p:nvSpPr>
        <p:spPr>
          <a:xfrm>
            <a:off x="548640" y="411480"/>
            <a:ext cx="1239012" cy="329184"/>
          </a:xfrm>
          <a:prstGeom prst="rect">
            <a:avLst/>
          </a:prstGeom>
          <a:noFill/>
          <a:ln/>
        </p:spPr>
        <p:txBody>
          <a:bodyPr wrap="square" lIns="0" tIns="0" rIns="0" bIns="0" rtlCol="0" anchor="ctr"/>
          <a:lstStyle/>
          <a:p>
            <a:pPr algn="ctr" indent="0" marL="0">
              <a:buNone/>
            </a:pPr>
            <a:r>
              <a:rPr lang="en-US" sz="1100" b="1" spc="100" kern="0" dirty="0">
                <a:solidFill>
                  <a:srgbClr val="072840"/>
                </a:solidFill>
              </a:rPr>
              <a:t>THE RESULTS</a:t>
            </a:r>
            <a:endParaRPr lang="en-US" sz="1100" dirty="0"/>
          </a:p>
        </p:txBody>
      </p:sp>
      <p:sp>
        <p:nvSpPr>
          <p:cNvPr id="4" name="Title"/>
          <p:cNvSpPr txBox="1"/>
          <p:nvPr/>
        </p:nvSpPr>
        <p:spPr>
          <a:xfrm>
            <a:off x="548640" y="822960"/>
            <a:ext cx="10241280" cy="777240"/>
          </a:xfrm>
          <a:prstGeom prst="rect">
            <a:avLst/>
          </a:prstGeom>
          <a:noFill/>
          <a:ln/>
        </p:spPr>
        <p:txBody>
          <a:bodyPr wrap="square" lIns="0" tIns="0" rIns="0" bIns="0" rtlCol="0" anchor="ctr"/>
          <a:lstStyle/>
          <a:p>
            <a:pPr indent="0" marL="0">
              <a:buNone/>
            </a:pPr>
            <a:r>
              <a:rPr lang="en-US" sz="3200" dirty="0">
                <a:solidFill>
                  <a:srgbClr val="072840"/>
                </a:solidFill>
                <a:latin typeface="Arial" pitchFamily="34" charset="0"/>
                <a:ea typeface="Arial" pitchFamily="34" charset="-122"/>
                <a:cs typeface="Arial" pitchFamily="34" charset="-120"/>
              </a:rPr>
              <a:t>Did we meet our </a:t>
            </a:r>
            <a:pPr indent="0" marL="0">
              <a:buNone/>
            </a:pPr>
            <a:r>
              <a:rPr lang="en-US" sz="3200" b="1" dirty="0">
                <a:solidFill>
                  <a:srgbClr val="072840"/>
                </a:solidFill>
                <a:latin typeface="Arial" pitchFamily="34" charset="0"/>
                <a:ea typeface="Arial" pitchFamily="34" charset="-122"/>
                <a:cs typeface="Arial" pitchFamily="34" charset="-120"/>
              </a:rPr>
              <a:t>objectives?</a:t>
            </a:r>
            <a:endParaRPr lang="en-US" sz="3200" dirty="0"/>
          </a:p>
        </p:txBody>
      </p:sp>
      <p:sp>
        <p:nvSpPr>
          <p:cNvPr id="5" name="Objective row 1"/>
          <p:cNvSpPr/>
          <p:nvPr/>
        </p:nvSpPr>
        <p:spPr>
          <a:xfrm>
            <a:off x="548640" y="1828800"/>
            <a:ext cx="11064240" cy="749808"/>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6" name="Text 4"/>
          <p:cNvSpPr txBox="1"/>
          <p:nvPr/>
        </p:nvSpPr>
        <p:spPr>
          <a:xfrm>
            <a:off x="777240" y="1828800"/>
            <a:ext cx="457200" cy="749808"/>
          </a:xfrm>
          <a:prstGeom prst="rect">
            <a:avLst/>
          </a:prstGeom>
          <a:noFill/>
          <a:ln/>
        </p:spPr>
        <p:txBody>
          <a:bodyPr wrap="square" lIns="0" tIns="0" rIns="0" bIns="0" rtlCol="0" anchor="ctr"/>
          <a:lstStyle/>
          <a:p>
            <a:pPr indent="0" marL="0">
              <a:buNone/>
            </a:pPr>
            <a:r>
              <a:rPr lang="en-US" sz="2400" b="1" dirty="0">
                <a:solidFill>
                  <a:srgbClr val="8B1A2B"/>
                </a:solidFill>
              </a:rPr>
              <a:t>1</a:t>
            </a:r>
            <a:endParaRPr lang="en-US" sz="2400" dirty="0"/>
          </a:p>
        </p:txBody>
      </p:sp>
      <p:sp>
        <p:nvSpPr>
          <p:cNvPr id="7" name="Text 5"/>
          <p:cNvSpPr txBox="1"/>
          <p:nvPr/>
        </p:nvSpPr>
        <p:spPr>
          <a:xfrm>
            <a:off x="1325880" y="1828800"/>
            <a:ext cx="4297680" cy="749808"/>
          </a:xfrm>
          <a:prstGeom prst="rect">
            <a:avLst/>
          </a:prstGeom>
          <a:noFill/>
          <a:ln/>
        </p:spPr>
        <p:txBody>
          <a:bodyPr wrap="square" lIns="0" tIns="0" rIns="0" bIns="0" rtlCol="0" anchor="ctr"/>
          <a:lstStyle/>
          <a:p>
            <a:pPr indent="0" marL="0">
              <a:buNone/>
            </a:pPr>
            <a:r>
              <a:rPr lang="en-US" sz="1700" b="1" dirty="0">
                <a:solidFill>
                  <a:srgbClr val="072840"/>
                </a:solidFill>
              </a:rPr>
              <a:t>Find out how consultations work now</a:t>
            </a:r>
            <a:endParaRPr lang="en-US" sz="1700" dirty="0"/>
          </a:p>
        </p:txBody>
      </p:sp>
      <p:sp>
        <p:nvSpPr>
          <p:cNvPr id="8" name="Text 6"/>
          <p:cNvSpPr txBox="1"/>
          <p:nvPr/>
        </p:nvSpPr>
        <p:spPr>
          <a:xfrm>
            <a:off x="5669280" y="1828800"/>
            <a:ext cx="3657600" cy="749808"/>
          </a:xfrm>
          <a:prstGeom prst="rect">
            <a:avLst/>
          </a:prstGeom>
          <a:noFill/>
          <a:ln/>
        </p:spPr>
        <p:txBody>
          <a:bodyPr wrap="square" lIns="0" tIns="0" rIns="0" bIns="0" rtlCol="0" anchor="ctr"/>
          <a:lstStyle/>
          <a:p>
            <a:pPr indent="0" marL="0">
              <a:buNone/>
            </a:pPr>
            <a:r>
              <a:rPr lang="en-US" sz="1500" dirty="0">
                <a:solidFill>
                  <a:srgbClr val="16232F"/>
                </a:solidFill>
              </a:rPr>
              <a:t>13 students answered the survey</a:t>
            </a:r>
            <a:endParaRPr lang="en-US" sz="1500" dirty="0"/>
          </a:p>
        </p:txBody>
      </p:sp>
      <p:sp>
        <p:nvSpPr>
          <p:cNvPr id="9" name="Text 7"/>
          <p:cNvSpPr txBox="1"/>
          <p:nvPr/>
        </p:nvSpPr>
        <p:spPr>
          <a:xfrm>
            <a:off x="9418320" y="1984248"/>
            <a:ext cx="2011680" cy="438912"/>
          </a:xfrm>
          <a:prstGeom prst="roundRect">
            <a:avLst>
              <a:gd name="adj" fmla="val 50000"/>
            </a:avLst>
          </a:prstGeom>
          <a:solidFill>
            <a:srgbClr val="8DC63F"/>
          </a:solidFill>
          <a:ln>
            <a:solidFill>
              <a:srgbClr val="8DC63F"/>
            </a:solidFill>
          </a:ln>
        </p:spPr>
        <p:txBody>
          <a:bodyPr wrap="square" lIns="0" tIns="0" rIns="0" bIns="0" rtlCol="0" anchor="ctr"/>
          <a:lstStyle/>
          <a:p>
            <a:pPr algn="ctr" indent="0" marL="0">
              <a:buNone/>
            </a:pPr>
            <a:r>
              <a:rPr lang="en-US" sz="1400" b="1" dirty="0">
                <a:solidFill>
                  <a:srgbClr val="072840"/>
                </a:solidFill>
              </a:rPr>
              <a:t>Achieved</a:t>
            </a:r>
            <a:endParaRPr lang="en-US" sz="1400" dirty="0"/>
          </a:p>
        </p:txBody>
      </p:sp>
      <p:sp>
        <p:nvSpPr>
          <p:cNvPr id="10" name="Objective row 2"/>
          <p:cNvSpPr/>
          <p:nvPr/>
        </p:nvSpPr>
        <p:spPr>
          <a:xfrm>
            <a:off x="548640" y="2706624"/>
            <a:ext cx="11064240" cy="749808"/>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11" name="Text 9"/>
          <p:cNvSpPr txBox="1"/>
          <p:nvPr/>
        </p:nvSpPr>
        <p:spPr>
          <a:xfrm>
            <a:off x="777240" y="2706624"/>
            <a:ext cx="457200" cy="749808"/>
          </a:xfrm>
          <a:prstGeom prst="rect">
            <a:avLst/>
          </a:prstGeom>
          <a:noFill/>
          <a:ln/>
        </p:spPr>
        <p:txBody>
          <a:bodyPr wrap="square" lIns="0" tIns="0" rIns="0" bIns="0" rtlCol="0" anchor="ctr"/>
          <a:lstStyle/>
          <a:p>
            <a:pPr indent="0" marL="0">
              <a:buNone/>
            </a:pPr>
            <a:r>
              <a:rPr lang="en-US" sz="2400" b="1" dirty="0">
                <a:solidFill>
                  <a:srgbClr val="8B1A2B"/>
                </a:solidFill>
              </a:rPr>
              <a:t>2</a:t>
            </a:r>
            <a:endParaRPr lang="en-US" sz="2400" dirty="0"/>
          </a:p>
        </p:txBody>
      </p:sp>
      <p:sp>
        <p:nvSpPr>
          <p:cNvPr id="12" name="Text 10"/>
          <p:cNvSpPr txBox="1"/>
          <p:nvPr/>
        </p:nvSpPr>
        <p:spPr>
          <a:xfrm>
            <a:off x="1325880" y="2706624"/>
            <a:ext cx="4297680" cy="749808"/>
          </a:xfrm>
          <a:prstGeom prst="rect">
            <a:avLst/>
          </a:prstGeom>
          <a:noFill/>
          <a:ln/>
        </p:spPr>
        <p:txBody>
          <a:bodyPr wrap="square" lIns="0" tIns="0" rIns="0" bIns="0" rtlCol="0" anchor="ctr"/>
          <a:lstStyle/>
          <a:p>
            <a:pPr indent="0" marL="0">
              <a:buNone/>
            </a:pPr>
            <a:r>
              <a:rPr lang="en-US" sz="1700" b="1" dirty="0">
                <a:solidFill>
                  <a:srgbClr val="072840"/>
                </a:solidFill>
              </a:rPr>
              <a:t>Compare existing booking tools</a:t>
            </a:r>
            <a:endParaRPr lang="en-US" sz="1700" dirty="0"/>
          </a:p>
        </p:txBody>
      </p:sp>
      <p:sp>
        <p:nvSpPr>
          <p:cNvPr id="13" name="Text 11"/>
          <p:cNvSpPr txBox="1"/>
          <p:nvPr/>
        </p:nvSpPr>
        <p:spPr>
          <a:xfrm>
            <a:off x="5669280" y="2706624"/>
            <a:ext cx="3657600" cy="749808"/>
          </a:xfrm>
          <a:prstGeom prst="rect">
            <a:avLst/>
          </a:prstGeom>
          <a:noFill/>
          <a:ln/>
        </p:spPr>
        <p:txBody>
          <a:bodyPr wrap="square" lIns="0" tIns="0" rIns="0" bIns="0" rtlCol="0" anchor="ctr"/>
          <a:lstStyle/>
          <a:p>
            <a:pPr indent="0" marL="0">
              <a:buNone/>
            </a:pPr>
            <a:r>
              <a:rPr lang="en-US" sz="1500" dirty="0">
                <a:solidFill>
                  <a:srgbClr val="16232F"/>
                </a:solidFill>
              </a:rPr>
              <a:t>Bookings, Calendly and Moodle Scheduler</a:t>
            </a:r>
            <a:endParaRPr lang="en-US" sz="1500" dirty="0"/>
          </a:p>
        </p:txBody>
      </p:sp>
      <p:sp>
        <p:nvSpPr>
          <p:cNvPr id="14" name="Text 12"/>
          <p:cNvSpPr txBox="1"/>
          <p:nvPr/>
        </p:nvSpPr>
        <p:spPr>
          <a:xfrm>
            <a:off x="9418320" y="2862072"/>
            <a:ext cx="2011680" cy="438912"/>
          </a:xfrm>
          <a:prstGeom prst="roundRect">
            <a:avLst>
              <a:gd name="adj" fmla="val 50000"/>
            </a:avLst>
          </a:prstGeom>
          <a:solidFill>
            <a:srgbClr val="8DC63F"/>
          </a:solidFill>
          <a:ln>
            <a:solidFill>
              <a:srgbClr val="8DC63F"/>
            </a:solidFill>
          </a:ln>
        </p:spPr>
        <p:txBody>
          <a:bodyPr wrap="square" lIns="0" tIns="0" rIns="0" bIns="0" rtlCol="0" anchor="ctr"/>
          <a:lstStyle/>
          <a:p>
            <a:pPr algn="ctr" indent="0" marL="0">
              <a:buNone/>
            </a:pPr>
            <a:r>
              <a:rPr lang="en-US" sz="1400" b="1" dirty="0">
                <a:solidFill>
                  <a:srgbClr val="072840"/>
                </a:solidFill>
              </a:rPr>
              <a:t>Achieved</a:t>
            </a:r>
            <a:endParaRPr lang="en-US" sz="1400" dirty="0"/>
          </a:p>
        </p:txBody>
      </p:sp>
      <p:sp>
        <p:nvSpPr>
          <p:cNvPr id="15" name="Objective row 3"/>
          <p:cNvSpPr/>
          <p:nvPr/>
        </p:nvSpPr>
        <p:spPr>
          <a:xfrm>
            <a:off x="548640" y="3584448"/>
            <a:ext cx="11064240" cy="749808"/>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16" name="Text 14"/>
          <p:cNvSpPr txBox="1"/>
          <p:nvPr/>
        </p:nvSpPr>
        <p:spPr>
          <a:xfrm>
            <a:off x="777240" y="3584448"/>
            <a:ext cx="457200" cy="749808"/>
          </a:xfrm>
          <a:prstGeom prst="rect">
            <a:avLst/>
          </a:prstGeom>
          <a:noFill/>
          <a:ln/>
        </p:spPr>
        <p:txBody>
          <a:bodyPr wrap="square" lIns="0" tIns="0" rIns="0" bIns="0" rtlCol="0" anchor="ctr"/>
          <a:lstStyle/>
          <a:p>
            <a:pPr indent="0" marL="0">
              <a:buNone/>
            </a:pPr>
            <a:r>
              <a:rPr lang="en-US" sz="2400" b="1" dirty="0">
                <a:solidFill>
                  <a:srgbClr val="8B1A2B"/>
                </a:solidFill>
              </a:rPr>
              <a:t>3</a:t>
            </a:r>
            <a:endParaRPr lang="en-US" sz="2400" dirty="0"/>
          </a:p>
        </p:txBody>
      </p:sp>
      <p:sp>
        <p:nvSpPr>
          <p:cNvPr id="17" name="Text 15"/>
          <p:cNvSpPr txBox="1"/>
          <p:nvPr/>
        </p:nvSpPr>
        <p:spPr>
          <a:xfrm>
            <a:off x="1325880" y="3584448"/>
            <a:ext cx="4297680" cy="749808"/>
          </a:xfrm>
          <a:prstGeom prst="rect">
            <a:avLst/>
          </a:prstGeom>
          <a:noFill/>
          <a:ln/>
        </p:spPr>
        <p:txBody>
          <a:bodyPr wrap="square" lIns="0" tIns="0" rIns="0" bIns="0" rtlCol="0" anchor="ctr"/>
          <a:lstStyle/>
          <a:p>
            <a:pPr indent="0" marL="0">
              <a:buNone/>
            </a:pPr>
            <a:r>
              <a:rPr lang="en-US" sz="1700" b="1" dirty="0">
                <a:solidFill>
                  <a:srgbClr val="072840"/>
                </a:solidFill>
              </a:rPr>
              <a:t>Build the six must-have features</a:t>
            </a:r>
            <a:endParaRPr lang="en-US" sz="1700" dirty="0"/>
          </a:p>
        </p:txBody>
      </p:sp>
      <p:sp>
        <p:nvSpPr>
          <p:cNvPr id="18" name="Text 16"/>
          <p:cNvSpPr txBox="1"/>
          <p:nvPr/>
        </p:nvSpPr>
        <p:spPr>
          <a:xfrm>
            <a:off x="5669280" y="3584448"/>
            <a:ext cx="3657600" cy="749808"/>
          </a:xfrm>
          <a:prstGeom prst="rect">
            <a:avLst/>
          </a:prstGeom>
          <a:noFill/>
          <a:ln/>
        </p:spPr>
        <p:txBody>
          <a:bodyPr wrap="square" lIns="0" tIns="0" rIns="0" bIns="0" rtlCol="0" anchor="ctr"/>
          <a:lstStyle/>
          <a:p>
            <a:pPr indent="0" marL="0">
              <a:buNone/>
            </a:pPr>
            <a:r>
              <a:rPr lang="en-US" sz="1500" dirty="0">
                <a:solidFill>
                  <a:srgbClr val="16232F"/>
                </a:solidFill>
              </a:rPr>
              <a:t>All 9 functional requirements met</a:t>
            </a:r>
            <a:endParaRPr lang="en-US" sz="1500" dirty="0"/>
          </a:p>
        </p:txBody>
      </p:sp>
      <p:sp>
        <p:nvSpPr>
          <p:cNvPr id="19" name="Text 17"/>
          <p:cNvSpPr txBox="1"/>
          <p:nvPr/>
        </p:nvSpPr>
        <p:spPr>
          <a:xfrm>
            <a:off x="9418320" y="3739896"/>
            <a:ext cx="2011680" cy="438912"/>
          </a:xfrm>
          <a:prstGeom prst="roundRect">
            <a:avLst>
              <a:gd name="adj" fmla="val 50000"/>
            </a:avLst>
          </a:prstGeom>
          <a:solidFill>
            <a:srgbClr val="8DC63F"/>
          </a:solidFill>
          <a:ln>
            <a:solidFill>
              <a:srgbClr val="8DC63F"/>
            </a:solidFill>
          </a:ln>
        </p:spPr>
        <p:txBody>
          <a:bodyPr wrap="square" lIns="0" tIns="0" rIns="0" bIns="0" rtlCol="0" anchor="ctr"/>
          <a:lstStyle/>
          <a:p>
            <a:pPr algn="ctr" indent="0" marL="0">
              <a:buNone/>
            </a:pPr>
            <a:r>
              <a:rPr lang="en-US" sz="1400" b="1" dirty="0">
                <a:solidFill>
                  <a:srgbClr val="072840"/>
                </a:solidFill>
              </a:rPr>
              <a:t>Achieved</a:t>
            </a:r>
            <a:endParaRPr lang="en-US" sz="1400" dirty="0"/>
          </a:p>
        </p:txBody>
      </p:sp>
      <p:sp>
        <p:nvSpPr>
          <p:cNvPr id="20" name="Objective row 4"/>
          <p:cNvSpPr/>
          <p:nvPr/>
        </p:nvSpPr>
        <p:spPr>
          <a:xfrm>
            <a:off x="548640" y="4462272"/>
            <a:ext cx="11064240" cy="749808"/>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21" name="Text 19"/>
          <p:cNvSpPr txBox="1"/>
          <p:nvPr/>
        </p:nvSpPr>
        <p:spPr>
          <a:xfrm>
            <a:off x="777240" y="4462272"/>
            <a:ext cx="457200" cy="749808"/>
          </a:xfrm>
          <a:prstGeom prst="rect">
            <a:avLst/>
          </a:prstGeom>
          <a:noFill/>
          <a:ln/>
        </p:spPr>
        <p:txBody>
          <a:bodyPr wrap="square" lIns="0" tIns="0" rIns="0" bIns="0" rtlCol="0" anchor="ctr"/>
          <a:lstStyle/>
          <a:p>
            <a:pPr indent="0" marL="0">
              <a:buNone/>
            </a:pPr>
            <a:r>
              <a:rPr lang="en-US" sz="2400" b="1" dirty="0">
                <a:solidFill>
                  <a:srgbClr val="8B1A2B"/>
                </a:solidFill>
              </a:rPr>
              <a:t>4</a:t>
            </a:r>
            <a:endParaRPr lang="en-US" sz="2400" dirty="0"/>
          </a:p>
        </p:txBody>
      </p:sp>
      <p:sp>
        <p:nvSpPr>
          <p:cNvPr id="22" name="Text 20"/>
          <p:cNvSpPr txBox="1"/>
          <p:nvPr/>
        </p:nvSpPr>
        <p:spPr>
          <a:xfrm>
            <a:off x="1325880" y="4462272"/>
            <a:ext cx="4297680" cy="749808"/>
          </a:xfrm>
          <a:prstGeom prst="rect">
            <a:avLst/>
          </a:prstGeom>
          <a:noFill/>
          <a:ln/>
        </p:spPr>
        <p:txBody>
          <a:bodyPr wrap="square" lIns="0" tIns="0" rIns="0" bIns="0" rtlCol="0" anchor="ctr"/>
          <a:lstStyle/>
          <a:p>
            <a:pPr indent="0" marL="0">
              <a:buNone/>
            </a:pPr>
            <a:r>
              <a:rPr lang="en-US" sz="1700" b="1" dirty="0">
                <a:solidFill>
                  <a:srgbClr val="072840"/>
                </a:solidFill>
              </a:rPr>
              <a:t>Test it</a:t>
            </a:r>
            <a:endParaRPr lang="en-US" sz="1700" dirty="0"/>
          </a:p>
        </p:txBody>
      </p:sp>
      <p:sp>
        <p:nvSpPr>
          <p:cNvPr id="23" name="Text 21"/>
          <p:cNvSpPr txBox="1"/>
          <p:nvPr/>
        </p:nvSpPr>
        <p:spPr>
          <a:xfrm>
            <a:off x="5669280" y="4462272"/>
            <a:ext cx="3657600" cy="749808"/>
          </a:xfrm>
          <a:prstGeom prst="rect">
            <a:avLst/>
          </a:prstGeom>
          <a:noFill/>
          <a:ln/>
        </p:spPr>
        <p:txBody>
          <a:bodyPr wrap="square" lIns="0" tIns="0" rIns="0" bIns="0" rtlCol="0" anchor="ctr"/>
          <a:lstStyle/>
          <a:p>
            <a:pPr indent="0" marL="0">
              <a:buNone/>
            </a:pPr>
            <a:r>
              <a:rPr lang="en-US" sz="1500" dirty="0">
                <a:solidFill>
                  <a:srgbClr val="16232F"/>
                </a:solidFill>
              </a:rPr>
              <a:t>35 of 36 tests pass, pages under 0.4 s</a:t>
            </a:r>
            <a:endParaRPr lang="en-US" sz="1500" dirty="0"/>
          </a:p>
        </p:txBody>
      </p:sp>
      <p:sp>
        <p:nvSpPr>
          <p:cNvPr id="24" name="Text 22"/>
          <p:cNvSpPr txBox="1"/>
          <p:nvPr/>
        </p:nvSpPr>
        <p:spPr>
          <a:xfrm>
            <a:off x="9418320" y="4617720"/>
            <a:ext cx="2011680" cy="438912"/>
          </a:xfrm>
          <a:prstGeom prst="roundRect">
            <a:avLst>
              <a:gd name="adj" fmla="val 50000"/>
            </a:avLst>
          </a:prstGeom>
          <a:solidFill>
            <a:srgbClr val="1E8FCB"/>
          </a:solidFill>
          <a:ln>
            <a:solidFill>
              <a:srgbClr val="1E8FCB"/>
            </a:solidFill>
          </a:ln>
        </p:spPr>
        <p:txBody>
          <a:bodyPr wrap="square" lIns="0" tIns="0" rIns="0" bIns="0" rtlCol="0" anchor="ctr"/>
          <a:lstStyle/>
          <a:p>
            <a:pPr algn="ctr" indent="0" marL="0">
              <a:buNone/>
            </a:pPr>
            <a:r>
              <a:rPr lang="en-US" sz="1400" b="1" dirty="0">
                <a:solidFill>
                  <a:srgbClr val="FFFFFF"/>
                </a:solidFill>
              </a:rPr>
              <a:t>Mostly achieved</a:t>
            </a:r>
            <a:endParaRPr lang="en-US" sz="1400" dirty="0"/>
          </a:p>
        </p:txBody>
      </p:sp>
      <p:sp>
        <p:nvSpPr>
          <p:cNvPr id="25" name="Objective row 5"/>
          <p:cNvSpPr/>
          <p:nvPr/>
        </p:nvSpPr>
        <p:spPr>
          <a:xfrm>
            <a:off x="548640" y="5340096"/>
            <a:ext cx="11064240" cy="749808"/>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26" name="Text 24"/>
          <p:cNvSpPr txBox="1"/>
          <p:nvPr/>
        </p:nvSpPr>
        <p:spPr>
          <a:xfrm>
            <a:off x="777240" y="5340096"/>
            <a:ext cx="457200" cy="749808"/>
          </a:xfrm>
          <a:prstGeom prst="rect">
            <a:avLst/>
          </a:prstGeom>
          <a:noFill/>
          <a:ln/>
        </p:spPr>
        <p:txBody>
          <a:bodyPr wrap="square" lIns="0" tIns="0" rIns="0" bIns="0" rtlCol="0" anchor="ctr"/>
          <a:lstStyle/>
          <a:p>
            <a:pPr indent="0" marL="0">
              <a:buNone/>
            </a:pPr>
            <a:r>
              <a:rPr lang="en-US" sz="2400" b="1" dirty="0">
                <a:solidFill>
                  <a:srgbClr val="8B1A2B"/>
                </a:solidFill>
              </a:rPr>
              <a:t>5</a:t>
            </a:r>
            <a:endParaRPr lang="en-US" sz="2400" dirty="0"/>
          </a:p>
        </p:txBody>
      </p:sp>
      <p:sp>
        <p:nvSpPr>
          <p:cNvPr id="27" name="Text 25"/>
          <p:cNvSpPr txBox="1"/>
          <p:nvPr/>
        </p:nvSpPr>
        <p:spPr>
          <a:xfrm>
            <a:off x="1325880" y="5340096"/>
            <a:ext cx="4297680" cy="749808"/>
          </a:xfrm>
          <a:prstGeom prst="rect">
            <a:avLst/>
          </a:prstGeom>
          <a:noFill/>
          <a:ln/>
        </p:spPr>
        <p:txBody>
          <a:bodyPr wrap="square" lIns="0" tIns="0" rIns="0" bIns="0" rtlCol="0" anchor="ctr"/>
          <a:lstStyle/>
          <a:p>
            <a:pPr indent="0" marL="0">
              <a:buNone/>
            </a:pPr>
            <a:r>
              <a:rPr lang="en-US" sz="1700" b="1" dirty="0">
                <a:solidFill>
                  <a:srgbClr val="072840"/>
                </a:solidFill>
              </a:rPr>
              <a:t>Evaluate it with real users</a:t>
            </a:r>
            <a:endParaRPr lang="en-US" sz="1700" dirty="0"/>
          </a:p>
        </p:txBody>
      </p:sp>
      <p:sp>
        <p:nvSpPr>
          <p:cNvPr id="28" name="Text 26"/>
          <p:cNvSpPr txBox="1"/>
          <p:nvPr/>
        </p:nvSpPr>
        <p:spPr>
          <a:xfrm>
            <a:off x="5669280" y="5340096"/>
            <a:ext cx="3657600" cy="749808"/>
          </a:xfrm>
          <a:prstGeom prst="rect">
            <a:avLst/>
          </a:prstGeom>
          <a:noFill/>
          <a:ln/>
        </p:spPr>
        <p:txBody>
          <a:bodyPr wrap="square" lIns="0" tIns="0" rIns="0" bIns="0" rtlCol="0" anchor="ctr"/>
          <a:lstStyle/>
          <a:p>
            <a:pPr indent="0" marL="0">
              <a:buNone/>
            </a:pPr>
            <a:r>
              <a:rPr lang="en-US" sz="1500" dirty="0">
                <a:solidFill>
                  <a:srgbClr val="16232F"/>
                </a:solidFill>
              </a:rPr>
              <a:t>4 of 6 found it easy to use</a:t>
            </a:r>
            <a:endParaRPr lang="en-US" sz="1500" dirty="0"/>
          </a:p>
        </p:txBody>
      </p:sp>
      <p:sp>
        <p:nvSpPr>
          <p:cNvPr id="29" name="Text 27"/>
          <p:cNvSpPr txBox="1"/>
          <p:nvPr/>
        </p:nvSpPr>
        <p:spPr>
          <a:xfrm>
            <a:off x="9418320" y="5495544"/>
            <a:ext cx="2011680" cy="438912"/>
          </a:xfrm>
          <a:prstGeom prst="roundRect">
            <a:avLst>
              <a:gd name="adj" fmla="val 50000"/>
            </a:avLst>
          </a:prstGeom>
          <a:solidFill>
            <a:srgbClr val="F2C46D"/>
          </a:solidFill>
          <a:ln>
            <a:solidFill>
              <a:srgbClr val="F2C46D"/>
            </a:solidFill>
          </a:ln>
        </p:spPr>
        <p:txBody>
          <a:bodyPr wrap="square" lIns="0" tIns="0" rIns="0" bIns="0" rtlCol="0" anchor="ctr"/>
          <a:lstStyle/>
          <a:p>
            <a:pPr algn="ctr" indent="0" marL="0">
              <a:buNone/>
            </a:pPr>
            <a:r>
              <a:rPr lang="en-US" sz="1400" b="1" dirty="0">
                <a:solidFill>
                  <a:srgbClr val="072840"/>
                </a:solidFill>
              </a:rPr>
              <a:t>Partly achieved</a:t>
            </a:r>
            <a:endParaRPr lang="en-US" sz="1400" dirty="0"/>
          </a:p>
        </p:txBody>
      </p:sp>
      <p:sp>
        <p:nvSpPr>
          <p:cNvPr id="25" name="Slide Number Placeholder 0"/>
          <p:cNvSpPr>
            <a:spLocks noGrp="1"/>
          </p:cNvSpPr>
          <p:nvPr>
            <p:ph type="sldNum" sz="quarter" idx="4294967295"/>
          </p:nvPr>
        </p:nvSpPr>
        <p:spPr>
          <a:xfrm>
            <a:off x="1042416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411480"/>
            <a:ext cx="1623060" cy="329184"/>
          </a:xfrm>
          <a:prstGeom prst="rect">
            <a:avLst/>
          </a:prstGeom>
          <a:solidFill>
            <a:srgbClr val="FFFFFF"/>
          </a:solidFill>
          <a:ln w="19050">
            <a:solidFill>
              <a:srgbClr val="072840"/>
            </a:solidFill>
            <a:prstDash val="solid"/>
          </a:ln>
        </p:spPr>
      </p:sp>
      <p:sp>
        <p:nvSpPr>
          <p:cNvPr id="3" name="Text 1"/>
          <p:cNvSpPr txBox="1"/>
          <p:nvPr/>
        </p:nvSpPr>
        <p:spPr>
          <a:xfrm>
            <a:off x="548640" y="411480"/>
            <a:ext cx="1623060" cy="329184"/>
          </a:xfrm>
          <a:prstGeom prst="rect">
            <a:avLst/>
          </a:prstGeom>
          <a:noFill/>
          <a:ln/>
        </p:spPr>
        <p:txBody>
          <a:bodyPr wrap="square" lIns="0" tIns="0" rIns="0" bIns="0" rtlCol="0" anchor="ctr"/>
          <a:lstStyle/>
          <a:p>
            <a:pPr algn="ctr" indent="0" marL="0">
              <a:buNone/>
            </a:pPr>
            <a:r>
              <a:rPr lang="en-US" sz="1100" b="1" spc="100" kern="0" dirty="0">
                <a:solidFill>
                  <a:srgbClr val="072840"/>
                </a:solidFill>
              </a:rPr>
              <a:t>WHAT WE LEARNED</a:t>
            </a:r>
            <a:endParaRPr lang="en-US" sz="1100" dirty="0"/>
          </a:p>
        </p:txBody>
      </p:sp>
      <p:sp>
        <p:nvSpPr>
          <p:cNvPr id="4" name="Title"/>
          <p:cNvSpPr txBox="1"/>
          <p:nvPr/>
        </p:nvSpPr>
        <p:spPr>
          <a:xfrm>
            <a:off x="548640" y="822960"/>
            <a:ext cx="10241280" cy="777240"/>
          </a:xfrm>
          <a:prstGeom prst="rect">
            <a:avLst/>
          </a:prstGeom>
          <a:noFill/>
          <a:ln/>
        </p:spPr>
        <p:txBody>
          <a:bodyPr wrap="square" lIns="0" tIns="0" rIns="0" bIns="0" rtlCol="0" anchor="ctr"/>
          <a:lstStyle/>
          <a:p>
            <a:pPr indent="0" marL="0">
              <a:buNone/>
            </a:pPr>
            <a:r>
              <a:rPr lang="en-US" sz="3200" dirty="0">
                <a:solidFill>
                  <a:srgbClr val="072840"/>
                </a:solidFill>
                <a:latin typeface="Arial" pitchFamily="34" charset="0"/>
                <a:ea typeface="Arial" pitchFamily="34" charset="-122"/>
                <a:cs typeface="Arial" pitchFamily="34" charset="-120"/>
              </a:rPr>
              <a:t>Five things </a:t>
            </a:r>
            <a:pPr indent="0" marL="0">
              <a:buNone/>
            </a:pPr>
            <a:r>
              <a:rPr lang="en-US" sz="3200" b="1" dirty="0">
                <a:solidFill>
                  <a:srgbClr val="072840"/>
                </a:solidFill>
                <a:latin typeface="Arial" pitchFamily="34" charset="0"/>
                <a:ea typeface="Arial" pitchFamily="34" charset="-122"/>
                <a:cs typeface="Arial" pitchFamily="34" charset="-120"/>
              </a:rPr>
              <a:t>we learned</a:t>
            </a:r>
            <a:endParaRPr lang="en-US" sz="3200" dirty="0"/>
          </a:p>
        </p:txBody>
      </p:sp>
      <p:sp>
        <p:nvSpPr>
          <p:cNvPr id="5" name="Lesson 1"/>
          <p:cNvSpPr/>
          <p:nvPr/>
        </p:nvSpPr>
        <p:spPr>
          <a:xfrm>
            <a:off x="548640" y="1828800"/>
            <a:ext cx="11064240" cy="749808"/>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731520" y="1929384"/>
            <a:ext cx="548640" cy="548640"/>
          </a:xfrm>
          <a:prstGeom prst="ellipse">
            <a:avLst/>
          </a:prstGeom>
          <a:solidFill>
            <a:srgbClr val="1E8FCB"/>
          </a:solidFill>
          <a:ln w="12700">
            <a:solidFill>
              <a:srgbClr val="1E8FCB"/>
            </a:solidFill>
            <a:prstDash val="solid"/>
          </a:ln>
        </p:spPr>
      </p:sp>
      <p:pic>
        <p:nvPicPr>
          <p:cNvPr id="7" name="Image 0" descr="preencoded.png">    </p:cNvPr>
          <p:cNvPicPr>
            <a:picLocks noChangeAspect="1"/>
          </p:cNvPicPr>
          <p:nvPr/>
        </p:nvPicPr>
        <p:blipFill>
          <a:blip r:embed="rId1"/>
          <a:stretch>
            <a:fillRect/>
          </a:stretch>
        </p:blipFill>
        <p:spPr>
          <a:xfrm>
            <a:off x="868680" y="2066544"/>
            <a:ext cx="274320" cy="274320"/>
          </a:xfrm>
          <a:prstGeom prst="rect">
            <a:avLst/>
          </a:prstGeom>
        </p:spPr>
      </p:pic>
      <p:sp>
        <p:nvSpPr>
          <p:cNvPr id="8" name="Text 5"/>
          <p:cNvSpPr txBox="1"/>
          <p:nvPr/>
        </p:nvSpPr>
        <p:spPr>
          <a:xfrm>
            <a:off x="1463040" y="1828800"/>
            <a:ext cx="3840480" cy="749808"/>
          </a:xfrm>
          <a:prstGeom prst="rect">
            <a:avLst/>
          </a:prstGeom>
          <a:noFill/>
          <a:ln/>
        </p:spPr>
        <p:txBody>
          <a:bodyPr wrap="square" lIns="0" tIns="0" rIns="0" bIns="0" rtlCol="0" anchor="ctr"/>
          <a:lstStyle/>
          <a:p>
            <a:pPr indent="0" marL="0">
              <a:buNone/>
            </a:pPr>
            <a:r>
              <a:rPr lang="en-US" sz="1800" b="1" dirty="0">
                <a:solidFill>
                  <a:srgbClr val="072840"/>
                </a:solidFill>
              </a:rPr>
              <a:t>Start with the users</a:t>
            </a:r>
            <a:endParaRPr lang="en-US" sz="1800" dirty="0"/>
          </a:p>
        </p:txBody>
      </p:sp>
      <p:sp>
        <p:nvSpPr>
          <p:cNvPr id="9" name="Text 6"/>
          <p:cNvSpPr txBox="1"/>
          <p:nvPr/>
        </p:nvSpPr>
        <p:spPr>
          <a:xfrm>
            <a:off x="5303520" y="1828800"/>
            <a:ext cx="6126480" cy="749808"/>
          </a:xfrm>
          <a:prstGeom prst="rect">
            <a:avLst/>
          </a:prstGeom>
          <a:noFill/>
          <a:ln/>
        </p:spPr>
        <p:txBody>
          <a:bodyPr wrap="square" lIns="0" tIns="0" rIns="0" bIns="0" rtlCol="0" anchor="ctr"/>
          <a:lstStyle/>
          <a:p>
            <a:pPr indent="0" marL="0">
              <a:buNone/>
            </a:pPr>
            <a:r>
              <a:rPr lang="en-US" sz="1600" dirty="0">
                <a:solidFill>
                  <a:srgbClr val="16232F"/>
                </a:solidFill>
              </a:rPr>
              <a:t>The survey, not our guesses, decided the features.</a:t>
            </a:r>
            <a:endParaRPr lang="en-US" sz="1600" dirty="0"/>
          </a:p>
        </p:txBody>
      </p:sp>
      <p:sp>
        <p:nvSpPr>
          <p:cNvPr id="10" name="Lesson 2"/>
          <p:cNvSpPr/>
          <p:nvPr/>
        </p:nvSpPr>
        <p:spPr>
          <a:xfrm>
            <a:off x="548640" y="2706624"/>
            <a:ext cx="11064240" cy="749808"/>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11" name="Shape 8"/>
          <p:cNvSpPr/>
          <p:nvPr/>
        </p:nvSpPr>
        <p:spPr>
          <a:xfrm>
            <a:off x="731520" y="2807208"/>
            <a:ext cx="548640" cy="548640"/>
          </a:xfrm>
          <a:prstGeom prst="ellipse">
            <a:avLst/>
          </a:prstGeom>
          <a:solidFill>
            <a:srgbClr val="8B1A2B"/>
          </a:solidFill>
          <a:ln w="12700">
            <a:solidFill>
              <a:srgbClr val="8B1A2B"/>
            </a:solidFill>
            <a:prstDash val="solid"/>
          </a:ln>
        </p:spPr>
      </p:sp>
      <p:pic>
        <p:nvPicPr>
          <p:cNvPr id="12" name="Image 1" descr="preencoded.png">    </p:cNvPr>
          <p:cNvPicPr>
            <a:picLocks noChangeAspect="1"/>
          </p:cNvPicPr>
          <p:nvPr/>
        </p:nvPicPr>
        <p:blipFill>
          <a:blip r:embed="rId2"/>
          <a:stretch>
            <a:fillRect/>
          </a:stretch>
        </p:blipFill>
        <p:spPr>
          <a:xfrm>
            <a:off x="868680" y="2944368"/>
            <a:ext cx="274320" cy="274320"/>
          </a:xfrm>
          <a:prstGeom prst="rect">
            <a:avLst/>
          </a:prstGeom>
        </p:spPr>
      </p:pic>
      <p:sp>
        <p:nvSpPr>
          <p:cNvPr id="13" name="Text 9"/>
          <p:cNvSpPr txBox="1"/>
          <p:nvPr/>
        </p:nvSpPr>
        <p:spPr>
          <a:xfrm>
            <a:off x="1463040" y="2706624"/>
            <a:ext cx="3840480" cy="749808"/>
          </a:xfrm>
          <a:prstGeom prst="rect">
            <a:avLst/>
          </a:prstGeom>
          <a:noFill/>
          <a:ln/>
        </p:spPr>
        <p:txBody>
          <a:bodyPr wrap="square" lIns="0" tIns="0" rIns="0" bIns="0" rtlCol="0" anchor="ctr"/>
          <a:lstStyle/>
          <a:p>
            <a:pPr indent="0" marL="0">
              <a:buNone/>
            </a:pPr>
            <a:r>
              <a:rPr lang="en-US" sz="1800" b="1" dirty="0">
                <a:solidFill>
                  <a:srgbClr val="072840"/>
                </a:solidFill>
              </a:rPr>
              <a:t>Agree on the details first</a:t>
            </a:r>
            <a:endParaRPr lang="en-US" sz="1800" dirty="0"/>
          </a:p>
        </p:txBody>
      </p:sp>
      <p:sp>
        <p:nvSpPr>
          <p:cNvPr id="14" name="Text 10"/>
          <p:cNvSpPr txBox="1"/>
          <p:nvPr/>
        </p:nvSpPr>
        <p:spPr>
          <a:xfrm>
            <a:off x="5303520" y="2706624"/>
            <a:ext cx="6126480" cy="749808"/>
          </a:xfrm>
          <a:prstGeom prst="rect">
            <a:avLst/>
          </a:prstGeom>
          <a:noFill/>
          <a:ln/>
        </p:spPr>
        <p:txBody>
          <a:bodyPr wrap="square" lIns="0" tIns="0" rIns="0" bIns="0" rtlCol="0" anchor="ctr"/>
          <a:lstStyle/>
          <a:p>
            <a:pPr indent="0" marL="0">
              <a:buNone/>
            </a:pPr>
            <a:r>
              <a:rPr lang="en-US" sz="1600" dirty="0">
                <a:solidFill>
                  <a:srgbClr val="16232F"/>
                </a:solidFill>
              </a:rPr>
              <a:t>Most bugs came from parts using different names for the same data.</a:t>
            </a:r>
            <a:endParaRPr lang="en-US" sz="1600" dirty="0"/>
          </a:p>
        </p:txBody>
      </p:sp>
      <p:sp>
        <p:nvSpPr>
          <p:cNvPr id="15" name="Lesson 3"/>
          <p:cNvSpPr/>
          <p:nvPr/>
        </p:nvSpPr>
        <p:spPr>
          <a:xfrm>
            <a:off x="548640" y="3584448"/>
            <a:ext cx="11064240" cy="749808"/>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16" name="Shape 12"/>
          <p:cNvSpPr/>
          <p:nvPr/>
        </p:nvSpPr>
        <p:spPr>
          <a:xfrm>
            <a:off x="731520" y="3685032"/>
            <a:ext cx="548640" cy="548640"/>
          </a:xfrm>
          <a:prstGeom prst="ellipse">
            <a:avLst/>
          </a:prstGeom>
          <a:solidFill>
            <a:srgbClr val="12506F"/>
          </a:solidFill>
          <a:ln w="12700">
            <a:solidFill>
              <a:srgbClr val="12506F"/>
            </a:solidFill>
            <a:prstDash val="solid"/>
          </a:ln>
        </p:spPr>
      </p:sp>
      <p:pic>
        <p:nvPicPr>
          <p:cNvPr id="17" name="Image 2" descr="preencoded.png">    </p:cNvPr>
          <p:cNvPicPr>
            <a:picLocks noChangeAspect="1"/>
          </p:cNvPicPr>
          <p:nvPr/>
        </p:nvPicPr>
        <p:blipFill>
          <a:blip r:embed="rId3"/>
          <a:stretch>
            <a:fillRect/>
          </a:stretch>
        </p:blipFill>
        <p:spPr>
          <a:xfrm>
            <a:off x="868680" y="3822192"/>
            <a:ext cx="274320" cy="274320"/>
          </a:xfrm>
          <a:prstGeom prst="rect">
            <a:avLst/>
          </a:prstGeom>
        </p:spPr>
      </p:pic>
      <p:sp>
        <p:nvSpPr>
          <p:cNvPr id="18" name="Text 13"/>
          <p:cNvSpPr txBox="1"/>
          <p:nvPr/>
        </p:nvSpPr>
        <p:spPr>
          <a:xfrm>
            <a:off x="1463040" y="3584448"/>
            <a:ext cx="3840480" cy="749808"/>
          </a:xfrm>
          <a:prstGeom prst="rect">
            <a:avLst/>
          </a:prstGeom>
          <a:noFill/>
          <a:ln/>
        </p:spPr>
        <p:txBody>
          <a:bodyPr wrap="square" lIns="0" tIns="0" rIns="0" bIns="0" rtlCol="0" anchor="ctr"/>
          <a:lstStyle/>
          <a:p>
            <a:pPr indent="0" marL="0">
              <a:buNone/>
            </a:pPr>
            <a:r>
              <a:rPr lang="en-US" sz="1800" b="1" dirty="0">
                <a:solidFill>
                  <a:srgbClr val="072840"/>
                </a:solidFill>
              </a:rPr>
              <a:t>Put the rules on the server</a:t>
            </a:r>
            <a:endParaRPr lang="en-US" sz="1800" dirty="0"/>
          </a:p>
        </p:txBody>
      </p:sp>
      <p:sp>
        <p:nvSpPr>
          <p:cNvPr id="19" name="Text 14"/>
          <p:cNvSpPr txBox="1"/>
          <p:nvPr/>
        </p:nvSpPr>
        <p:spPr>
          <a:xfrm>
            <a:off x="5303520" y="3584448"/>
            <a:ext cx="6126480" cy="749808"/>
          </a:xfrm>
          <a:prstGeom prst="rect">
            <a:avLst/>
          </a:prstGeom>
          <a:noFill/>
          <a:ln/>
        </p:spPr>
        <p:txBody>
          <a:bodyPr wrap="square" lIns="0" tIns="0" rIns="0" bIns="0" rtlCol="0" anchor="ctr"/>
          <a:lstStyle/>
          <a:p>
            <a:pPr indent="0" marL="0">
              <a:buNone/>
            </a:pPr>
            <a:r>
              <a:rPr lang="en-US" sz="1600" dirty="0">
                <a:solidFill>
                  <a:srgbClr val="16232F"/>
                </a:solidFill>
              </a:rPr>
              <a:t>Screens can be bypassed. The API and database cannot.</a:t>
            </a:r>
            <a:endParaRPr lang="en-US" sz="1600" dirty="0"/>
          </a:p>
        </p:txBody>
      </p:sp>
      <p:sp>
        <p:nvSpPr>
          <p:cNvPr id="20" name="Lesson 4"/>
          <p:cNvSpPr/>
          <p:nvPr/>
        </p:nvSpPr>
        <p:spPr>
          <a:xfrm>
            <a:off x="548640" y="4462272"/>
            <a:ext cx="11064240" cy="749808"/>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21" name="Shape 16"/>
          <p:cNvSpPr/>
          <p:nvPr/>
        </p:nvSpPr>
        <p:spPr>
          <a:xfrm>
            <a:off x="731520" y="4562856"/>
            <a:ext cx="548640" cy="548640"/>
          </a:xfrm>
          <a:prstGeom prst="ellipse">
            <a:avLst/>
          </a:prstGeom>
          <a:solidFill>
            <a:srgbClr val="B36BC4"/>
          </a:solidFill>
          <a:ln w="12700">
            <a:solidFill>
              <a:srgbClr val="B36BC4"/>
            </a:solidFill>
            <a:prstDash val="solid"/>
          </a:ln>
        </p:spPr>
      </p:sp>
      <p:pic>
        <p:nvPicPr>
          <p:cNvPr id="22" name="Image 3" descr="preencoded.png">    </p:cNvPr>
          <p:cNvPicPr>
            <a:picLocks noChangeAspect="1"/>
          </p:cNvPicPr>
          <p:nvPr/>
        </p:nvPicPr>
        <p:blipFill>
          <a:blip r:embed="rId4"/>
          <a:stretch>
            <a:fillRect/>
          </a:stretch>
        </p:blipFill>
        <p:spPr>
          <a:xfrm>
            <a:off x="868680" y="4700016"/>
            <a:ext cx="274320" cy="274320"/>
          </a:xfrm>
          <a:prstGeom prst="rect">
            <a:avLst/>
          </a:prstGeom>
        </p:spPr>
      </p:pic>
      <p:sp>
        <p:nvSpPr>
          <p:cNvPr id="23" name="Text 17"/>
          <p:cNvSpPr txBox="1"/>
          <p:nvPr/>
        </p:nvSpPr>
        <p:spPr>
          <a:xfrm>
            <a:off x="1463040" y="4462272"/>
            <a:ext cx="3840480" cy="749808"/>
          </a:xfrm>
          <a:prstGeom prst="rect">
            <a:avLst/>
          </a:prstGeom>
          <a:noFill/>
          <a:ln/>
        </p:spPr>
        <p:txBody>
          <a:bodyPr wrap="square" lIns="0" tIns="0" rIns="0" bIns="0" rtlCol="0" anchor="ctr"/>
          <a:lstStyle/>
          <a:p>
            <a:pPr indent="0" marL="0">
              <a:buNone/>
            </a:pPr>
            <a:r>
              <a:rPr lang="en-US" sz="1800" b="1" dirty="0">
                <a:solidFill>
                  <a:srgbClr val="072840"/>
                </a:solidFill>
              </a:rPr>
              <a:t>Test early and test the joins</a:t>
            </a:r>
            <a:endParaRPr lang="en-US" sz="1800" dirty="0"/>
          </a:p>
        </p:txBody>
      </p:sp>
      <p:sp>
        <p:nvSpPr>
          <p:cNvPr id="24" name="Text 18"/>
          <p:cNvSpPr txBox="1"/>
          <p:nvPr/>
        </p:nvSpPr>
        <p:spPr>
          <a:xfrm>
            <a:off x="5303520" y="4462272"/>
            <a:ext cx="6126480" cy="749808"/>
          </a:xfrm>
          <a:prstGeom prst="rect">
            <a:avLst/>
          </a:prstGeom>
          <a:noFill/>
          <a:ln/>
        </p:spPr>
        <p:txBody>
          <a:bodyPr wrap="square" lIns="0" tIns="0" rIns="0" bIns="0" rtlCol="0" anchor="ctr"/>
          <a:lstStyle/>
          <a:p>
            <a:pPr indent="0" marL="0">
              <a:buNone/>
            </a:pPr>
            <a:r>
              <a:rPr lang="en-US" sz="1600" dirty="0">
                <a:solidFill>
                  <a:srgbClr val="16232F"/>
                </a:solidFill>
              </a:rPr>
              <a:t>Joining everyone’s work is where the problems showed up.</a:t>
            </a:r>
            <a:endParaRPr lang="en-US" sz="1600" dirty="0"/>
          </a:p>
        </p:txBody>
      </p:sp>
      <p:sp>
        <p:nvSpPr>
          <p:cNvPr id="25" name="Lesson 5"/>
          <p:cNvSpPr/>
          <p:nvPr/>
        </p:nvSpPr>
        <p:spPr>
          <a:xfrm>
            <a:off x="548640" y="5340096"/>
            <a:ext cx="11064240" cy="749808"/>
          </a:xfrm>
          <a:prstGeom prst="rect">
            <a:avLst/>
          </a:prstGeom>
          <a:solidFill>
            <a:srgbClr val="FFFFFF"/>
          </a:solidFill>
          <a:ln w="9525">
            <a:solidFill>
              <a:srgbClr val="D5DEE6"/>
            </a:solidFill>
            <a:prstDash val="solid"/>
          </a:ln>
          <a:effectLst>
            <a:outerShdw sx="100000" sy="100000" kx="0" ky="0" algn="bl" rotWithShape="0" blurRad="101600" dist="25400" dir="5400000">
              <a:srgbClr val="000000">
                <a:alpha val="12000"/>
              </a:srgbClr>
            </a:outerShdw>
          </a:effectLst>
        </p:spPr>
      </p:sp>
      <p:sp>
        <p:nvSpPr>
          <p:cNvPr id="26" name="Shape 20"/>
          <p:cNvSpPr/>
          <p:nvPr/>
        </p:nvSpPr>
        <p:spPr>
          <a:xfrm>
            <a:off x="731520" y="5440680"/>
            <a:ext cx="548640" cy="548640"/>
          </a:xfrm>
          <a:prstGeom prst="ellipse">
            <a:avLst/>
          </a:prstGeom>
          <a:solidFill>
            <a:srgbClr val="1E8FCB"/>
          </a:solidFill>
          <a:ln w="12700">
            <a:solidFill>
              <a:srgbClr val="1E8FCB"/>
            </a:solidFill>
            <a:prstDash val="solid"/>
          </a:ln>
        </p:spPr>
      </p:sp>
      <p:pic>
        <p:nvPicPr>
          <p:cNvPr id="27" name="Image 4" descr="preencoded.png">    </p:cNvPr>
          <p:cNvPicPr>
            <a:picLocks noChangeAspect="1"/>
          </p:cNvPicPr>
          <p:nvPr/>
        </p:nvPicPr>
        <p:blipFill>
          <a:blip r:embed="rId5"/>
          <a:stretch>
            <a:fillRect/>
          </a:stretch>
        </p:blipFill>
        <p:spPr>
          <a:xfrm>
            <a:off x="868680" y="5577840"/>
            <a:ext cx="274320" cy="274320"/>
          </a:xfrm>
          <a:prstGeom prst="rect">
            <a:avLst/>
          </a:prstGeom>
        </p:spPr>
      </p:pic>
      <p:sp>
        <p:nvSpPr>
          <p:cNvPr id="28" name="Text 21"/>
          <p:cNvSpPr txBox="1"/>
          <p:nvPr/>
        </p:nvSpPr>
        <p:spPr>
          <a:xfrm>
            <a:off x="1463040" y="5340096"/>
            <a:ext cx="3840480" cy="749808"/>
          </a:xfrm>
          <a:prstGeom prst="rect">
            <a:avLst/>
          </a:prstGeom>
          <a:noFill/>
          <a:ln/>
        </p:spPr>
        <p:txBody>
          <a:bodyPr wrap="square" lIns="0" tIns="0" rIns="0" bIns="0" rtlCol="0" anchor="ctr"/>
          <a:lstStyle/>
          <a:p>
            <a:pPr indent="0" marL="0">
              <a:buNone/>
            </a:pPr>
            <a:r>
              <a:rPr lang="en-US" sz="1800" b="1" dirty="0">
                <a:solidFill>
                  <a:srgbClr val="072840"/>
                </a:solidFill>
              </a:rPr>
              <a:t>Work in branches</a:t>
            </a:r>
            <a:endParaRPr lang="en-US" sz="1800" dirty="0"/>
          </a:p>
        </p:txBody>
      </p:sp>
      <p:sp>
        <p:nvSpPr>
          <p:cNvPr id="29" name="Text 22"/>
          <p:cNvSpPr txBox="1"/>
          <p:nvPr/>
        </p:nvSpPr>
        <p:spPr>
          <a:xfrm>
            <a:off x="5303520" y="5340096"/>
            <a:ext cx="6126480" cy="749808"/>
          </a:xfrm>
          <a:prstGeom prst="rect">
            <a:avLst/>
          </a:prstGeom>
          <a:noFill/>
          <a:ln/>
        </p:spPr>
        <p:txBody>
          <a:bodyPr wrap="square" lIns="0" tIns="0" rIns="0" bIns="0" rtlCol="0" anchor="ctr"/>
          <a:lstStyle/>
          <a:p>
            <a:pPr indent="0" marL="0">
              <a:buNone/>
            </a:pPr>
            <a:r>
              <a:rPr lang="en-US" sz="1600" dirty="0">
                <a:solidFill>
                  <a:srgbClr val="16232F"/>
                </a:solidFill>
              </a:rPr>
              <a:t>Each member worked on a GitHub branch and merged with pull requests.</a:t>
            </a:r>
            <a:endParaRPr lang="en-US" sz="1600" dirty="0"/>
          </a:p>
        </p:txBody>
      </p:sp>
      <p:sp>
        <p:nvSpPr>
          <p:cNvPr id="25" name="Slide Number Placeholder 0"/>
          <p:cNvSpPr>
            <a:spLocks noGrp="1"/>
          </p:cNvSpPr>
          <p:nvPr>
            <p:ph type="sldNum" sz="quarter" idx="4294967295"/>
          </p:nvPr>
        </p:nvSpPr>
        <p:spPr>
          <a:xfrm>
            <a:off x="1042416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411480"/>
            <a:ext cx="1046988" cy="329184"/>
          </a:xfrm>
          <a:prstGeom prst="rect">
            <a:avLst/>
          </a:prstGeom>
          <a:solidFill>
            <a:srgbClr val="072840"/>
          </a:solidFill>
          <a:ln w="19050">
            <a:solidFill>
              <a:srgbClr val="FFFFFF"/>
            </a:solidFill>
            <a:prstDash val="solid"/>
          </a:ln>
        </p:spPr>
      </p:sp>
      <p:sp>
        <p:nvSpPr>
          <p:cNvPr id="3" name="Text 1"/>
          <p:cNvSpPr txBox="1"/>
          <p:nvPr/>
        </p:nvSpPr>
        <p:spPr>
          <a:xfrm>
            <a:off x="548640" y="411480"/>
            <a:ext cx="1046988" cy="329184"/>
          </a:xfrm>
          <a:prstGeom prst="rect">
            <a:avLst/>
          </a:prstGeom>
          <a:noFill/>
          <a:ln/>
        </p:spPr>
        <p:txBody>
          <a:bodyPr wrap="square" lIns="0" tIns="0" rIns="0" bIns="0" rtlCol="0" anchor="ctr"/>
          <a:lstStyle/>
          <a:p>
            <a:pPr algn="ctr" indent="0" marL="0">
              <a:buNone/>
            </a:pPr>
            <a:r>
              <a:rPr lang="en-US" sz="1100" b="1" spc="100" kern="0" dirty="0">
                <a:solidFill>
                  <a:srgbClr val="FFFFFF"/>
                </a:solidFill>
              </a:rPr>
              <a:t>LIVE DEMO</a:t>
            </a:r>
            <a:endParaRPr lang="en-US" sz="1100" dirty="0"/>
          </a:p>
        </p:txBody>
      </p:sp>
      <p:sp>
        <p:nvSpPr>
          <p:cNvPr id="4" name="Title"/>
          <p:cNvSpPr txBox="1"/>
          <p:nvPr/>
        </p:nvSpPr>
        <p:spPr>
          <a:xfrm>
            <a:off x="548640" y="822960"/>
            <a:ext cx="10241280" cy="777240"/>
          </a:xfrm>
          <a:prstGeom prst="rect">
            <a:avLst/>
          </a:prstGeom>
          <a:noFill/>
          <a:ln/>
        </p:spPr>
        <p:txBody>
          <a:bodyPr wrap="square" lIns="0" tIns="0" rIns="0" bIns="0" rtlCol="0" anchor="ctr"/>
          <a:lstStyle/>
          <a:p>
            <a:pPr indent="0" marL="0">
              <a:buNone/>
            </a:pPr>
            <a:r>
              <a:rPr lang="en-US" sz="3200" dirty="0">
                <a:solidFill>
                  <a:srgbClr val="FFFFFF"/>
                </a:solidFill>
                <a:latin typeface="Arial" pitchFamily="34" charset="0"/>
                <a:ea typeface="Arial" pitchFamily="34" charset="-122"/>
                <a:cs typeface="Arial" pitchFamily="34" charset="-120"/>
              </a:rPr>
              <a:t>Let us show </a:t>
            </a:r>
            <a:pPr indent="0" marL="0">
              <a:buNone/>
            </a:pPr>
            <a:r>
              <a:rPr lang="en-US" sz="3200" b="1" dirty="0">
                <a:solidFill>
                  <a:srgbClr val="5BCBE8"/>
                </a:solidFill>
                <a:latin typeface="Arial" pitchFamily="34" charset="0"/>
                <a:ea typeface="Arial" pitchFamily="34" charset="-122"/>
                <a:cs typeface="Arial" pitchFamily="34" charset="-120"/>
              </a:rPr>
              <a:t>you CampusBook</a:t>
            </a:r>
            <a:endParaRPr lang="en-US" sz="3200" dirty="0"/>
          </a:p>
        </p:txBody>
      </p:sp>
      <p:sp>
        <p:nvSpPr>
          <p:cNvPr id="5" name="Shape 3"/>
          <p:cNvSpPr/>
          <p:nvPr/>
        </p:nvSpPr>
        <p:spPr>
          <a:xfrm>
            <a:off x="512064" y="1746504"/>
            <a:ext cx="3090672" cy="2154200"/>
          </a:xfrm>
          <a:prstGeom prst="rect">
            <a:avLst/>
          </a:prstGeom>
          <a:solidFill>
            <a:srgbClr val="FFFFFF"/>
          </a:solidFill>
          <a:ln w="19050">
            <a:solidFill>
              <a:srgbClr val="5BCBE8"/>
            </a:solidFill>
            <a:prstDash val="solid"/>
          </a:ln>
        </p:spPr>
      </p:sp>
      <p:pic>
        <p:nvPicPr>
          <p:cNvPr id="6" name="Screenshot 1" descr="Log in page">    </p:cNvPr>
          <p:cNvPicPr>
            <a:picLocks noChangeAspect="1"/>
          </p:cNvPicPr>
          <p:nvPr/>
        </p:nvPicPr>
        <p:blipFill>
          <a:blip r:embed="rId1"/>
          <a:stretch>
            <a:fillRect/>
          </a:stretch>
        </p:blipFill>
        <p:spPr>
          <a:xfrm>
            <a:off x="548640" y="1783080"/>
            <a:ext cx="3017520" cy="2081048"/>
          </a:xfrm>
          <a:prstGeom prst="rect">
            <a:avLst/>
          </a:prstGeom>
        </p:spPr>
      </p:pic>
      <p:sp>
        <p:nvSpPr>
          <p:cNvPr id="7" name="Text 4"/>
          <p:cNvSpPr txBox="1"/>
          <p:nvPr/>
        </p:nvSpPr>
        <p:spPr>
          <a:xfrm>
            <a:off x="548640" y="3498368"/>
            <a:ext cx="1600200" cy="365760"/>
          </a:xfrm>
          <a:prstGeom prst="rect">
            <a:avLst/>
          </a:prstGeom>
          <a:solidFill>
            <a:srgbClr val="8B1A2B"/>
          </a:solidFill>
          <a:ln>
            <a:solidFill>
              <a:srgbClr val="8B1A2B"/>
            </a:solidFill>
          </a:ln>
        </p:spPr>
        <p:txBody>
          <a:bodyPr wrap="square" lIns="0" tIns="0" rIns="0" bIns="0" rtlCol="0" anchor="ctr"/>
          <a:lstStyle/>
          <a:p>
            <a:pPr algn="ctr" indent="0" marL="0">
              <a:buNone/>
            </a:pPr>
            <a:r>
              <a:rPr lang="en-US" sz="1300" b="1" dirty="0">
                <a:solidFill>
                  <a:srgbClr val="FFFFFF"/>
                </a:solidFill>
              </a:rPr>
              <a:t>Log in</a:t>
            </a:r>
            <a:endParaRPr lang="en-US" sz="1300" dirty="0"/>
          </a:p>
        </p:txBody>
      </p:sp>
      <p:sp>
        <p:nvSpPr>
          <p:cNvPr id="8" name="Shape 5"/>
          <p:cNvSpPr/>
          <p:nvPr/>
        </p:nvSpPr>
        <p:spPr>
          <a:xfrm>
            <a:off x="3758184" y="1746504"/>
            <a:ext cx="3090672" cy="2154200"/>
          </a:xfrm>
          <a:prstGeom prst="rect">
            <a:avLst/>
          </a:prstGeom>
          <a:solidFill>
            <a:srgbClr val="FFFFFF"/>
          </a:solidFill>
          <a:ln w="19050">
            <a:solidFill>
              <a:srgbClr val="5BCBE8"/>
            </a:solidFill>
            <a:prstDash val="solid"/>
          </a:ln>
        </p:spPr>
      </p:sp>
      <p:pic>
        <p:nvPicPr>
          <p:cNvPr id="9" name="Screenshot 2" descr="Lecturer slots page">    </p:cNvPr>
          <p:cNvPicPr>
            <a:picLocks noChangeAspect="1"/>
          </p:cNvPicPr>
          <p:nvPr/>
        </p:nvPicPr>
        <p:blipFill>
          <a:blip r:embed="rId2"/>
          <a:stretch>
            <a:fillRect/>
          </a:stretch>
        </p:blipFill>
        <p:spPr>
          <a:xfrm>
            <a:off x="3794760" y="1783080"/>
            <a:ext cx="3017520" cy="2081048"/>
          </a:xfrm>
          <a:prstGeom prst="rect">
            <a:avLst/>
          </a:prstGeom>
        </p:spPr>
      </p:pic>
      <p:sp>
        <p:nvSpPr>
          <p:cNvPr id="10" name="Text 6"/>
          <p:cNvSpPr txBox="1"/>
          <p:nvPr/>
        </p:nvSpPr>
        <p:spPr>
          <a:xfrm>
            <a:off x="3794760" y="3498368"/>
            <a:ext cx="1600200" cy="365760"/>
          </a:xfrm>
          <a:prstGeom prst="rect">
            <a:avLst/>
          </a:prstGeom>
          <a:solidFill>
            <a:srgbClr val="8B1A2B"/>
          </a:solidFill>
          <a:ln>
            <a:solidFill>
              <a:srgbClr val="8B1A2B"/>
            </a:solidFill>
          </a:ln>
        </p:spPr>
        <p:txBody>
          <a:bodyPr wrap="square" lIns="0" tIns="0" rIns="0" bIns="0" rtlCol="0" anchor="ctr"/>
          <a:lstStyle/>
          <a:p>
            <a:pPr algn="ctr" indent="0" marL="0">
              <a:buNone/>
            </a:pPr>
            <a:r>
              <a:rPr lang="en-US" sz="1300" b="1" dirty="0">
                <a:solidFill>
                  <a:srgbClr val="FFFFFF"/>
                </a:solidFill>
              </a:rPr>
              <a:t>Lecturer slots</a:t>
            </a:r>
            <a:endParaRPr lang="en-US" sz="1300" dirty="0"/>
          </a:p>
        </p:txBody>
      </p:sp>
      <p:sp>
        <p:nvSpPr>
          <p:cNvPr id="11" name="Shape 7"/>
          <p:cNvSpPr/>
          <p:nvPr/>
        </p:nvSpPr>
        <p:spPr>
          <a:xfrm>
            <a:off x="512064" y="4028720"/>
            <a:ext cx="3090672" cy="2154200"/>
          </a:xfrm>
          <a:prstGeom prst="rect">
            <a:avLst/>
          </a:prstGeom>
          <a:solidFill>
            <a:srgbClr val="FFFFFF"/>
          </a:solidFill>
          <a:ln w="19050">
            <a:solidFill>
              <a:srgbClr val="5BCBE8"/>
            </a:solidFill>
            <a:prstDash val="solid"/>
          </a:ln>
        </p:spPr>
      </p:sp>
      <p:pic>
        <p:nvPicPr>
          <p:cNvPr id="12" name="Screenshot 3" descr="Book a slot page">    </p:cNvPr>
          <p:cNvPicPr>
            <a:picLocks noChangeAspect="1"/>
          </p:cNvPicPr>
          <p:nvPr/>
        </p:nvPicPr>
        <p:blipFill>
          <a:blip r:embed="rId3"/>
          <a:stretch>
            <a:fillRect/>
          </a:stretch>
        </p:blipFill>
        <p:spPr>
          <a:xfrm>
            <a:off x="548640" y="4065296"/>
            <a:ext cx="3017520" cy="2081048"/>
          </a:xfrm>
          <a:prstGeom prst="rect">
            <a:avLst/>
          </a:prstGeom>
        </p:spPr>
      </p:pic>
      <p:sp>
        <p:nvSpPr>
          <p:cNvPr id="13" name="Text 8"/>
          <p:cNvSpPr txBox="1"/>
          <p:nvPr/>
        </p:nvSpPr>
        <p:spPr>
          <a:xfrm>
            <a:off x="548640" y="5780585"/>
            <a:ext cx="1600200" cy="365760"/>
          </a:xfrm>
          <a:prstGeom prst="rect">
            <a:avLst/>
          </a:prstGeom>
          <a:solidFill>
            <a:srgbClr val="8B1A2B"/>
          </a:solidFill>
          <a:ln>
            <a:solidFill>
              <a:srgbClr val="8B1A2B"/>
            </a:solidFill>
          </a:ln>
        </p:spPr>
        <p:txBody>
          <a:bodyPr wrap="square" lIns="0" tIns="0" rIns="0" bIns="0" rtlCol="0" anchor="ctr"/>
          <a:lstStyle/>
          <a:p>
            <a:pPr algn="ctr" indent="0" marL="0">
              <a:buNone/>
            </a:pPr>
            <a:r>
              <a:rPr lang="en-US" sz="1300" b="1" dirty="0">
                <a:solidFill>
                  <a:srgbClr val="FFFFFF"/>
                </a:solidFill>
              </a:rPr>
              <a:t>Book a slot</a:t>
            </a:r>
            <a:endParaRPr lang="en-US" sz="1300" dirty="0"/>
          </a:p>
        </p:txBody>
      </p:sp>
      <p:sp>
        <p:nvSpPr>
          <p:cNvPr id="14" name="Shape 9"/>
          <p:cNvSpPr/>
          <p:nvPr/>
        </p:nvSpPr>
        <p:spPr>
          <a:xfrm>
            <a:off x="3758184" y="4028720"/>
            <a:ext cx="3090672" cy="2154200"/>
          </a:xfrm>
          <a:prstGeom prst="rect">
            <a:avLst/>
          </a:prstGeom>
          <a:solidFill>
            <a:srgbClr val="FFFFFF"/>
          </a:solidFill>
          <a:ln w="19050">
            <a:solidFill>
              <a:srgbClr val="5BCBE8"/>
            </a:solidFill>
            <a:prstDash val="solid"/>
          </a:ln>
        </p:spPr>
      </p:sp>
      <p:pic>
        <p:nvPicPr>
          <p:cNvPr id="15" name="Screenshot 4" descr="My bookings page">    </p:cNvPr>
          <p:cNvPicPr>
            <a:picLocks noChangeAspect="1"/>
          </p:cNvPicPr>
          <p:nvPr/>
        </p:nvPicPr>
        <p:blipFill>
          <a:blip r:embed="rId4"/>
          <a:stretch>
            <a:fillRect/>
          </a:stretch>
        </p:blipFill>
        <p:spPr>
          <a:xfrm>
            <a:off x="3794760" y="4065296"/>
            <a:ext cx="3017520" cy="2081048"/>
          </a:xfrm>
          <a:prstGeom prst="rect">
            <a:avLst/>
          </a:prstGeom>
        </p:spPr>
      </p:pic>
      <p:sp>
        <p:nvSpPr>
          <p:cNvPr id="16" name="Text 10"/>
          <p:cNvSpPr txBox="1"/>
          <p:nvPr/>
        </p:nvSpPr>
        <p:spPr>
          <a:xfrm>
            <a:off x="3794760" y="5780585"/>
            <a:ext cx="1600200" cy="365760"/>
          </a:xfrm>
          <a:prstGeom prst="rect">
            <a:avLst/>
          </a:prstGeom>
          <a:solidFill>
            <a:srgbClr val="8B1A2B"/>
          </a:solidFill>
          <a:ln>
            <a:solidFill>
              <a:srgbClr val="8B1A2B"/>
            </a:solidFill>
          </a:ln>
        </p:spPr>
        <p:txBody>
          <a:bodyPr wrap="square" lIns="0" tIns="0" rIns="0" bIns="0" rtlCol="0" anchor="ctr"/>
          <a:lstStyle/>
          <a:p>
            <a:pPr algn="ctr" indent="0" marL="0">
              <a:buNone/>
            </a:pPr>
            <a:r>
              <a:rPr lang="en-US" sz="1300" b="1" dirty="0">
                <a:solidFill>
                  <a:srgbClr val="FFFFFF"/>
                </a:solidFill>
              </a:rPr>
              <a:t>My bookings</a:t>
            </a:r>
            <a:endParaRPr lang="en-US" sz="1300" dirty="0"/>
          </a:p>
        </p:txBody>
      </p:sp>
      <p:sp>
        <p:nvSpPr>
          <p:cNvPr id="17" name="Shape 11"/>
          <p:cNvSpPr/>
          <p:nvPr/>
        </p:nvSpPr>
        <p:spPr>
          <a:xfrm>
            <a:off x="7086600" y="1783080"/>
            <a:ext cx="4526280" cy="4434840"/>
          </a:xfrm>
          <a:prstGeom prst="rect">
            <a:avLst/>
          </a:prstGeom>
          <a:solidFill>
            <a:srgbClr val="12506F">
              <a:alpha val="75000"/>
            </a:srgbClr>
          </a:solidFill>
          <a:ln w="12700">
            <a:solidFill>
              <a:srgbClr val="5BCBE8"/>
            </a:solidFill>
            <a:prstDash val="solid"/>
          </a:ln>
        </p:spPr>
      </p:sp>
      <p:sp>
        <p:nvSpPr>
          <p:cNvPr id="18" name="Text 12"/>
          <p:cNvSpPr txBox="1"/>
          <p:nvPr/>
        </p:nvSpPr>
        <p:spPr>
          <a:xfrm>
            <a:off x="7360920" y="2011680"/>
            <a:ext cx="4023360" cy="365760"/>
          </a:xfrm>
          <a:prstGeom prst="rect">
            <a:avLst/>
          </a:prstGeom>
          <a:noFill/>
          <a:ln/>
        </p:spPr>
        <p:txBody>
          <a:bodyPr wrap="square" lIns="0" tIns="0" rIns="0" bIns="0" rtlCol="0" anchor="t"/>
          <a:lstStyle/>
          <a:p>
            <a:pPr indent="0" marL="0">
              <a:buNone/>
            </a:pPr>
            <a:r>
              <a:rPr lang="en-US" sz="1500" b="1" spc="200" kern="0" dirty="0">
                <a:solidFill>
                  <a:srgbClr val="5BCBE8"/>
                </a:solidFill>
              </a:rPr>
              <a:t>WHAT WE WILL SHOW</a:t>
            </a:r>
            <a:endParaRPr lang="en-US" sz="1500" dirty="0"/>
          </a:p>
        </p:txBody>
      </p:sp>
      <p:sp>
        <p:nvSpPr>
          <p:cNvPr id="19" name="Text 13"/>
          <p:cNvSpPr txBox="1"/>
          <p:nvPr/>
        </p:nvSpPr>
        <p:spPr>
          <a:xfrm>
            <a:off x="7360920" y="2514600"/>
            <a:ext cx="4023360" cy="356616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700" dirty="0">
                <a:solidFill>
                  <a:srgbClr val="FFFFFF"/>
                </a:solidFill>
              </a:rPr>
              <a:t>Lecturer logs in and publishes a free time</a:t>
            </a:r>
            <a:endParaRPr lang="en-US" sz="1700" dirty="0"/>
          </a:p>
          <a:p>
            <a:pPr marL="342900" indent="-342900">
              <a:spcAft>
                <a:spcPts val="1000"/>
              </a:spcAft>
              <a:buSzPct val="100000"/>
              <a:buFont typeface="+mj-lt"/>
              <a:buAutoNum type="arabicPeriod" startAt="1"/>
            </a:pPr>
            <a:r>
              <a:rPr lang="en-US" sz="1700" dirty="0">
                <a:solidFill>
                  <a:srgbClr val="FFFFFF"/>
                </a:solidFill>
              </a:rPr>
              <a:t>Student logs in, finds that time and books it with a reason</a:t>
            </a:r>
            <a:endParaRPr lang="en-US" sz="1700" dirty="0"/>
          </a:p>
          <a:p>
            <a:pPr marL="342900" indent="-342900">
              <a:spcAft>
                <a:spcPts val="1000"/>
              </a:spcAft>
              <a:buSzPct val="100000"/>
              <a:buFont typeface="+mj-lt"/>
              <a:buAutoNum type="arabicPeriod" startAt="1"/>
            </a:pPr>
            <a:r>
              <a:rPr lang="en-US" sz="1700" dirty="0">
                <a:solidFill>
                  <a:srgbClr val="FFFFFF"/>
                </a:solidFill>
              </a:rPr>
              <a:t>The confirmation email arrives and the time is gone for others</a:t>
            </a:r>
            <a:endParaRPr lang="en-US" sz="1700" dirty="0"/>
          </a:p>
          <a:p>
            <a:pPr marL="342900" indent="-342900">
              <a:spcAft>
                <a:spcPts val="1000"/>
              </a:spcAft>
              <a:buSzPct val="100000"/>
              <a:buFont typeface="+mj-lt"/>
              <a:buAutoNum type="arabicPeriod" startAt="1"/>
            </a:pPr>
            <a:r>
              <a:rPr lang="en-US" sz="1700" dirty="0">
                <a:solidFill>
                  <a:srgbClr val="FFFFFF"/>
                </a:solidFill>
              </a:rPr>
              <a:t>Student changes the time, then cancels</a:t>
            </a:r>
            <a:endParaRPr lang="en-US" sz="1700" dirty="0"/>
          </a:p>
          <a:p>
            <a:pPr marL="342900" indent="-342900">
              <a:spcAft>
                <a:spcPts val="1000"/>
              </a:spcAft>
              <a:buSzPct val="100000"/>
              <a:buFont typeface="+mj-lt"/>
              <a:buAutoNum type="arabicPeriod" startAt="1"/>
            </a:pPr>
            <a:r>
              <a:rPr lang="en-US" sz="1700" dirty="0">
                <a:solidFill>
                  <a:srgbClr val="FFFFFF"/>
                </a:solidFill>
              </a:rPr>
              <a:t>The slot is open again on the lecturer page</a:t>
            </a:r>
            <a:endParaRPr lang="en-US" sz="1700" dirty="0"/>
          </a:p>
        </p:txBody>
      </p:sp>
      <p:sp>
        <p:nvSpPr>
          <p:cNvPr id="25" name="Slide Number Placeholder 0"/>
          <p:cNvSpPr>
            <a:spLocks noGrp="1"/>
          </p:cNvSpPr>
          <p:nvPr>
            <p:ph type="sldNum" sz="quarter" idx="4294967295"/>
          </p:nvPr>
        </p:nvSpPr>
        <p:spPr>
          <a:xfrm>
            <a:off x="1042416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3E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Login panel artwork" descr="preencoded.png">    </p:cNvPr>
          <p:cNvPicPr>
            <a:picLocks noChangeAspect="1"/>
          </p:cNvPicPr>
          <p:nvPr/>
        </p:nvPicPr>
        <p:blipFill>
          <a:blip r:embed="rId1"/>
          <a:stretch>
            <a:fillRect/>
          </a:stretch>
        </p:blipFill>
        <p:spPr>
          <a:xfrm>
            <a:off x="0" y="0"/>
            <a:ext cx="5349240" cy="6858000"/>
          </a:xfrm>
          <a:prstGeom prst="rect">
            <a:avLst/>
          </a:prstGeom>
        </p:spPr>
      </p:pic>
      <p:sp>
        <p:nvSpPr>
          <p:cNvPr id="3" name="Text 0"/>
          <p:cNvSpPr txBox="1"/>
          <p:nvPr/>
        </p:nvSpPr>
        <p:spPr>
          <a:xfrm>
            <a:off x="6400800" y="1463040"/>
            <a:ext cx="4572000" cy="822960"/>
          </a:xfrm>
          <a:prstGeom prst="rect">
            <a:avLst/>
          </a:prstGeom>
          <a:noFill/>
          <a:ln/>
        </p:spPr>
        <p:txBody>
          <a:bodyPr wrap="square" lIns="0" tIns="0" rIns="0" bIns="0" rtlCol="0" anchor="t"/>
          <a:lstStyle/>
          <a:p>
            <a:pPr indent="0" marL="0">
              <a:buNone/>
            </a:pPr>
            <a:r>
              <a:rPr lang="en-US" sz="4000" b="1" dirty="0">
                <a:solidFill>
                  <a:srgbClr val="072840"/>
                </a:solidFill>
                <a:latin typeface="Arial" pitchFamily="34" charset="0"/>
                <a:ea typeface="Arial" pitchFamily="34" charset="-122"/>
                <a:cs typeface="Arial" pitchFamily="34" charset="-120"/>
              </a:rPr>
              <a:t>Thank you</a:t>
            </a:r>
            <a:endParaRPr lang="en-US" sz="4000" dirty="0"/>
          </a:p>
        </p:txBody>
      </p:sp>
      <p:sp>
        <p:nvSpPr>
          <p:cNvPr id="4" name="Text 1"/>
          <p:cNvSpPr txBox="1"/>
          <p:nvPr/>
        </p:nvSpPr>
        <p:spPr>
          <a:xfrm>
            <a:off x="6400800" y="2286000"/>
            <a:ext cx="4572000" cy="548640"/>
          </a:xfrm>
          <a:prstGeom prst="rect">
            <a:avLst/>
          </a:prstGeom>
          <a:noFill/>
          <a:ln/>
        </p:spPr>
        <p:txBody>
          <a:bodyPr wrap="square" lIns="0" tIns="0" rIns="0" bIns="0" rtlCol="0" anchor="t"/>
          <a:lstStyle/>
          <a:p>
            <a:pPr indent="0" marL="0">
              <a:buNone/>
            </a:pPr>
            <a:r>
              <a:rPr lang="en-US" sz="2400" b="1" dirty="0">
                <a:solidFill>
                  <a:srgbClr val="8B1A2B"/>
                </a:solidFill>
              </a:rPr>
              <a:t>Questions?</a:t>
            </a:r>
            <a:endParaRPr lang="en-US" sz="2400" dirty="0"/>
          </a:p>
        </p:txBody>
      </p:sp>
      <p:sp>
        <p:nvSpPr>
          <p:cNvPr id="5" name="Text 2"/>
          <p:cNvSpPr txBox="1"/>
          <p:nvPr/>
        </p:nvSpPr>
        <p:spPr>
          <a:xfrm>
            <a:off x="6400800" y="3200400"/>
            <a:ext cx="4937760" cy="914400"/>
          </a:xfrm>
          <a:prstGeom prst="rect">
            <a:avLst/>
          </a:prstGeom>
          <a:noFill/>
          <a:ln/>
        </p:spPr>
        <p:txBody>
          <a:bodyPr wrap="square" lIns="0" tIns="0" rIns="0" bIns="0" rtlCol="0" anchor="t"/>
          <a:lstStyle/>
          <a:p>
            <a:pPr indent="0" marL="0">
              <a:buNone/>
            </a:pPr>
            <a:r>
              <a:rPr lang="en-US" sz="2000" dirty="0">
                <a:solidFill>
                  <a:srgbClr val="16232F"/>
                </a:solidFill>
              </a:rPr>
              <a:t>CampusBook: book lecturer consultations in one place</a:t>
            </a:r>
            <a:endParaRPr lang="en-US" sz="2000" dirty="0"/>
          </a:p>
        </p:txBody>
      </p:sp>
      <p:sp>
        <p:nvSpPr>
          <p:cNvPr id="25" name="Slide Number Placeholder 0"/>
          <p:cNvSpPr>
            <a:spLocks noGrp="1"/>
          </p:cNvSpPr>
          <p:nvPr>
            <p:ph type="sldNum" sz="quarter" idx="4294967295"/>
          </p:nvPr>
        </p:nvSpPr>
        <p:spPr>
          <a:xfrm>
            <a:off x="1042416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CampusBook">
  <a:themeElements>
    <a:clrScheme name="CampusBook">
      <a:dk1>
        <a:srgbClr val="16232F"/>
      </a:dk1>
      <a:lt1>
        <a:srgbClr val="FFFFFF"/>
      </a:lt1>
      <a:dk2>
        <a:srgbClr val="072840"/>
      </a:dk2>
      <a:lt2>
        <a:srgbClr val="EEF3F7"/>
      </a:lt2>
      <a:accent1>
        <a:srgbClr val="8B1A2B"/>
      </a:accent1>
      <a:accent2>
        <a:srgbClr val="1E8FCB"/>
      </a:accent2>
      <a:accent3>
        <a:srgbClr val="8DC63F"/>
      </a:accent3>
      <a:accent4>
        <a:srgbClr val="5BCBE8"/>
      </a:accent4>
      <a:accent5>
        <a:srgbClr val="B36BC4"/>
      </a:accent5>
      <a:accent6>
        <a:srgbClr val="5B6B7B"/>
      </a:accent6>
      <a:hlink>
        <a:srgbClr val="1E8FCB"/>
      </a:hlink>
      <a:folHlink>
        <a:srgbClr val="5B6B7B"/>
      </a:folHlink>
    </a:clrScheme>
    <a:fontScheme name="CampusBoo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CampusBook Group 3 Presentation</dc:title>
  <dc:subject>PptxGenJS Presentation</dc:subject>
  <dc:creator>SE2 Group 3</dc:creator>
  <cp:lastModifiedBy>SE2 Group 3</cp:lastModifiedBy>
  <cp:revision>1</cp:revision>
  <dcterms:created xsi:type="dcterms:W3CDTF">2026-10-29T04:14:13Z</dcterms:created>
  <dcterms:modified xsi:type="dcterms:W3CDTF">2026-10-29T04:14:13Z</dcterms:modified>
</cp:coreProperties>
</file>